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2000" cy="6858000" type="screen16x9"/>
  <p:notesSz cx="6858000" cy="9144000"/>
  <p:defaultTextStyle>
    <a:defPPr>
      <a:defRPr lang="zh-CN"/>
    </a:defPPr>
    <a:lvl1pPr marL="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7.xml><?xml version="1.0" encoding="utf-8"?>
<p:sldLayout xmlns:a="http://schemas.openxmlformats.org/drawingml/2006/main" xmlns:p="http://schemas.openxmlformats.org/presentationml/2006/main" type="blank" preserve="1">
  <p:cSld name="umami-01a0aa00 —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zh-CN" smtClean="0"/>
              <a:t>1/27/13</a:t>
            </a:fld>
            <a:endParaRPr lang="zh-C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zh-CN" smtClean="0"/>
              <a:t>‹#›</a:t>
            </a:fld>
            <a:endParaRPr lang="zh-CN"/>
          </a:p>
        </p:txBody>
      </p:sp>
    </p:spTree>
  </p:cSld>
  <p:clrMapOvr>
    <a:masterClrMapping/>
  </p:clrMapOvr>
</p:sldLayout>
</file>

<file path=ppt/slideMasters/_rels/slideMaster1.xml.rels><?xml version='1.0' encoding='UTF-8' standalone='yes'?>
<Relationships xmlns="http://schemas.openxmlformats.org/package/2006/relationships"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 name="umami-01a0aa00 — 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zh-CN" smtClean="0"/>
              <a:t>1/27/13</a:t>
            </a:fld>
            <a:endParaRPr lang="zh-C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zh-CN" smtClean="0"/>
              <a:t>‹#›</a:t>
            </a:fld>
            <a:endParaRPr 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 lang="zh-CN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 lang="zh-CN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 lang="zh-CN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 lang="zh-CN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6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7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8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9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0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-grid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762000" y="0"/>
                </a:moveTo>
                <a:lnTo>
                  <a:pt x="762000" y="6858000"/>
                </a:lnTo>
                <a:moveTo>
                  <a:pt x="1524000" y="0"/>
                </a:moveTo>
                <a:lnTo>
                  <a:pt x="1524000" y="6858000"/>
                </a:lnTo>
                <a:moveTo>
                  <a:pt x="2286000" y="0"/>
                </a:moveTo>
                <a:lnTo>
                  <a:pt x="2286000" y="6858000"/>
                </a:lnTo>
                <a:moveTo>
                  <a:pt x="3048000" y="0"/>
                </a:moveTo>
                <a:lnTo>
                  <a:pt x="3048000" y="6858000"/>
                </a:lnTo>
                <a:moveTo>
                  <a:pt x="3810000" y="0"/>
                </a:moveTo>
                <a:lnTo>
                  <a:pt x="3810000" y="6858000"/>
                </a:lnTo>
                <a:moveTo>
                  <a:pt x="4572000" y="0"/>
                </a:moveTo>
                <a:lnTo>
                  <a:pt x="4572000" y="6858000"/>
                </a:lnTo>
                <a:moveTo>
                  <a:pt x="5334000" y="0"/>
                </a:moveTo>
                <a:lnTo>
                  <a:pt x="5334000" y="6858000"/>
                </a:lnTo>
                <a:moveTo>
                  <a:pt x="6096000" y="0"/>
                </a:moveTo>
                <a:lnTo>
                  <a:pt x="6096000" y="6858000"/>
                </a:lnTo>
                <a:moveTo>
                  <a:pt x="6858000" y="0"/>
                </a:moveTo>
                <a:lnTo>
                  <a:pt x="6858000" y="6858000"/>
                </a:lnTo>
                <a:moveTo>
                  <a:pt x="7620000" y="0"/>
                </a:moveTo>
                <a:lnTo>
                  <a:pt x="7620000" y="6858000"/>
                </a:lnTo>
                <a:moveTo>
                  <a:pt x="8382000" y="0"/>
                </a:moveTo>
                <a:lnTo>
                  <a:pt x="8382000" y="6858000"/>
                </a:lnTo>
                <a:moveTo>
                  <a:pt x="9144000" y="0"/>
                </a:moveTo>
                <a:lnTo>
                  <a:pt x="9144000" y="6858000"/>
                </a:lnTo>
                <a:moveTo>
                  <a:pt x="9906000" y="0"/>
                </a:moveTo>
                <a:lnTo>
                  <a:pt x="9906000" y="6858000"/>
                </a:lnTo>
                <a:moveTo>
                  <a:pt x="10668000" y="0"/>
                </a:moveTo>
                <a:lnTo>
                  <a:pt x="10668000" y="6858000"/>
                </a:lnTo>
                <a:moveTo>
                  <a:pt x="11430000" y="0"/>
                </a:moveTo>
                <a:lnTo>
                  <a:pt x="11430000" y="6858000"/>
                </a:lnTo>
                <a:moveTo>
                  <a:pt x="0" y="857250"/>
                </a:moveTo>
                <a:lnTo>
                  <a:pt x="12192000" y="857250"/>
                </a:lnTo>
                <a:moveTo>
                  <a:pt x="0" y="1714500"/>
                </a:moveTo>
                <a:lnTo>
                  <a:pt x="12192000" y="1714500"/>
                </a:lnTo>
                <a:moveTo>
                  <a:pt x="0" y="2571750"/>
                </a:moveTo>
                <a:lnTo>
                  <a:pt x="12192000" y="2571750"/>
                </a:lnTo>
                <a:moveTo>
                  <a:pt x="0" y="3429000"/>
                </a:moveTo>
                <a:lnTo>
                  <a:pt x="12192000" y="3429000"/>
                </a:lnTo>
                <a:moveTo>
                  <a:pt x="0" y="4286250"/>
                </a:moveTo>
                <a:lnTo>
                  <a:pt x="12192000" y="4286250"/>
                </a:lnTo>
                <a:moveTo>
                  <a:pt x="0" y="5143500"/>
                </a:moveTo>
                <a:lnTo>
                  <a:pt x="12192000" y="5143500"/>
                </a:lnTo>
                <a:moveTo>
                  <a:pt x="0" y="6000750"/>
                </a:moveTo>
                <a:lnTo>
                  <a:pt x="12192000" y="6000750"/>
                </a:lnTo>
              </a:path>
            </a:pathLst>
          </a:custGeom>
          <a:noFill/>
          <a:ln w="9525">
            <a:solidFill>
              <a:srgbClr val="17293F">
                <a:alpha val="50000"/>
              </a:srgbClr>
            </a:solidFill>
          </a:ln>
        </p:spPr>
      </p:sp>
      <p:sp>
        <p:nvSpPr>
          <p:cNvPr id="3" name="cover-trace"/>
          <p:cNvSpPr/>
          <p:nvPr/>
        </p:nvSpPr>
        <p:spPr>
          <a:xfrm>
            <a:off x="0" y="2495550"/>
            <a:ext cx="12192000" cy="1809750"/>
          </a:xfrm>
          <a:custGeom>
            <a:avLst/>
            <a:gdLst/>
            <a:ahLst/>
            <a:cxnLst/>
            <a:rect l="l" t="t" r="r" b="b"/>
            <a:pathLst>
              <a:path w="12192000" h="1809750">
                <a:moveTo>
                  <a:pt x="0" y="1809750"/>
                </a:moveTo>
                <a:lnTo>
                  <a:pt x="12192000" y="0"/>
                </a:lnTo>
              </a:path>
            </a:pathLst>
          </a:custGeom>
          <a:noFill/>
          <a:ln w="19050">
            <a:solidFill>
              <a:srgbClr val="16324D"/>
            </a:solidFill>
          </a:ln>
        </p:spPr>
      </p:sp>
      <p:sp>
        <p:nvSpPr>
          <p:cNvPr id="4" name="cover-node-a"/>
          <p:cNvSpPr/>
          <p:nvPr/>
        </p:nvSpPr>
        <p:spPr>
          <a:xfrm>
            <a:off x="9782175" y="2105025"/>
            <a:ext cx="95250" cy="95250"/>
          </a:xfrm>
          <a:prstGeom prst="ellipse">
            <a:avLst/>
          </a:prstGeom>
          <a:solidFill>
            <a:srgbClr val="A3E635"/>
          </a:solidFill>
          <a:ln>
            <a:noFill/>
          </a:ln>
          <a:effectLst>
            <a:glow rad="66675">
              <a:srgbClr val="000000">
                <a:alpha val="30000"/>
              </a:srgbClr>
            </a:glow>
          </a:effectLst>
        </p:spPr>
      </p:sp>
      <p:sp>
        <p:nvSpPr>
          <p:cNvPr id="5" name="cover-node-b"/>
          <p:cNvSpPr/>
          <p:nvPr/>
        </p:nvSpPr>
        <p:spPr>
          <a:xfrm>
            <a:off x="8553450" y="2781300"/>
            <a:ext cx="76200" cy="76200"/>
          </a:xfrm>
          <a:prstGeom prst="ellipse">
            <a:avLst/>
          </a:prstGeom>
          <a:solidFill>
            <a:srgbClr val="22D3EE"/>
          </a:solidFill>
          <a:ln>
            <a:noFill/>
          </a:ln>
          <a:effectLst>
            <a:glow rad="66675">
              <a:srgbClr val="000000">
                <a:alpha val="30000"/>
              </a:srgbClr>
            </a:glow>
          </a:effectLst>
        </p:spPr>
      </p:sp>
      <p:sp>
        <p:nvSpPr>
          <p:cNvPr id="6" name="cover-edge"/>
          <p:cNvSpPr/>
          <p:nvPr/>
        </p:nvSpPr>
        <p:spPr>
          <a:xfrm>
            <a:off x="0" y="0"/>
            <a:ext cx="57150" cy="6858000"/>
          </a:xfrm>
          <a:prstGeom prst="rect">
            <a:avLst/>
          </a:prstGeom>
          <a:solidFill>
            <a:srgbClr val="A3E635">
              <a:alpha val="90000"/>
            </a:srgbClr>
          </a:solidFill>
          <a:ln>
            <a:noFill/>
          </a:ln>
        </p:spPr>
      </p:sp>
      <p:grpSp>
        <p:nvGrpSpPr>
          <p:cNvPr id="8" name="cover-kicker"/>
          <p:cNvGrpSpPr/>
          <p:nvPr/>
        </p:nvGrpSpPr>
        <p:grpSpPr>
          <a:xfrm>
            <a:off x="907542" y="1035368"/>
            <a:ext cx="5994997" cy="264033"/>
            <a:chOff x="907542" y="1035368"/>
            <a:chExt cx="5994997" cy="264033"/>
          </a:xfrm>
        </p:grpSpPr>
        <p:sp>
          <p:nvSpPr>
            <p:cNvPr id="7" name="TextBox 7"/>
            <p:cNvSpPr txBox="1"/>
            <p:nvPr/>
          </p:nvSpPr>
          <p:spPr>
            <a:xfrm>
              <a:off x="907542" y="1035368"/>
              <a:ext cx="59949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spc="300" dirty="0">
                  <a:solidFill>
                    <a:srgbClr val="22D3EE"/>
                  </a:solidFill>
                  <a:latin typeface="+mj-lt"/>
                  <a:ea typeface="+mj-ea"/>
                  <a:cs typeface="+mj-cs"/>
                </a:rPr>
                <a:t>// UMAMI PEPTIDE SCREENING · 本机 venv 生成</a:t>
              </a:r>
            </a:p>
          </p:txBody>
        </p:sp>
      </p:grpSp>
      <p:grpSp>
        <p:nvGrpSpPr>
          <p:cNvPr id="11" name="cover-title"/>
          <p:cNvGrpSpPr/>
          <p:nvPr/>
        </p:nvGrpSpPr>
        <p:grpSpPr>
          <a:xfrm>
            <a:off x="876300" y="2036445"/>
            <a:ext cx="4682490" cy="2286000"/>
            <a:chOff x="876300" y="2036445"/>
            <a:chExt cx="4682490" cy="2286000"/>
          </a:xfrm>
        </p:grpSpPr>
        <p:sp>
          <p:nvSpPr>
            <p:cNvPr id="9" name="TextBox 9"/>
            <p:cNvSpPr txBox="1"/>
            <p:nvPr/>
          </p:nvSpPr>
          <p:spPr>
            <a:xfrm>
              <a:off x="876300" y="2036445"/>
              <a:ext cx="3753612" cy="13335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690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机器学习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876300" y="2988945"/>
              <a:ext cx="4682490" cy="13335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6900" b="1" dirty="0">
                  <a:solidFill>
                    <a:srgbClr val="A3E635"/>
                  </a:solidFill>
                  <a:latin typeface="+mn-lt"/>
                  <a:ea typeface="+mn-ea"/>
                  <a:cs typeface="+mn-cs"/>
                </a:rPr>
                <a:t>筛选鲜味肽</a:t>
              </a:r>
            </a:p>
          </p:txBody>
        </p:sp>
      </p:grpSp>
      <p:grpSp>
        <p:nvGrpSpPr>
          <p:cNvPr id="13" name="cover-subtitle"/>
          <p:cNvGrpSpPr/>
          <p:nvPr/>
        </p:nvGrpSpPr>
        <p:grpSpPr>
          <a:xfrm>
            <a:off x="923544" y="4228148"/>
            <a:ext cx="4902479" cy="381381"/>
            <a:chOff x="923544" y="4228148"/>
            <a:chExt cx="4902479" cy="381381"/>
          </a:xfrm>
        </p:grpSpPr>
        <p:sp>
          <p:nvSpPr>
            <p:cNvPr id="12" name="TextBox 12"/>
            <p:cNvSpPr txBox="1"/>
            <p:nvPr/>
          </p:nvSpPr>
          <p:spPr>
            <a:xfrm>
              <a:off x="923544" y="4228148"/>
              <a:ext cx="4902479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dirty="0">
                  <a:solidFill>
                    <a:srgbClr val="7DD3FC"/>
                  </a:solidFill>
                  <a:latin typeface="+mn-lt"/>
                  <a:ea typeface="+mn-ea"/>
                  <a:cs typeface="+mn-cs"/>
                </a:rPr>
                <a:t>序列 → 特征 → 模型打分 → 合成 → 味觉验证</a:t>
              </a:r>
            </a:p>
          </p:txBody>
        </p:sp>
      </p:grpSp>
      <p:grpSp>
        <p:nvGrpSpPr>
          <p:cNvPr id="15" name="cover-rule"/>
          <p:cNvGrpSpPr/>
          <p:nvPr/>
        </p:nvGrpSpPr>
        <p:grpSpPr>
          <a:xfrm>
            <a:off x="933450" y="4743450"/>
            <a:ext cx="2857500" cy="19050"/>
            <a:chOff x="933450" y="4743450"/>
            <a:chExt cx="2857500" cy="19050"/>
          </a:xfrm>
        </p:grpSpPr>
        <p:sp>
          <p:nvSpPr>
            <p:cNvPr id="14" name="Rectangle 14"/>
            <p:cNvSpPr/>
            <p:nvPr/>
          </p:nvSpPr>
          <p:spPr>
            <a:xfrm>
              <a:off x="933450" y="4743450"/>
              <a:ext cx="2857500" cy="19050"/>
            </a:xfrm>
            <a:prstGeom prst="rect">
              <a:avLst/>
            </a:prstGeom>
            <a:solidFill>
              <a:srgbClr val="A3E635">
                <a:alpha val="70000"/>
              </a:srgbClr>
            </a:solidFill>
            <a:ln>
              <a:noFill/>
            </a:ln>
          </p:spPr>
        </p:sp>
      </p:grpSp>
      <p:grpSp>
        <p:nvGrpSpPr>
          <p:cNvPr id="25" name="cover-kpis"/>
          <p:cNvGrpSpPr/>
          <p:nvPr/>
        </p:nvGrpSpPr>
        <p:grpSpPr>
          <a:xfrm>
            <a:off x="933450" y="5029200"/>
            <a:ext cx="7600950" cy="876300"/>
            <a:chOff x="933450" y="5029200"/>
            <a:chExt cx="7600950" cy="876300"/>
          </a:xfrm>
        </p:grpSpPr>
        <p:sp>
          <p:nvSpPr>
            <p:cNvPr id="16" name="Rectangle 16"/>
            <p:cNvSpPr/>
            <p:nvPr/>
          </p:nvSpPr>
          <p:spPr>
            <a:xfrm>
              <a:off x="933450" y="5029200"/>
              <a:ext cx="2381250" cy="876300"/>
            </a:xfrm>
            <a:prstGeom prst="roundRect">
              <a:avLst>
                <a:gd name="adj" fmla="val 13043"/>
              </a:avLst>
            </a:prstGeom>
            <a:solidFill>
              <a:srgbClr val="121C2E"/>
            </a:solidFill>
            <a:ln w="9525">
              <a:solidFill>
                <a:srgbClr val="1E3A5F"/>
              </a:solidFill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1152144" y="5218748"/>
              <a:ext cx="668209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rgbClr val="A3E635"/>
                  </a:solidFill>
                  <a:latin typeface="+mn-lt"/>
                  <a:ea typeface="+mn-ea"/>
                  <a:cs typeface="+mn-cs"/>
                </a:rPr>
                <a:t>12 页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156335" y="5593556"/>
              <a:ext cx="126285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方法 · 流程 · 复现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3543300" y="5029200"/>
              <a:ext cx="2381250" cy="876300"/>
            </a:xfrm>
            <a:prstGeom prst="roundRect">
              <a:avLst>
                <a:gd name="adj" fmla="val 13043"/>
              </a:avLst>
            </a:prstGeom>
            <a:solidFill>
              <a:srgbClr val="121C2E"/>
            </a:solidFill>
            <a:ln w="9525">
              <a:solidFill>
                <a:srgbClr val="1E3A5F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3761994" y="5218748"/>
              <a:ext cx="516610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rgbClr val="22D3EE"/>
                  </a:solidFill>
                  <a:latin typeface="+mn-lt"/>
                  <a:ea typeface="+mn-ea"/>
                  <a:cs typeface="+mn-cs"/>
                </a:rPr>
                <a:t>5 步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3766185" y="5593556"/>
              <a:ext cx="124024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候选 → 湿实验闭环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6153150" y="5029200"/>
              <a:ext cx="2381250" cy="876300"/>
            </a:xfrm>
            <a:prstGeom prst="roundRect">
              <a:avLst>
                <a:gd name="adj" fmla="val 13043"/>
              </a:avLst>
            </a:prstGeom>
            <a:solidFill>
              <a:srgbClr val="121C2E"/>
            </a:solidFill>
            <a:ln w="9525">
              <a:solidFill>
                <a:srgbClr val="1E3A5F"/>
              </a:solidFill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6371844" y="5218748"/>
              <a:ext cx="807339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rgbClr val="FBBF24"/>
                  </a:solidFill>
                  <a:latin typeface="+mn-lt"/>
                  <a:ea typeface="+mn-ea"/>
                  <a:cs typeface="+mn-cs"/>
                </a:rPr>
                <a:t>全示例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6376035" y="5593556"/>
              <a:ext cx="13684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数字是占位，可替换</a:t>
              </a:r>
            </a:p>
          </p:txBody>
        </p:sp>
      </p:grpSp>
      <p:grpSp>
        <p:nvGrpSpPr>
          <p:cNvPr id="27" name="cover-meta"/>
          <p:cNvGrpSpPr/>
          <p:nvPr/>
        </p:nvGrpSpPr>
        <p:grpSpPr>
          <a:xfrm>
            <a:off x="927354" y="6195060"/>
            <a:ext cx="5187538" cy="234696"/>
            <a:chOff x="927354" y="6195060"/>
            <a:chExt cx="5187538" cy="234696"/>
          </a:xfrm>
        </p:grpSpPr>
        <p:sp>
          <p:nvSpPr>
            <p:cNvPr id="26" name="TextBox 26"/>
            <p:cNvSpPr txBox="1"/>
            <p:nvPr/>
          </p:nvSpPr>
          <p:spPr>
            <a:xfrm>
              <a:off x="927354" y="6195060"/>
              <a:ext cx="518753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64748B"/>
                  </a:solidFill>
                  <a:latin typeface="+mj-lt"/>
                  <a:ea typeface="+mj-ea"/>
                  <a:cs typeface="+mj-cs"/>
                </a:rPr>
                <a:t>本机生成 · ppt-master · venv python 3.11 · LAPTOP-R77M5D6M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page-title"/>
          <p:cNvGrpSpPr/>
          <p:nvPr/>
        </p:nvGrpSpPr>
        <p:grpSpPr>
          <a:xfrm>
            <a:off x="649986" y="613410"/>
            <a:ext cx="3560841" cy="1194435"/>
            <a:chOff x="649986" y="613410"/>
            <a:chExt cx="3560841" cy="1194435"/>
          </a:xfrm>
        </p:grpSpPr>
        <p:sp>
          <p:nvSpPr>
            <p:cNvPr id="2" name="TextBox 2"/>
            <p:cNvSpPr txBox="1"/>
            <p:nvPr/>
          </p:nvSpPr>
          <p:spPr>
            <a:xfrm>
              <a:off x="698754" y="613410"/>
              <a:ext cx="98724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spc="225" dirty="0">
                  <a:solidFill>
                    <a:srgbClr val="22D3EE"/>
                  </a:solidFill>
                  <a:latin typeface="+mj-lt"/>
                  <a:ea typeface="+mj-ea"/>
                  <a:cs typeface="+mj-cs"/>
                </a:rPr>
                <a:t>// INDEX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649986" y="958215"/>
              <a:ext cx="3560841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30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这份 deck 讲什么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678180" y="1514475"/>
              <a:ext cx="28422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六步：把肽库变成可验证的候选</a:t>
              </a:r>
            </a:p>
          </p:txBody>
        </p:sp>
      </p:grpSp>
      <p:sp>
        <p:nvSpPr>
          <p:cNvPr id="6" name="page-number"/>
          <p:cNvSpPr txBox="1"/>
          <p:nvPr/>
        </p:nvSpPr>
        <p:spPr>
          <a:xfrm>
            <a:off x="10878160" y="613410"/>
            <a:ext cx="634136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200" dirty="0">
                <a:solidFill>
                  <a:srgbClr val="64748B"/>
                </a:solidFill>
                <a:latin typeface="+mj-lt"/>
                <a:ea typeface="+mj-ea"/>
                <a:cs typeface="+mj-cs"/>
              </a:rPr>
              <a:t>02 / 12</a:t>
            </a:r>
          </a:p>
        </p:txBody>
      </p:sp>
      <p:sp>
        <p:nvSpPr>
          <p:cNvPr id="7" name="Line 7"/>
          <p:cNvSpPr/>
          <p:nvPr/>
        </p:nvSpPr>
        <p:spPr>
          <a:xfrm>
            <a:off x="685800" y="5924550"/>
            <a:ext cx="10820400" cy="9525"/>
          </a:xfrm>
          <a:custGeom>
            <a:avLst/>
            <a:gdLst/>
            <a:ahLst/>
            <a:cxnLst/>
            <a:rect l="l" t="t" r="r" b="b"/>
            <a:pathLst>
              <a:path w="10820400" h="9525">
                <a:moveTo>
                  <a:pt x="0" y="0"/>
                </a:moveTo>
                <a:lnTo>
                  <a:pt x="10820400" y="0"/>
                </a:lnTo>
              </a:path>
            </a:pathLst>
          </a:custGeom>
          <a:noFill/>
          <a:ln w="9525">
            <a:solidFill>
              <a:srgbClr val="17293F"/>
            </a:solidFill>
          </a:ln>
        </p:spPr>
      </p:sp>
      <p:sp>
        <p:nvSpPr>
          <p:cNvPr id="8" name="footer-left"/>
          <p:cNvSpPr txBox="1"/>
          <p:nvPr/>
        </p:nvSpPr>
        <p:spPr>
          <a:xfrm>
            <a:off x="680466" y="6096952"/>
            <a:ext cx="3975564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050" dirty="0">
                <a:solidFill>
                  <a:srgbClr val="64748B"/>
                </a:solidFill>
                <a:latin typeface="+mj-lt"/>
                <a:ea typeface="+mj-ea"/>
                <a:cs typeface="+mj-cs"/>
              </a:rPr>
              <a:t>umami peptides · ppt-master deck · session 01a0aa00</a:t>
            </a:r>
          </a:p>
        </p:txBody>
      </p:sp>
      <p:sp>
        <p:nvSpPr>
          <p:cNvPr id="9" name="footer-right"/>
          <p:cNvSpPr txBox="1"/>
          <p:nvPr/>
        </p:nvSpPr>
        <p:spPr>
          <a:xfrm>
            <a:off x="10268712" y="6096952"/>
            <a:ext cx="124282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1050" dirty="0">
                <a:solidFill>
                  <a:srgbClr val="64748B"/>
                </a:solidFill>
                <a:latin typeface="+mj-lt"/>
                <a:ea typeface="+mj-ea"/>
                <a:cs typeface="+mj-cs"/>
              </a:rPr>
              <a:t>LAPTOP-R77M5D6M</a:t>
            </a:r>
          </a:p>
        </p:txBody>
      </p:sp>
      <p:grpSp>
        <p:nvGrpSpPr>
          <p:cNvPr id="14" name="toc-row-1"/>
          <p:cNvGrpSpPr/>
          <p:nvPr/>
        </p:nvGrpSpPr>
        <p:grpSpPr>
          <a:xfrm>
            <a:off x="685800" y="2132648"/>
            <a:ext cx="10820400" cy="381381"/>
            <a:chOff x="685800" y="2132648"/>
            <a:chExt cx="10820400" cy="381381"/>
          </a:xfrm>
        </p:grpSpPr>
        <p:sp>
          <p:nvSpPr>
            <p:cNvPr id="10" name="TextBox 10"/>
            <p:cNvSpPr txBox="1"/>
            <p:nvPr/>
          </p:nvSpPr>
          <p:spPr>
            <a:xfrm>
              <a:off x="696468" y="2165032"/>
              <a:ext cx="28129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spc="150" dirty="0">
                  <a:solidFill>
                    <a:srgbClr val="22D3EE"/>
                  </a:solidFill>
                  <a:latin typeface="+mj-lt"/>
                  <a:ea typeface="+mj-ea"/>
                  <a:cs typeface="+mj-cs"/>
                </a:rPr>
                <a:t>01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456944" y="2132648"/>
              <a:ext cx="133235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问题与瓶颈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4088511" y="2189321"/>
              <a:ext cx="370387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序列空间巨大 · 感官评价贵 · 已知规律有限</a:t>
              </a:r>
            </a:p>
          </p:txBody>
        </p:sp>
        <p:sp>
          <p:nvSpPr>
            <p:cNvPr id="13" name="Line 13"/>
            <p:cNvSpPr/>
            <p:nvPr/>
          </p:nvSpPr>
          <p:spPr>
            <a:xfrm>
              <a:off x="685800" y="243840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9525">
              <a:solidFill>
                <a:srgbClr val="17293F"/>
              </a:solidFill>
            </a:ln>
          </p:spPr>
        </p:sp>
      </p:grpSp>
      <p:grpSp>
        <p:nvGrpSpPr>
          <p:cNvPr id="19" name="toc-row-2"/>
          <p:cNvGrpSpPr/>
          <p:nvPr/>
        </p:nvGrpSpPr>
        <p:grpSpPr>
          <a:xfrm>
            <a:off x="685800" y="2723198"/>
            <a:ext cx="10820400" cy="381381"/>
            <a:chOff x="685800" y="2723198"/>
            <a:chExt cx="10820400" cy="381381"/>
          </a:xfrm>
        </p:grpSpPr>
        <p:sp>
          <p:nvSpPr>
            <p:cNvPr id="15" name="TextBox 15"/>
            <p:cNvSpPr txBox="1"/>
            <p:nvPr/>
          </p:nvSpPr>
          <p:spPr>
            <a:xfrm>
              <a:off x="696468" y="2755582"/>
              <a:ext cx="28129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spc="150" dirty="0">
                  <a:solidFill>
                    <a:srgbClr val="22D3EE"/>
                  </a:solidFill>
                  <a:latin typeface="+mj-lt"/>
                  <a:ea typeface="+mj-ea"/>
                  <a:cs typeface="+mj-cs"/>
                </a:rPr>
                <a:t>02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456944" y="2723198"/>
              <a:ext cx="133235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数据与标签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4088511" y="2779871"/>
              <a:ext cx="255691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公开肽库 · 正负样本 · 去冗余</a:t>
              </a:r>
            </a:p>
          </p:txBody>
        </p:sp>
        <p:sp>
          <p:nvSpPr>
            <p:cNvPr id="18" name="Line 18"/>
            <p:cNvSpPr/>
            <p:nvPr/>
          </p:nvSpPr>
          <p:spPr>
            <a:xfrm>
              <a:off x="685800" y="302895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9525">
              <a:solidFill>
                <a:srgbClr val="17293F"/>
              </a:solidFill>
            </a:ln>
          </p:spPr>
        </p:sp>
      </p:grpSp>
      <p:grpSp>
        <p:nvGrpSpPr>
          <p:cNvPr id="24" name="toc-row-3"/>
          <p:cNvGrpSpPr/>
          <p:nvPr/>
        </p:nvGrpSpPr>
        <p:grpSpPr>
          <a:xfrm>
            <a:off x="685800" y="3313748"/>
            <a:ext cx="10820400" cy="381381"/>
            <a:chOff x="685800" y="3313748"/>
            <a:chExt cx="10820400" cy="381381"/>
          </a:xfrm>
        </p:grpSpPr>
        <p:sp>
          <p:nvSpPr>
            <p:cNvPr id="20" name="TextBox 20"/>
            <p:cNvSpPr txBox="1"/>
            <p:nvPr/>
          </p:nvSpPr>
          <p:spPr>
            <a:xfrm>
              <a:off x="696468" y="3346132"/>
              <a:ext cx="28129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spc="150" dirty="0">
                  <a:solidFill>
                    <a:srgbClr val="22D3EE"/>
                  </a:solidFill>
                  <a:latin typeface="+mj-lt"/>
                  <a:ea typeface="+mj-ea"/>
                  <a:cs typeface="+mj-cs"/>
                </a:rPr>
                <a:t>03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456944" y="3313748"/>
              <a:ext cx="1069848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特征工程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4088511" y="3370421"/>
              <a:ext cx="236575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组成 / 理化 / 嵌入，怎么选</a:t>
              </a:r>
            </a:p>
          </p:txBody>
        </p:sp>
        <p:sp>
          <p:nvSpPr>
            <p:cNvPr id="23" name="Line 23"/>
            <p:cNvSpPr/>
            <p:nvPr/>
          </p:nvSpPr>
          <p:spPr>
            <a:xfrm>
              <a:off x="685800" y="361950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9525">
              <a:solidFill>
                <a:srgbClr val="17293F"/>
              </a:solidFill>
            </a:ln>
          </p:spPr>
        </p:sp>
      </p:grpSp>
      <p:grpSp>
        <p:nvGrpSpPr>
          <p:cNvPr id="29" name="toc-row-4"/>
          <p:cNvGrpSpPr/>
          <p:nvPr/>
        </p:nvGrpSpPr>
        <p:grpSpPr>
          <a:xfrm>
            <a:off x="685800" y="3904298"/>
            <a:ext cx="10820400" cy="381381"/>
            <a:chOff x="685800" y="3904298"/>
            <a:chExt cx="10820400" cy="381381"/>
          </a:xfrm>
        </p:grpSpPr>
        <p:sp>
          <p:nvSpPr>
            <p:cNvPr id="25" name="TextBox 25"/>
            <p:cNvSpPr txBox="1"/>
            <p:nvPr/>
          </p:nvSpPr>
          <p:spPr>
            <a:xfrm>
              <a:off x="696468" y="3936682"/>
              <a:ext cx="28129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spc="150" dirty="0">
                  <a:solidFill>
                    <a:srgbClr val="22D3EE"/>
                  </a:solidFill>
                  <a:latin typeface="+mj-lt"/>
                  <a:ea typeface="+mj-ea"/>
                  <a:cs typeface="+mj-cs"/>
                </a:rPr>
                <a:t>04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1456944" y="3904298"/>
              <a:ext cx="133235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模型与评估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4088511" y="3960971"/>
              <a:ext cx="230840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模型家族、指标、泄漏陷阱</a:t>
              </a:r>
            </a:p>
          </p:txBody>
        </p:sp>
        <p:sp>
          <p:nvSpPr>
            <p:cNvPr id="28" name="Line 28"/>
            <p:cNvSpPr/>
            <p:nvPr/>
          </p:nvSpPr>
          <p:spPr>
            <a:xfrm>
              <a:off x="685800" y="421005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9525">
              <a:solidFill>
                <a:srgbClr val="17293F"/>
              </a:solidFill>
            </a:ln>
          </p:spPr>
        </p:sp>
      </p:grpSp>
      <p:grpSp>
        <p:nvGrpSpPr>
          <p:cNvPr id="34" name="toc-row-5"/>
          <p:cNvGrpSpPr/>
          <p:nvPr/>
        </p:nvGrpSpPr>
        <p:grpSpPr>
          <a:xfrm>
            <a:off x="685800" y="4494848"/>
            <a:ext cx="10820400" cy="381381"/>
            <a:chOff x="685800" y="4494848"/>
            <a:chExt cx="10820400" cy="381381"/>
          </a:xfrm>
        </p:grpSpPr>
        <p:sp>
          <p:nvSpPr>
            <p:cNvPr id="30" name="TextBox 30"/>
            <p:cNvSpPr txBox="1"/>
            <p:nvPr/>
          </p:nvSpPr>
          <p:spPr>
            <a:xfrm>
              <a:off x="696468" y="4527232"/>
              <a:ext cx="28129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spc="150" dirty="0">
                  <a:solidFill>
                    <a:srgbClr val="22D3EE"/>
                  </a:solidFill>
                  <a:latin typeface="+mj-lt"/>
                  <a:ea typeface="+mj-ea"/>
                  <a:cs typeface="+mj-cs"/>
                </a:rPr>
                <a:t>05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1456944" y="4494848"/>
              <a:ext cx="1069848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筛选漏斗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4088511" y="4551521"/>
              <a:ext cx="230840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百万级候选压到可合成数量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685800" y="480060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9525">
              <a:solidFill>
                <a:srgbClr val="17293F"/>
              </a:solidFill>
            </a:ln>
          </p:spPr>
        </p:sp>
      </p:grpSp>
      <p:grpSp>
        <p:nvGrpSpPr>
          <p:cNvPr id="39" name="toc-row-6"/>
          <p:cNvGrpSpPr/>
          <p:nvPr/>
        </p:nvGrpSpPr>
        <p:grpSpPr>
          <a:xfrm>
            <a:off x="685800" y="5085398"/>
            <a:ext cx="10820400" cy="381381"/>
            <a:chOff x="685800" y="5085398"/>
            <a:chExt cx="10820400" cy="381381"/>
          </a:xfrm>
        </p:grpSpPr>
        <p:sp>
          <p:nvSpPr>
            <p:cNvPr id="35" name="TextBox 35"/>
            <p:cNvSpPr txBox="1"/>
            <p:nvPr/>
          </p:nvSpPr>
          <p:spPr>
            <a:xfrm>
              <a:off x="696468" y="5117782"/>
              <a:ext cx="28129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spc="150" dirty="0">
                  <a:solidFill>
                    <a:srgbClr val="22D3EE"/>
                  </a:solidFill>
                  <a:latin typeface="+mj-lt"/>
                  <a:ea typeface="+mj-ea"/>
                  <a:cs typeface="+mj-cs"/>
                </a:rPr>
                <a:t>06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1456944" y="5085398"/>
              <a:ext cx="1594866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湿实验与复现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4088511" y="5142071"/>
              <a:ext cx="3159067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传感器 · 受体 · 阈值 · 一条命令重建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685800" y="539115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9525">
              <a:solidFill>
                <a:srgbClr val="17293F"/>
              </a:solidFill>
            </a:ln>
          </p:spPr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-grid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762000" y="0"/>
                </a:moveTo>
                <a:lnTo>
                  <a:pt x="762000" y="6858000"/>
                </a:lnTo>
                <a:moveTo>
                  <a:pt x="1524000" y="0"/>
                </a:moveTo>
                <a:lnTo>
                  <a:pt x="1524000" y="6858000"/>
                </a:lnTo>
                <a:moveTo>
                  <a:pt x="2286000" y="0"/>
                </a:moveTo>
                <a:lnTo>
                  <a:pt x="2286000" y="6858000"/>
                </a:lnTo>
                <a:moveTo>
                  <a:pt x="3048000" y="0"/>
                </a:moveTo>
                <a:lnTo>
                  <a:pt x="3048000" y="6858000"/>
                </a:lnTo>
                <a:moveTo>
                  <a:pt x="3810000" y="0"/>
                </a:moveTo>
                <a:lnTo>
                  <a:pt x="3810000" y="6858000"/>
                </a:lnTo>
                <a:moveTo>
                  <a:pt x="4572000" y="0"/>
                </a:moveTo>
                <a:lnTo>
                  <a:pt x="4572000" y="6858000"/>
                </a:lnTo>
                <a:moveTo>
                  <a:pt x="5334000" y="0"/>
                </a:moveTo>
                <a:lnTo>
                  <a:pt x="5334000" y="6858000"/>
                </a:lnTo>
                <a:moveTo>
                  <a:pt x="6096000" y="0"/>
                </a:moveTo>
                <a:lnTo>
                  <a:pt x="6096000" y="6858000"/>
                </a:lnTo>
                <a:moveTo>
                  <a:pt x="6858000" y="0"/>
                </a:moveTo>
                <a:lnTo>
                  <a:pt x="6858000" y="6858000"/>
                </a:lnTo>
                <a:moveTo>
                  <a:pt x="7620000" y="0"/>
                </a:moveTo>
                <a:lnTo>
                  <a:pt x="7620000" y="6858000"/>
                </a:lnTo>
                <a:moveTo>
                  <a:pt x="8382000" y="0"/>
                </a:moveTo>
                <a:lnTo>
                  <a:pt x="8382000" y="6858000"/>
                </a:lnTo>
                <a:moveTo>
                  <a:pt x="9144000" y="0"/>
                </a:moveTo>
                <a:lnTo>
                  <a:pt x="9144000" y="6858000"/>
                </a:lnTo>
                <a:moveTo>
                  <a:pt x="9906000" y="0"/>
                </a:moveTo>
                <a:lnTo>
                  <a:pt x="9906000" y="6858000"/>
                </a:lnTo>
                <a:moveTo>
                  <a:pt x="10668000" y="0"/>
                </a:moveTo>
                <a:lnTo>
                  <a:pt x="10668000" y="6858000"/>
                </a:lnTo>
                <a:moveTo>
                  <a:pt x="11430000" y="0"/>
                </a:moveTo>
                <a:lnTo>
                  <a:pt x="11430000" y="6858000"/>
                </a:lnTo>
                <a:moveTo>
                  <a:pt x="0" y="857250"/>
                </a:moveTo>
                <a:lnTo>
                  <a:pt x="12192000" y="857250"/>
                </a:lnTo>
                <a:moveTo>
                  <a:pt x="0" y="1714500"/>
                </a:moveTo>
                <a:lnTo>
                  <a:pt x="12192000" y="1714500"/>
                </a:lnTo>
                <a:moveTo>
                  <a:pt x="0" y="2571750"/>
                </a:moveTo>
                <a:lnTo>
                  <a:pt x="12192000" y="2571750"/>
                </a:lnTo>
                <a:moveTo>
                  <a:pt x="0" y="3429000"/>
                </a:moveTo>
                <a:lnTo>
                  <a:pt x="12192000" y="3429000"/>
                </a:lnTo>
                <a:moveTo>
                  <a:pt x="0" y="4286250"/>
                </a:moveTo>
                <a:lnTo>
                  <a:pt x="12192000" y="4286250"/>
                </a:lnTo>
                <a:moveTo>
                  <a:pt x="0" y="5143500"/>
                </a:moveTo>
                <a:lnTo>
                  <a:pt x="12192000" y="5143500"/>
                </a:lnTo>
                <a:moveTo>
                  <a:pt x="0" y="6000750"/>
                </a:moveTo>
                <a:lnTo>
                  <a:pt x="12192000" y="6000750"/>
                </a:lnTo>
              </a:path>
            </a:pathLst>
          </a:custGeom>
          <a:noFill/>
          <a:ln w="9525">
            <a:solidFill>
              <a:srgbClr val="17293F">
                <a:alpha val="50000"/>
              </a:srgbClr>
            </a:solidFill>
          </a:ln>
        </p:spPr>
      </p:sp>
      <p:grpSp>
        <p:nvGrpSpPr>
          <p:cNvPr id="4" name="chapter-number"/>
          <p:cNvGrpSpPr/>
          <p:nvPr/>
        </p:nvGrpSpPr>
        <p:grpSpPr>
          <a:xfrm>
            <a:off x="819150" y="1819275"/>
            <a:ext cx="1592961" cy="2019300"/>
            <a:chOff x="819150" y="1819275"/>
            <a:chExt cx="1592961" cy="2019300"/>
          </a:xfrm>
        </p:grpSpPr>
        <p:sp>
          <p:nvSpPr>
            <p:cNvPr id="3" name="TextBox 3"/>
            <p:cNvSpPr txBox="1"/>
            <p:nvPr/>
          </p:nvSpPr>
          <p:spPr>
            <a:xfrm>
              <a:off x="819150" y="1819275"/>
              <a:ext cx="1592961" cy="20193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0" b="1" dirty="0">
                  <a:solidFill>
                    <a:srgbClr val="121C2E"/>
                  </a:solidFill>
                  <a:latin typeface="+mj-lt"/>
                  <a:ea typeface="+mj-ea"/>
                  <a:cs typeface="+mj-cs"/>
                </a:rPr>
                <a:t>01</a:t>
              </a:r>
            </a:p>
          </p:txBody>
        </p:sp>
      </p:grpSp>
      <p:grpSp>
        <p:nvGrpSpPr>
          <p:cNvPr id="6" name="chapter-title"/>
          <p:cNvGrpSpPr/>
          <p:nvPr/>
        </p:nvGrpSpPr>
        <p:grpSpPr>
          <a:xfrm>
            <a:off x="895350" y="3476625"/>
            <a:ext cx="3672840" cy="876300"/>
            <a:chOff x="895350" y="3476625"/>
            <a:chExt cx="3672840" cy="876300"/>
          </a:xfrm>
        </p:grpSpPr>
        <p:sp>
          <p:nvSpPr>
            <p:cNvPr id="5" name="TextBox 5"/>
            <p:cNvSpPr txBox="1"/>
            <p:nvPr/>
          </p:nvSpPr>
          <p:spPr>
            <a:xfrm>
              <a:off x="895350" y="3476625"/>
              <a:ext cx="3672840" cy="8763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450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从序列到候选</a:t>
              </a:r>
            </a:p>
          </p:txBody>
        </p:sp>
      </p:grpSp>
      <p:grpSp>
        <p:nvGrpSpPr>
          <p:cNvPr id="8" name="chapter-subtitle"/>
          <p:cNvGrpSpPr/>
          <p:nvPr/>
        </p:nvGrpSpPr>
        <p:grpSpPr>
          <a:xfrm>
            <a:off x="942594" y="4285298"/>
            <a:ext cx="3957447" cy="381381"/>
            <a:chOff x="942594" y="4285298"/>
            <a:chExt cx="3957447" cy="381381"/>
          </a:xfrm>
        </p:grpSpPr>
        <p:sp>
          <p:nvSpPr>
            <p:cNvPr id="7" name="TextBox 7"/>
            <p:cNvSpPr txBox="1"/>
            <p:nvPr/>
          </p:nvSpPr>
          <p:spPr>
            <a:xfrm>
              <a:off x="942594" y="4285298"/>
              <a:ext cx="395744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dirty="0">
                  <a:solidFill>
                    <a:srgbClr val="7DD3FC"/>
                  </a:solidFill>
                  <a:latin typeface="+mn-lt"/>
                  <a:ea typeface="+mn-ea"/>
                  <a:cs typeface="+mn-cs"/>
                </a:rPr>
                <a:t>为什么要用机器学习做第一轮筛选</a:t>
              </a:r>
            </a:p>
          </p:txBody>
        </p:sp>
      </p:grpSp>
      <p:grpSp>
        <p:nvGrpSpPr>
          <p:cNvPr id="10" name="chapter-rule"/>
          <p:cNvGrpSpPr/>
          <p:nvPr/>
        </p:nvGrpSpPr>
        <p:grpSpPr>
          <a:xfrm>
            <a:off x="914400" y="4762500"/>
            <a:ext cx="2095500" cy="28575"/>
            <a:chOff x="914400" y="4762500"/>
            <a:chExt cx="2095500" cy="28575"/>
          </a:xfrm>
        </p:grpSpPr>
        <p:sp>
          <p:nvSpPr>
            <p:cNvPr id="9" name="Rectangle 9"/>
            <p:cNvSpPr/>
            <p:nvPr/>
          </p:nvSpPr>
          <p:spPr>
            <a:xfrm>
              <a:off x="914400" y="4762500"/>
              <a:ext cx="2095500" cy="28575"/>
            </a:xfrm>
            <a:prstGeom prst="rect">
              <a:avLst/>
            </a:prstGeom>
            <a:solidFill>
              <a:srgbClr val="22D3EE"/>
            </a:solidFill>
            <a:ln>
              <a:noFill/>
            </a:ln>
          </p:spPr>
        </p:sp>
      </p:grpSp>
      <p:grpSp>
        <p:nvGrpSpPr>
          <p:cNvPr id="12" name="chapter-note"/>
          <p:cNvGrpSpPr/>
          <p:nvPr/>
        </p:nvGrpSpPr>
        <p:grpSpPr>
          <a:xfrm>
            <a:off x="906780" y="5095875"/>
            <a:ext cx="5063490" cy="293370"/>
            <a:chOff x="906780" y="5095875"/>
            <a:chExt cx="5063490" cy="293370"/>
          </a:xfrm>
        </p:grpSpPr>
        <p:sp>
          <p:nvSpPr>
            <p:cNvPr id="11" name="TextBox 11"/>
            <p:cNvSpPr txBox="1"/>
            <p:nvPr/>
          </p:nvSpPr>
          <p:spPr>
            <a:xfrm>
              <a:off x="906780" y="5095875"/>
              <a:ext cx="50634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湿实验资源有限，先让模型把搜索空间砍到能做的规模。</a:t>
              </a:r>
            </a:p>
          </p:txBody>
        </p:sp>
      </p:grpSp>
      <p:sp>
        <p:nvSpPr>
          <p:cNvPr id="13" name="footer-left"/>
          <p:cNvSpPr txBox="1"/>
          <p:nvPr/>
        </p:nvSpPr>
        <p:spPr>
          <a:xfrm>
            <a:off x="909066" y="6135052"/>
            <a:ext cx="3975564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050" dirty="0">
                <a:solidFill>
                  <a:srgbClr val="64748B"/>
                </a:solidFill>
                <a:latin typeface="+mj-lt"/>
                <a:ea typeface="+mj-ea"/>
                <a:cs typeface="+mj-cs"/>
              </a:rPr>
              <a:t>umami peptides · ppt-master deck · session 01a0aa00</a:t>
            </a:r>
          </a:p>
        </p:txBody>
      </p:sp>
      <p:sp>
        <p:nvSpPr>
          <p:cNvPr id="14" name="footer-right"/>
          <p:cNvSpPr txBox="1"/>
          <p:nvPr/>
        </p:nvSpPr>
        <p:spPr>
          <a:xfrm>
            <a:off x="9409176" y="6135052"/>
            <a:ext cx="2064258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1050" dirty="0">
                <a:solidFill>
                  <a:srgbClr val="64748B"/>
                </a:solidFill>
                <a:latin typeface="+mj-lt"/>
                <a:ea typeface="+mj-ea"/>
                <a:cs typeface="+mj-cs"/>
              </a:rPr>
              <a:t>PART 01 · LAPTOP-R77M5D6M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page-title"/>
          <p:cNvGrpSpPr/>
          <p:nvPr/>
        </p:nvGrpSpPr>
        <p:grpSpPr>
          <a:xfrm>
            <a:off x="649986" y="613410"/>
            <a:ext cx="4889754" cy="1194435"/>
            <a:chOff x="649986" y="613410"/>
            <a:chExt cx="4889754" cy="1194435"/>
          </a:xfrm>
        </p:grpSpPr>
        <p:sp>
          <p:nvSpPr>
            <p:cNvPr id="2" name="TextBox 2"/>
            <p:cNvSpPr txBox="1"/>
            <p:nvPr/>
          </p:nvSpPr>
          <p:spPr>
            <a:xfrm>
              <a:off x="698754" y="613410"/>
              <a:ext cx="123901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spc="225" dirty="0">
                  <a:solidFill>
                    <a:srgbClr val="22D3EE"/>
                  </a:solidFill>
                  <a:latin typeface="+mj-lt"/>
                  <a:ea typeface="+mj-ea"/>
                  <a:cs typeface="+mj-cs"/>
                </a:rPr>
                <a:t>// PROBLEM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649986" y="958215"/>
              <a:ext cx="4031742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30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为什么要用计算筛选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678180" y="1514475"/>
              <a:ext cx="48615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湿实验只能验证极少数候选，先让模型把搜索空间砍掉</a:t>
              </a:r>
            </a:p>
          </p:txBody>
        </p:sp>
      </p:grpSp>
      <p:sp>
        <p:nvSpPr>
          <p:cNvPr id="6" name="page-number"/>
          <p:cNvSpPr txBox="1"/>
          <p:nvPr/>
        </p:nvSpPr>
        <p:spPr>
          <a:xfrm>
            <a:off x="10878160" y="613410"/>
            <a:ext cx="634136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200" dirty="0">
                <a:solidFill>
                  <a:srgbClr val="64748B"/>
                </a:solidFill>
                <a:latin typeface="+mj-lt"/>
                <a:ea typeface="+mj-ea"/>
                <a:cs typeface="+mj-cs"/>
              </a:rPr>
              <a:t>03 / 12</a:t>
            </a:r>
          </a:p>
        </p:txBody>
      </p:sp>
      <p:sp>
        <p:nvSpPr>
          <p:cNvPr id="7" name="Line 7"/>
          <p:cNvSpPr/>
          <p:nvPr/>
        </p:nvSpPr>
        <p:spPr>
          <a:xfrm>
            <a:off x="685800" y="5924550"/>
            <a:ext cx="10820400" cy="9525"/>
          </a:xfrm>
          <a:custGeom>
            <a:avLst/>
            <a:gdLst/>
            <a:ahLst/>
            <a:cxnLst/>
            <a:rect l="l" t="t" r="r" b="b"/>
            <a:pathLst>
              <a:path w="10820400" h="9525">
                <a:moveTo>
                  <a:pt x="0" y="0"/>
                </a:moveTo>
                <a:lnTo>
                  <a:pt x="10820400" y="0"/>
                </a:lnTo>
              </a:path>
            </a:pathLst>
          </a:custGeom>
          <a:noFill/>
          <a:ln w="9525">
            <a:solidFill>
              <a:srgbClr val="17293F"/>
            </a:solidFill>
          </a:ln>
        </p:spPr>
      </p:sp>
      <p:sp>
        <p:nvSpPr>
          <p:cNvPr id="8" name="footer-left"/>
          <p:cNvSpPr txBox="1"/>
          <p:nvPr/>
        </p:nvSpPr>
        <p:spPr>
          <a:xfrm>
            <a:off x="680466" y="6096952"/>
            <a:ext cx="3975564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050" dirty="0">
                <a:solidFill>
                  <a:srgbClr val="64748B"/>
                </a:solidFill>
                <a:latin typeface="+mj-lt"/>
                <a:ea typeface="+mj-ea"/>
                <a:cs typeface="+mj-cs"/>
              </a:rPr>
              <a:t>umami peptides · ppt-master deck · session 01a0aa00</a:t>
            </a:r>
          </a:p>
        </p:txBody>
      </p:sp>
      <p:sp>
        <p:nvSpPr>
          <p:cNvPr id="9" name="footer-right"/>
          <p:cNvSpPr txBox="1"/>
          <p:nvPr/>
        </p:nvSpPr>
        <p:spPr>
          <a:xfrm>
            <a:off x="10268712" y="6096952"/>
            <a:ext cx="124282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1050" dirty="0">
                <a:solidFill>
                  <a:srgbClr val="64748B"/>
                </a:solidFill>
                <a:latin typeface="+mj-lt"/>
                <a:ea typeface="+mj-ea"/>
                <a:cs typeface="+mj-cs"/>
              </a:rPr>
              <a:t>LAPTOP-R77M5D6M</a:t>
            </a:r>
          </a:p>
        </p:txBody>
      </p:sp>
      <p:grpSp>
        <p:nvGrpSpPr>
          <p:cNvPr id="16" name="problem-space"/>
          <p:cNvGrpSpPr/>
          <p:nvPr/>
        </p:nvGrpSpPr>
        <p:grpSpPr>
          <a:xfrm>
            <a:off x="666750" y="2057400"/>
            <a:ext cx="3333750" cy="2857500"/>
            <a:chOff x="666750" y="2057400"/>
            <a:chExt cx="3333750" cy="2857500"/>
          </a:xfrm>
        </p:grpSpPr>
        <p:sp>
          <p:nvSpPr>
            <p:cNvPr id="10" name="Rectangle 10"/>
            <p:cNvSpPr/>
            <p:nvPr/>
          </p:nvSpPr>
          <p:spPr>
            <a:xfrm>
              <a:off x="666750" y="2057400"/>
              <a:ext cx="3333750" cy="2857500"/>
            </a:xfrm>
            <a:prstGeom prst="roundRect">
              <a:avLst>
                <a:gd name="adj" fmla="val 4667"/>
              </a:avLst>
            </a:prstGeom>
            <a:solidFill>
              <a:srgbClr val="121C2E"/>
            </a:solidFill>
            <a:ln w="9525">
              <a:solidFill>
                <a:srgbClr val="1E3A5F"/>
              </a:solidFill>
            </a:ln>
          </p:spPr>
        </p:sp>
        <p:sp>
          <p:nvSpPr>
            <p:cNvPr id="11" name="Rectangle 11"/>
            <p:cNvSpPr/>
            <p:nvPr/>
          </p:nvSpPr>
          <p:spPr>
            <a:xfrm>
              <a:off x="666750" y="2057400"/>
              <a:ext cx="38100" cy="2857500"/>
            </a:xfrm>
            <a:prstGeom prst="roundRect">
              <a:avLst>
                <a:gd name="adj" fmla="val 50000"/>
              </a:avLst>
            </a:prstGeom>
            <a:solidFill>
              <a:srgbClr val="FBBF24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962406" y="2320290"/>
              <a:ext cx="98755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空间巨大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965454" y="2785110"/>
              <a:ext cx="266151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4A3B8"/>
                  </a:solidFill>
                  <a:latin typeface="+mj-lt"/>
                  <a:ea typeface="+mj-ea"/>
                  <a:cs typeface="+mj-cs"/>
                </a:rPr>
                <a:t>20 种天然氨基酸，长度 2-8 的组合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65073" y="3119914"/>
              <a:ext cx="190840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穷举酶解产物是天文数字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965073" y="3462814"/>
              <a:ext cx="15637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只能挑一小批去合成</a:t>
              </a:r>
            </a:p>
          </p:txBody>
        </p:sp>
      </p:grpSp>
      <p:grpSp>
        <p:nvGrpSpPr>
          <p:cNvPr id="23" name="problem-lab"/>
          <p:cNvGrpSpPr/>
          <p:nvPr/>
        </p:nvGrpSpPr>
        <p:grpSpPr>
          <a:xfrm>
            <a:off x="4267200" y="2057400"/>
            <a:ext cx="3333750" cy="2857500"/>
            <a:chOff x="4267200" y="2057400"/>
            <a:chExt cx="3333750" cy="2857500"/>
          </a:xfrm>
        </p:grpSpPr>
        <p:sp>
          <p:nvSpPr>
            <p:cNvPr id="17" name="Rectangle 17"/>
            <p:cNvSpPr/>
            <p:nvPr/>
          </p:nvSpPr>
          <p:spPr>
            <a:xfrm>
              <a:off x="4267200" y="2057400"/>
              <a:ext cx="3333750" cy="2857500"/>
            </a:xfrm>
            <a:prstGeom prst="roundRect">
              <a:avLst>
                <a:gd name="adj" fmla="val 4667"/>
              </a:avLst>
            </a:prstGeom>
            <a:solidFill>
              <a:srgbClr val="121C2E"/>
            </a:solidFill>
            <a:ln w="9525">
              <a:solidFill>
                <a:srgbClr val="1E3A5F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4267200" y="2057400"/>
              <a:ext cx="38100" cy="2857500"/>
            </a:xfrm>
            <a:prstGeom prst="roundRect">
              <a:avLst>
                <a:gd name="adj" fmla="val 50000"/>
              </a:avLst>
            </a:prstGeom>
            <a:solidFill>
              <a:srgbClr val="22D3EE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4562856" y="2320290"/>
              <a:ext cx="98755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实验瓶颈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4565523" y="2777014"/>
              <a:ext cx="208071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感官评价：周期长、成本高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4565523" y="3119914"/>
              <a:ext cx="15637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人工品评有主观差异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4565523" y="3462814"/>
              <a:ext cx="210656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电子舌 / 受体实验通量有限</a:t>
              </a:r>
            </a:p>
          </p:txBody>
        </p:sp>
      </p:grpSp>
      <p:grpSp>
        <p:nvGrpSpPr>
          <p:cNvPr id="30" name="problem-known"/>
          <p:cNvGrpSpPr/>
          <p:nvPr/>
        </p:nvGrpSpPr>
        <p:grpSpPr>
          <a:xfrm>
            <a:off x="7867650" y="2057400"/>
            <a:ext cx="3638550" cy="2857500"/>
            <a:chOff x="7867650" y="2057400"/>
            <a:chExt cx="3638550" cy="2857500"/>
          </a:xfrm>
        </p:grpSpPr>
        <p:sp>
          <p:nvSpPr>
            <p:cNvPr id="24" name="Rectangle 24"/>
            <p:cNvSpPr/>
            <p:nvPr/>
          </p:nvSpPr>
          <p:spPr>
            <a:xfrm>
              <a:off x="7867650" y="2057400"/>
              <a:ext cx="3638550" cy="2857500"/>
            </a:xfrm>
            <a:prstGeom prst="roundRect">
              <a:avLst>
                <a:gd name="adj" fmla="val 4667"/>
              </a:avLst>
            </a:prstGeom>
            <a:solidFill>
              <a:srgbClr val="121C2E"/>
            </a:solidFill>
            <a:ln w="9525">
              <a:solidFill>
                <a:srgbClr val="1E3A5F"/>
              </a:solidFill>
            </a:ln>
          </p:spPr>
        </p:sp>
        <p:sp>
          <p:nvSpPr>
            <p:cNvPr id="25" name="Rectangle 25"/>
            <p:cNvSpPr/>
            <p:nvPr/>
          </p:nvSpPr>
          <p:spPr>
            <a:xfrm>
              <a:off x="7867650" y="2057400"/>
              <a:ext cx="38100" cy="2857500"/>
            </a:xfrm>
            <a:prstGeom prst="roundRect">
              <a:avLst>
                <a:gd name="adj" fmla="val 50000"/>
              </a:avLst>
            </a:prstGeom>
            <a:solidFill>
              <a:srgbClr val="A3E635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8163306" y="2320290"/>
              <a:ext cx="98755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已知规律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8165973" y="2777014"/>
              <a:ext cx="248565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鲜味肽多为短肽（常见 2-8 aa）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8165973" y="3119914"/>
              <a:ext cx="193425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酸性残基 + 疏水残基富集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8165973" y="3462814"/>
              <a:ext cx="240193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作用于 T1R1-T1R3 异源二聚体</a:t>
              </a:r>
            </a:p>
          </p:txBody>
        </p:sp>
      </p:grpSp>
      <p:grpSp>
        <p:nvGrpSpPr>
          <p:cNvPr id="34" name="problem-takeaway"/>
          <p:cNvGrpSpPr/>
          <p:nvPr/>
        </p:nvGrpSpPr>
        <p:grpSpPr>
          <a:xfrm>
            <a:off x="666750" y="5143500"/>
            <a:ext cx="10839450" cy="704850"/>
            <a:chOff x="666750" y="5143500"/>
            <a:chExt cx="10839450" cy="704850"/>
          </a:xfrm>
        </p:grpSpPr>
        <p:sp>
          <p:nvSpPr>
            <p:cNvPr id="31" name="Rectangle 31"/>
            <p:cNvSpPr/>
            <p:nvPr/>
          </p:nvSpPr>
          <p:spPr>
            <a:xfrm>
              <a:off x="666750" y="5143500"/>
              <a:ext cx="10839450" cy="704850"/>
            </a:xfrm>
            <a:prstGeom prst="roundRect">
              <a:avLst>
                <a:gd name="adj" fmla="val 16216"/>
              </a:avLst>
            </a:prstGeom>
            <a:solidFill>
              <a:srgbClr val="0D1626"/>
            </a:solidFill>
            <a:ln w="9525">
              <a:solidFill>
                <a:srgbClr val="1E3A5F"/>
              </a:solidFill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906399" y="5316379"/>
              <a:ext cx="7480694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结论：用模型先排序，再用少量湿实验验证排序的头部——这是本 deck 的主线。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909066" y="5620702"/>
              <a:ext cx="396849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FBBF24"/>
                  </a:solidFill>
                  <a:latin typeface="+mj-lt"/>
                  <a:ea typeface="+mj-ea"/>
                  <a:cs typeface="+mj-cs"/>
                </a:rPr>
                <a:t>示例：本页不引用任何具体文献数值，只描述常见方法学做法。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page-title"/>
          <p:cNvGrpSpPr/>
          <p:nvPr/>
        </p:nvGrpSpPr>
        <p:grpSpPr>
          <a:xfrm>
            <a:off x="649986" y="613410"/>
            <a:ext cx="4082034" cy="1194435"/>
            <a:chOff x="649986" y="613410"/>
            <a:chExt cx="4082034" cy="1194435"/>
          </a:xfrm>
        </p:grpSpPr>
        <p:sp>
          <p:nvSpPr>
            <p:cNvPr id="2" name="TextBox 2"/>
            <p:cNvSpPr txBox="1"/>
            <p:nvPr/>
          </p:nvSpPr>
          <p:spPr>
            <a:xfrm>
              <a:off x="698754" y="613410"/>
              <a:ext cx="86136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spc="225" dirty="0">
                  <a:solidFill>
                    <a:srgbClr val="22D3EE"/>
                  </a:solidFill>
                  <a:latin typeface="+mj-lt"/>
                  <a:ea typeface="+mj-ea"/>
                  <a:cs typeface="+mj-cs"/>
                </a:rPr>
                <a:t>// DATA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649986" y="958215"/>
              <a:ext cx="3587496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30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数据与标签从哪来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678180" y="1514475"/>
              <a:ext cx="405384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正负样本怎么定义，比模型选什么更影响结果</a:t>
              </a:r>
            </a:p>
          </p:txBody>
        </p:sp>
      </p:grpSp>
      <p:sp>
        <p:nvSpPr>
          <p:cNvPr id="6" name="page-number"/>
          <p:cNvSpPr txBox="1"/>
          <p:nvPr/>
        </p:nvSpPr>
        <p:spPr>
          <a:xfrm>
            <a:off x="10878160" y="613410"/>
            <a:ext cx="634136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200" dirty="0">
                <a:solidFill>
                  <a:srgbClr val="64748B"/>
                </a:solidFill>
                <a:latin typeface="+mj-lt"/>
                <a:ea typeface="+mj-ea"/>
                <a:cs typeface="+mj-cs"/>
              </a:rPr>
              <a:t>04 / 12</a:t>
            </a:r>
          </a:p>
        </p:txBody>
      </p:sp>
      <p:sp>
        <p:nvSpPr>
          <p:cNvPr id="7" name="Line 7"/>
          <p:cNvSpPr/>
          <p:nvPr/>
        </p:nvSpPr>
        <p:spPr>
          <a:xfrm>
            <a:off x="685800" y="5924550"/>
            <a:ext cx="10820400" cy="9525"/>
          </a:xfrm>
          <a:custGeom>
            <a:avLst/>
            <a:gdLst/>
            <a:ahLst/>
            <a:cxnLst/>
            <a:rect l="l" t="t" r="r" b="b"/>
            <a:pathLst>
              <a:path w="10820400" h="9525">
                <a:moveTo>
                  <a:pt x="0" y="0"/>
                </a:moveTo>
                <a:lnTo>
                  <a:pt x="10820400" y="0"/>
                </a:lnTo>
              </a:path>
            </a:pathLst>
          </a:custGeom>
          <a:noFill/>
          <a:ln w="9525">
            <a:solidFill>
              <a:srgbClr val="17293F"/>
            </a:solidFill>
          </a:ln>
        </p:spPr>
      </p:sp>
      <p:sp>
        <p:nvSpPr>
          <p:cNvPr id="8" name="footer-left"/>
          <p:cNvSpPr txBox="1"/>
          <p:nvPr/>
        </p:nvSpPr>
        <p:spPr>
          <a:xfrm>
            <a:off x="680466" y="6096952"/>
            <a:ext cx="3975564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050" dirty="0">
                <a:solidFill>
                  <a:srgbClr val="64748B"/>
                </a:solidFill>
                <a:latin typeface="+mj-lt"/>
                <a:ea typeface="+mj-ea"/>
                <a:cs typeface="+mj-cs"/>
              </a:rPr>
              <a:t>umami peptides · ppt-master deck · session 01a0aa00</a:t>
            </a:r>
          </a:p>
        </p:txBody>
      </p:sp>
      <p:sp>
        <p:nvSpPr>
          <p:cNvPr id="9" name="footer-right"/>
          <p:cNvSpPr txBox="1"/>
          <p:nvPr/>
        </p:nvSpPr>
        <p:spPr>
          <a:xfrm>
            <a:off x="10268712" y="6096952"/>
            <a:ext cx="124282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1050" dirty="0">
                <a:solidFill>
                  <a:srgbClr val="64748B"/>
                </a:solidFill>
                <a:latin typeface="+mj-lt"/>
                <a:ea typeface="+mj-ea"/>
                <a:cs typeface="+mj-cs"/>
              </a:rPr>
              <a:t>LAPTOP-R77M5D6M</a:t>
            </a:r>
          </a:p>
        </p:txBody>
      </p:sp>
      <p:grpSp>
        <p:nvGrpSpPr>
          <p:cNvPr id="13" name="data-row-1"/>
          <p:cNvGrpSpPr/>
          <p:nvPr/>
        </p:nvGrpSpPr>
        <p:grpSpPr>
          <a:xfrm>
            <a:off x="666750" y="2019300"/>
            <a:ext cx="10858500" cy="476250"/>
            <a:chOff x="666750" y="2019300"/>
            <a:chExt cx="10858500" cy="476250"/>
          </a:xfrm>
        </p:grpSpPr>
        <p:sp>
          <p:nvSpPr>
            <p:cNvPr id="10" name="Rectangle 10"/>
            <p:cNvSpPr/>
            <p:nvPr/>
          </p:nvSpPr>
          <p:spPr>
            <a:xfrm>
              <a:off x="666750" y="2019300"/>
              <a:ext cx="10858500" cy="476250"/>
            </a:xfrm>
            <a:prstGeom prst="roundRect">
              <a:avLst>
                <a:gd name="adj" fmla="val 20000"/>
              </a:avLst>
            </a:prstGeom>
            <a:solidFill>
              <a:srgbClr val="121C2E"/>
            </a:solidFill>
            <a:ln w="9525">
              <a:solidFill>
                <a:srgbClr val="1E3A5F"/>
              </a:solidFill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06780" y="2162175"/>
              <a:ext cx="132580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b="1" dirty="0">
                  <a:solidFill>
                    <a:srgbClr val="22D3EE"/>
                  </a:solidFill>
                  <a:latin typeface="+mn-lt"/>
                  <a:ea typeface="+mn-ea"/>
                  <a:cs typeface="+mn-cs"/>
                </a:rPr>
                <a:t>BIOPEP-UWM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3898392" y="2178368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呈味肽与生物活性肽记录，可导出序列</a:t>
              </a:r>
            </a:p>
          </p:txBody>
        </p:sp>
      </p:grpSp>
      <p:grpSp>
        <p:nvGrpSpPr>
          <p:cNvPr id="17" name="data-row-2"/>
          <p:cNvGrpSpPr/>
          <p:nvPr/>
        </p:nvGrpSpPr>
        <p:grpSpPr>
          <a:xfrm>
            <a:off x="666750" y="2552700"/>
            <a:ext cx="10858500" cy="476250"/>
            <a:chOff x="666750" y="2552700"/>
            <a:chExt cx="10858500" cy="476250"/>
          </a:xfrm>
        </p:grpSpPr>
        <p:sp>
          <p:nvSpPr>
            <p:cNvPr id="14" name="Rectangle 14"/>
            <p:cNvSpPr/>
            <p:nvPr/>
          </p:nvSpPr>
          <p:spPr>
            <a:xfrm>
              <a:off x="666750" y="2552700"/>
              <a:ext cx="10858500" cy="476250"/>
            </a:xfrm>
            <a:prstGeom prst="roundRect">
              <a:avLst>
                <a:gd name="adj" fmla="val 20000"/>
              </a:avLst>
            </a:prstGeom>
            <a:solidFill>
              <a:srgbClr val="0D1626"/>
            </a:solidFill>
            <a:ln w="9525">
              <a:solidFill>
                <a:srgbClr val="1E3A5F"/>
              </a:solidFill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06780" y="2695575"/>
              <a:ext cx="18554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b="1" dirty="0">
                  <a:solidFill>
                    <a:srgbClr val="22D3EE"/>
                  </a:solidFill>
                  <a:latin typeface="+mn-lt"/>
                  <a:ea typeface="+mn-ea"/>
                  <a:cs typeface="+mn-cs"/>
                </a:rPr>
                <a:t>TastePeptides-DB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3898392" y="2711768"/>
              <a:ext cx="243081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味觉肽分类（苦 / 鲜 / 甜等）</a:t>
              </a:r>
            </a:p>
          </p:txBody>
        </p:sp>
      </p:grpSp>
      <p:grpSp>
        <p:nvGrpSpPr>
          <p:cNvPr id="21" name="data-row-3"/>
          <p:cNvGrpSpPr/>
          <p:nvPr/>
        </p:nvGrpSpPr>
        <p:grpSpPr>
          <a:xfrm>
            <a:off x="666750" y="3086100"/>
            <a:ext cx="10858500" cy="476250"/>
            <a:chOff x="666750" y="3086100"/>
            <a:chExt cx="10858500" cy="476250"/>
          </a:xfrm>
        </p:grpSpPr>
        <p:sp>
          <p:nvSpPr>
            <p:cNvPr id="18" name="Rectangle 18"/>
            <p:cNvSpPr/>
            <p:nvPr/>
          </p:nvSpPr>
          <p:spPr>
            <a:xfrm>
              <a:off x="666750" y="3086100"/>
              <a:ext cx="10858500" cy="476250"/>
            </a:xfrm>
            <a:prstGeom prst="roundRect">
              <a:avLst>
                <a:gd name="adj" fmla="val 20000"/>
              </a:avLst>
            </a:prstGeom>
            <a:solidFill>
              <a:srgbClr val="121C2E"/>
            </a:solidFill>
            <a:ln w="9525">
              <a:solidFill>
                <a:srgbClr val="1E3A5F"/>
              </a:solidFill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906780" y="3228975"/>
              <a:ext cx="196599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22D3EE"/>
                  </a:solidFill>
                  <a:latin typeface="+mn-lt"/>
                  <a:ea typeface="+mn-ea"/>
                  <a:cs typeface="+mn-cs"/>
                </a:rPr>
                <a:t>Umami-MRNN 数据集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3898392" y="3245168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公开的鲜味肽训练集与标注</a:t>
              </a:r>
            </a:p>
          </p:txBody>
        </p:sp>
      </p:grpSp>
      <p:grpSp>
        <p:nvGrpSpPr>
          <p:cNvPr id="25" name="data-row-4"/>
          <p:cNvGrpSpPr/>
          <p:nvPr/>
        </p:nvGrpSpPr>
        <p:grpSpPr>
          <a:xfrm>
            <a:off x="666750" y="3619500"/>
            <a:ext cx="10858500" cy="476250"/>
            <a:chOff x="666750" y="3619500"/>
            <a:chExt cx="10858500" cy="476250"/>
          </a:xfrm>
        </p:grpSpPr>
        <p:sp>
          <p:nvSpPr>
            <p:cNvPr id="22" name="Rectangle 22"/>
            <p:cNvSpPr/>
            <p:nvPr/>
          </p:nvSpPr>
          <p:spPr>
            <a:xfrm>
              <a:off x="666750" y="3619500"/>
              <a:ext cx="10858500" cy="476250"/>
            </a:xfrm>
            <a:prstGeom prst="roundRect">
              <a:avLst>
                <a:gd name="adj" fmla="val 20000"/>
              </a:avLst>
            </a:prstGeom>
            <a:solidFill>
              <a:srgbClr val="0D1626"/>
            </a:solidFill>
            <a:ln w="9525">
              <a:solidFill>
                <a:srgbClr val="1E3A5F"/>
              </a:solidFill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906780" y="3762375"/>
              <a:ext cx="153052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b="1" dirty="0">
                  <a:solidFill>
                    <a:srgbClr val="60A5FA"/>
                  </a:solidFill>
                  <a:latin typeface="+mn-lt"/>
                  <a:ea typeface="+mn-ea"/>
                  <a:cs typeface="+mn-cs"/>
                </a:rPr>
                <a:t>APD3 / UniProt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3898392" y="3778568"/>
              <a:ext cx="1649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补负样本与背景序列</a:t>
              </a:r>
            </a:p>
          </p:txBody>
        </p:sp>
      </p:grpSp>
      <p:grpSp>
        <p:nvGrpSpPr>
          <p:cNvPr id="30" name="data-labels"/>
          <p:cNvGrpSpPr/>
          <p:nvPr/>
        </p:nvGrpSpPr>
        <p:grpSpPr>
          <a:xfrm>
            <a:off x="666750" y="4267200"/>
            <a:ext cx="5257800" cy="1123950"/>
            <a:chOff x="666750" y="4267200"/>
            <a:chExt cx="5257800" cy="1123950"/>
          </a:xfrm>
        </p:grpSpPr>
        <p:sp>
          <p:nvSpPr>
            <p:cNvPr id="26" name="Rectangle 26"/>
            <p:cNvSpPr/>
            <p:nvPr/>
          </p:nvSpPr>
          <p:spPr>
            <a:xfrm>
              <a:off x="666750" y="4267200"/>
              <a:ext cx="5257800" cy="1123950"/>
            </a:xfrm>
            <a:prstGeom prst="roundRect">
              <a:avLst>
                <a:gd name="adj" fmla="val 11864"/>
              </a:avLst>
            </a:prstGeom>
            <a:solidFill>
              <a:srgbClr val="121C2E"/>
            </a:solidFill>
            <a:ln w="9525">
              <a:solidFill>
                <a:srgbClr val="1E3A5F"/>
              </a:solidFill>
            </a:ln>
          </p:spPr>
        </p:sp>
        <p:sp>
          <p:nvSpPr>
            <p:cNvPr id="27" name="Rectangle 27"/>
            <p:cNvSpPr/>
            <p:nvPr/>
          </p:nvSpPr>
          <p:spPr>
            <a:xfrm>
              <a:off x="666750" y="4267200"/>
              <a:ext cx="38100" cy="1123950"/>
            </a:xfrm>
            <a:prstGeom prst="roundRect">
              <a:avLst>
                <a:gd name="adj" fmla="val 50000"/>
              </a:avLst>
            </a:prstGeom>
            <a:solidFill>
              <a:srgbClr val="FBBF24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963168" y="4546282"/>
              <a:ext cx="112737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标签从哪来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965454" y="4994910"/>
              <a:ext cx="248381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感官阈值 / 电子舌响应 / 受体激活</a:t>
              </a:r>
            </a:p>
          </p:txBody>
        </p:sp>
      </p:grpSp>
      <p:grpSp>
        <p:nvGrpSpPr>
          <p:cNvPr id="35" name="data-negatives"/>
          <p:cNvGrpSpPr/>
          <p:nvPr/>
        </p:nvGrpSpPr>
        <p:grpSpPr>
          <a:xfrm>
            <a:off x="6248400" y="4267200"/>
            <a:ext cx="5276850" cy="1123950"/>
            <a:chOff x="6248400" y="4267200"/>
            <a:chExt cx="5276850" cy="1123950"/>
          </a:xfrm>
        </p:grpSpPr>
        <p:sp>
          <p:nvSpPr>
            <p:cNvPr id="31" name="Rectangle 31"/>
            <p:cNvSpPr/>
            <p:nvPr/>
          </p:nvSpPr>
          <p:spPr>
            <a:xfrm>
              <a:off x="6248400" y="4267200"/>
              <a:ext cx="5276850" cy="1123950"/>
            </a:xfrm>
            <a:prstGeom prst="roundRect">
              <a:avLst>
                <a:gd name="adj" fmla="val 11864"/>
              </a:avLst>
            </a:prstGeom>
            <a:solidFill>
              <a:srgbClr val="121C2E"/>
            </a:solidFill>
            <a:ln w="9525">
              <a:solidFill>
                <a:srgbClr val="1E3A5F"/>
              </a:solidFill>
            </a:ln>
          </p:spPr>
        </p:sp>
        <p:sp>
          <p:nvSpPr>
            <p:cNvPr id="32" name="Rectangle 32"/>
            <p:cNvSpPr/>
            <p:nvPr/>
          </p:nvSpPr>
          <p:spPr>
            <a:xfrm>
              <a:off x="6248400" y="4267200"/>
              <a:ext cx="38100" cy="1123950"/>
            </a:xfrm>
            <a:prstGeom prst="roundRect">
              <a:avLst>
                <a:gd name="adj" fmla="val 50000"/>
              </a:avLst>
            </a:prstGeom>
            <a:solidFill>
              <a:srgbClr val="22D3EE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6544818" y="4546282"/>
              <a:ext cx="157162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负样本要难一点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6547104" y="4994910"/>
              <a:ext cx="195072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随机肽太容易，模型会虚高</a:t>
              </a:r>
            </a:p>
          </p:txBody>
        </p:sp>
      </p:grpSp>
      <p:grpSp>
        <p:nvGrpSpPr>
          <p:cNvPr id="37" name="demo-note"/>
          <p:cNvGrpSpPr/>
          <p:nvPr/>
        </p:nvGrpSpPr>
        <p:grpSpPr>
          <a:xfrm>
            <a:off x="908685" y="5650706"/>
            <a:ext cx="5009601" cy="220028"/>
            <a:chOff x="908685" y="5650706"/>
            <a:chExt cx="5009601" cy="220028"/>
          </a:xfrm>
        </p:grpSpPr>
        <p:sp>
          <p:nvSpPr>
            <p:cNvPr id="36" name="TextBox 36"/>
            <p:cNvSpPr txBox="1"/>
            <p:nvPr/>
          </p:nvSpPr>
          <p:spPr>
            <a:xfrm>
              <a:off x="908685" y="5650706"/>
              <a:ext cx="500960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FBBF24"/>
                  </a:solidFill>
                  <a:latin typeface="+mn-lt"/>
                  <a:ea typeface="+mn-ea"/>
                  <a:cs typeface="+mn-cs"/>
                </a:rPr>
                <a:t>示例：样本量、比例、去冗余阈值（如相似度 90%）都要按自己的库重算。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page-title"/>
          <p:cNvGrpSpPr/>
          <p:nvPr/>
        </p:nvGrpSpPr>
        <p:grpSpPr>
          <a:xfrm>
            <a:off x="649986" y="613410"/>
            <a:ext cx="5364480" cy="1194435"/>
            <a:chOff x="649986" y="613410"/>
            <a:chExt cx="5364480" cy="1194435"/>
          </a:xfrm>
        </p:grpSpPr>
        <p:sp>
          <p:nvSpPr>
            <p:cNvPr id="2" name="TextBox 2"/>
            <p:cNvSpPr txBox="1"/>
            <p:nvPr/>
          </p:nvSpPr>
          <p:spPr>
            <a:xfrm>
              <a:off x="698754" y="613410"/>
              <a:ext cx="136489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spc="225" dirty="0">
                  <a:solidFill>
                    <a:srgbClr val="22D3EE"/>
                  </a:solidFill>
                  <a:latin typeface="+mj-lt"/>
                  <a:ea typeface="+mj-ea"/>
                  <a:cs typeface="+mj-cs"/>
                </a:rPr>
                <a:t>// FEATURES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649986" y="958215"/>
              <a:ext cx="5364480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30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特征工程：先简单，后嵌入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678180" y="1514475"/>
              <a:ext cx="405384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样本少的时候，可解释特征往往赢过复杂模型</a:t>
              </a:r>
            </a:p>
          </p:txBody>
        </p:sp>
      </p:grpSp>
      <p:sp>
        <p:nvSpPr>
          <p:cNvPr id="6" name="page-number"/>
          <p:cNvSpPr txBox="1"/>
          <p:nvPr/>
        </p:nvSpPr>
        <p:spPr>
          <a:xfrm>
            <a:off x="10878160" y="613410"/>
            <a:ext cx="634136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200" dirty="0">
                <a:solidFill>
                  <a:srgbClr val="64748B"/>
                </a:solidFill>
                <a:latin typeface="+mj-lt"/>
                <a:ea typeface="+mj-ea"/>
                <a:cs typeface="+mj-cs"/>
              </a:rPr>
              <a:t>05 / 12</a:t>
            </a:r>
          </a:p>
        </p:txBody>
      </p:sp>
      <p:sp>
        <p:nvSpPr>
          <p:cNvPr id="7" name="Line 7"/>
          <p:cNvSpPr/>
          <p:nvPr/>
        </p:nvSpPr>
        <p:spPr>
          <a:xfrm>
            <a:off x="685800" y="5924550"/>
            <a:ext cx="10820400" cy="9525"/>
          </a:xfrm>
          <a:custGeom>
            <a:avLst/>
            <a:gdLst/>
            <a:ahLst/>
            <a:cxnLst/>
            <a:rect l="l" t="t" r="r" b="b"/>
            <a:pathLst>
              <a:path w="10820400" h="9525">
                <a:moveTo>
                  <a:pt x="0" y="0"/>
                </a:moveTo>
                <a:lnTo>
                  <a:pt x="10820400" y="0"/>
                </a:lnTo>
              </a:path>
            </a:pathLst>
          </a:custGeom>
          <a:noFill/>
          <a:ln w="9525">
            <a:solidFill>
              <a:srgbClr val="17293F"/>
            </a:solidFill>
          </a:ln>
        </p:spPr>
      </p:sp>
      <p:sp>
        <p:nvSpPr>
          <p:cNvPr id="8" name="footer-left"/>
          <p:cNvSpPr txBox="1"/>
          <p:nvPr/>
        </p:nvSpPr>
        <p:spPr>
          <a:xfrm>
            <a:off x="680466" y="6096952"/>
            <a:ext cx="3975564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050" dirty="0">
                <a:solidFill>
                  <a:srgbClr val="64748B"/>
                </a:solidFill>
                <a:latin typeface="+mj-lt"/>
                <a:ea typeface="+mj-ea"/>
                <a:cs typeface="+mj-cs"/>
              </a:rPr>
              <a:t>umami peptides · ppt-master deck · session 01a0aa00</a:t>
            </a:r>
          </a:p>
        </p:txBody>
      </p:sp>
      <p:sp>
        <p:nvSpPr>
          <p:cNvPr id="9" name="footer-right"/>
          <p:cNvSpPr txBox="1"/>
          <p:nvPr/>
        </p:nvSpPr>
        <p:spPr>
          <a:xfrm>
            <a:off x="10268712" y="6096952"/>
            <a:ext cx="124282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1050" dirty="0">
                <a:solidFill>
                  <a:srgbClr val="64748B"/>
                </a:solidFill>
                <a:latin typeface="+mj-lt"/>
                <a:ea typeface="+mj-ea"/>
                <a:cs typeface="+mj-cs"/>
              </a:rPr>
              <a:t>LAPTOP-R77M5D6M</a:t>
            </a:r>
          </a:p>
        </p:txBody>
      </p:sp>
      <p:grpSp>
        <p:nvGrpSpPr>
          <p:cNvPr id="15" name="feature-row-1"/>
          <p:cNvGrpSpPr/>
          <p:nvPr/>
        </p:nvGrpSpPr>
        <p:grpSpPr>
          <a:xfrm>
            <a:off x="666750" y="2000250"/>
            <a:ext cx="10858500" cy="533400"/>
            <a:chOff x="666750" y="2000250"/>
            <a:chExt cx="10858500" cy="533400"/>
          </a:xfrm>
        </p:grpSpPr>
        <p:sp>
          <p:nvSpPr>
            <p:cNvPr id="10" name="Rectangle 10"/>
            <p:cNvSpPr/>
            <p:nvPr/>
          </p:nvSpPr>
          <p:spPr>
            <a:xfrm>
              <a:off x="666750" y="2000250"/>
              <a:ext cx="10858500" cy="533400"/>
            </a:xfrm>
            <a:prstGeom prst="roundRect">
              <a:avLst>
                <a:gd name="adj" fmla="val 17857"/>
              </a:avLst>
            </a:prstGeom>
            <a:solidFill>
              <a:srgbClr val="121C2E"/>
            </a:solidFill>
            <a:ln w="9525">
              <a:solidFill>
                <a:srgbClr val="1E3A5F"/>
              </a:solidFill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06780" y="2181225"/>
              <a:ext cx="38488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b="1" dirty="0">
                  <a:solidFill>
                    <a:srgbClr val="22D3EE"/>
                  </a:solidFill>
                  <a:latin typeface="+mn-lt"/>
                  <a:ea typeface="+mn-ea"/>
                  <a:cs typeface="+mn-cs"/>
                </a:rPr>
                <a:t>AAC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2259711" y="2189321"/>
              <a:ext cx="97028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氨基酸组成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5555742" y="2197418"/>
              <a:ext cx="49531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7DD3FC"/>
                  </a:solidFill>
                  <a:latin typeface="+mj-lt"/>
                  <a:ea typeface="+mj-ea"/>
                  <a:cs typeface="+mj-cs"/>
                </a:rPr>
                <a:t>20 维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7156323" y="2205514"/>
              <a:ext cx="173609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长度归一，最稳的基线</a:t>
              </a:r>
            </a:p>
          </p:txBody>
        </p:sp>
      </p:grpSp>
      <p:grpSp>
        <p:nvGrpSpPr>
          <p:cNvPr id="21" name="feature-row-2"/>
          <p:cNvGrpSpPr/>
          <p:nvPr/>
        </p:nvGrpSpPr>
        <p:grpSpPr>
          <a:xfrm>
            <a:off x="666750" y="2590800"/>
            <a:ext cx="10858500" cy="533400"/>
            <a:chOff x="666750" y="2590800"/>
            <a:chExt cx="10858500" cy="533400"/>
          </a:xfrm>
        </p:grpSpPr>
        <p:sp>
          <p:nvSpPr>
            <p:cNvPr id="16" name="Rectangle 16"/>
            <p:cNvSpPr/>
            <p:nvPr/>
          </p:nvSpPr>
          <p:spPr>
            <a:xfrm>
              <a:off x="666750" y="2590800"/>
              <a:ext cx="10858500" cy="533400"/>
            </a:xfrm>
            <a:prstGeom prst="roundRect">
              <a:avLst>
                <a:gd name="adj" fmla="val 17857"/>
              </a:avLst>
            </a:prstGeom>
            <a:solidFill>
              <a:srgbClr val="0D1626"/>
            </a:solidFill>
            <a:ln w="9525">
              <a:solidFill>
                <a:srgbClr val="1E3A5F"/>
              </a:solidFill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906780" y="2771775"/>
              <a:ext cx="38488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b="1" dirty="0">
                  <a:solidFill>
                    <a:srgbClr val="22D3EE"/>
                  </a:solidFill>
                  <a:latin typeface="+mn-lt"/>
                  <a:ea typeface="+mn-ea"/>
                  <a:cs typeface="+mn-cs"/>
                </a:rPr>
                <a:t>DPC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2259711" y="2779871"/>
              <a:ext cx="77912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二肽组成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5555742" y="2787968"/>
              <a:ext cx="59527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7DD3FC"/>
                  </a:solidFill>
                  <a:latin typeface="+mj-lt"/>
                  <a:ea typeface="+mj-ea"/>
                  <a:cs typeface="+mj-cs"/>
                </a:rPr>
                <a:t>400 维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7156323" y="2796064"/>
              <a:ext cx="139146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捕捉相邻残基偏好</a:t>
              </a:r>
            </a:p>
          </p:txBody>
        </p:sp>
      </p:grpSp>
      <p:grpSp>
        <p:nvGrpSpPr>
          <p:cNvPr id="27" name="feature-row-3"/>
          <p:cNvGrpSpPr/>
          <p:nvPr/>
        </p:nvGrpSpPr>
        <p:grpSpPr>
          <a:xfrm>
            <a:off x="666750" y="3181350"/>
            <a:ext cx="10858500" cy="533400"/>
            <a:chOff x="666750" y="3181350"/>
            <a:chExt cx="10858500" cy="533400"/>
          </a:xfrm>
        </p:grpSpPr>
        <p:sp>
          <p:nvSpPr>
            <p:cNvPr id="22" name="Rectangle 22"/>
            <p:cNvSpPr/>
            <p:nvPr/>
          </p:nvSpPr>
          <p:spPr>
            <a:xfrm>
              <a:off x="666750" y="3181350"/>
              <a:ext cx="10858500" cy="533400"/>
            </a:xfrm>
            <a:prstGeom prst="roundRect">
              <a:avLst>
                <a:gd name="adj" fmla="val 17857"/>
              </a:avLst>
            </a:prstGeom>
            <a:solidFill>
              <a:srgbClr val="121C2E"/>
            </a:solidFill>
            <a:ln w="9525">
              <a:solidFill>
                <a:srgbClr val="1E3A5F"/>
              </a:solidFill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906780" y="3362325"/>
              <a:ext cx="38488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b="1" dirty="0">
                  <a:solidFill>
                    <a:srgbClr val="60A5FA"/>
                  </a:solidFill>
                  <a:latin typeface="+mn-lt"/>
                  <a:ea typeface="+mn-ea"/>
                  <a:cs typeface="+mn-cs"/>
                </a:rPr>
                <a:t>CTD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2259711" y="3370421"/>
              <a:ext cx="160110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组成 / 转换 / 分布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5555742" y="3378518"/>
              <a:ext cx="49531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7DD3FC"/>
                  </a:solidFill>
                  <a:latin typeface="+mj-lt"/>
                  <a:ea typeface="+mj-ea"/>
                  <a:cs typeface="+mj-cs"/>
                </a:rPr>
                <a:t>21 维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7156323" y="3386614"/>
              <a:ext cx="15637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理化性质的分组统计</a:t>
              </a:r>
            </a:p>
          </p:txBody>
        </p:sp>
      </p:grpSp>
      <p:grpSp>
        <p:nvGrpSpPr>
          <p:cNvPr id="33" name="feature-row-4"/>
          <p:cNvGrpSpPr/>
          <p:nvPr/>
        </p:nvGrpSpPr>
        <p:grpSpPr>
          <a:xfrm>
            <a:off x="666750" y="3771900"/>
            <a:ext cx="10858500" cy="533400"/>
            <a:chOff x="666750" y="3771900"/>
            <a:chExt cx="10858500" cy="533400"/>
          </a:xfrm>
        </p:grpSpPr>
        <p:sp>
          <p:nvSpPr>
            <p:cNvPr id="28" name="Rectangle 28"/>
            <p:cNvSpPr/>
            <p:nvPr/>
          </p:nvSpPr>
          <p:spPr>
            <a:xfrm>
              <a:off x="666750" y="3771900"/>
              <a:ext cx="10858500" cy="533400"/>
            </a:xfrm>
            <a:prstGeom prst="roundRect">
              <a:avLst>
                <a:gd name="adj" fmla="val 17857"/>
              </a:avLst>
            </a:prstGeom>
            <a:solidFill>
              <a:srgbClr val="0D1626"/>
            </a:solidFill>
            <a:ln w="9525">
              <a:solidFill>
                <a:srgbClr val="1E3A5F"/>
              </a:solidFill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906780" y="3952875"/>
              <a:ext cx="4191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60A5FA"/>
                  </a:solidFill>
                  <a:latin typeface="+mn-lt"/>
                  <a:ea typeface="+mn-ea"/>
                  <a:cs typeface="+mn-cs"/>
                </a:rPr>
                <a:t>理化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2259711" y="3960971"/>
              <a:ext cx="219163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疏水性 · 电荷 · pI · 体积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5555742" y="3969068"/>
              <a:ext cx="3953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7DD3FC"/>
                  </a:solidFill>
                  <a:latin typeface="+mj-lt"/>
                  <a:ea typeface="+mj-ea"/>
                  <a:cs typeface="+mj-cs"/>
                </a:rPr>
                <a:t>8 维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7156323" y="3977164"/>
              <a:ext cx="160214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GRAVY 等经典描述符</a:t>
              </a:r>
            </a:p>
          </p:txBody>
        </p:sp>
      </p:grpSp>
      <p:grpSp>
        <p:nvGrpSpPr>
          <p:cNvPr id="39" name="feature-row-5"/>
          <p:cNvGrpSpPr/>
          <p:nvPr/>
        </p:nvGrpSpPr>
        <p:grpSpPr>
          <a:xfrm>
            <a:off x="666750" y="4362450"/>
            <a:ext cx="10858500" cy="533400"/>
            <a:chOff x="666750" y="4362450"/>
            <a:chExt cx="10858500" cy="533400"/>
          </a:xfrm>
        </p:grpSpPr>
        <p:sp>
          <p:nvSpPr>
            <p:cNvPr id="34" name="Rectangle 34"/>
            <p:cNvSpPr/>
            <p:nvPr/>
          </p:nvSpPr>
          <p:spPr>
            <a:xfrm>
              <a:off x="666750" y="4362450"/>
              <a:ext cx="10858500" cy="533400"/>
            </a:xfrm>
            <a:prstGeom prst="roundRect">
              <a:avLst>
                <a:gd name="adj" fmla="val 17857"/>
              </a:avLst>
            </a:prstGeom>
            <a:solidFill>
              <a:srgbClr val="121C2E"/>
            </a:solidFill>
            <a:ln w="9525">
              <a:solidFill>
                <a:srgbClr val="1E3A5F"/>
              </a:solidFill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906780" y="4543425"/>
              <a:ext cx="4191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A3E635"/>
                  </a:solidFill>
                  <a:latin typeface="+mn-lt"/>
                  <a:ea typeface="+mn-ea"/>
                  <a:cs typeface="+mn-cs"/>
                </a:rPr>
                <a:t>嵌入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2259711" y="4551521"/>
              <a:ext cx="154376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蛋白语言模型向量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5555742" y="4559618"/>
              <a:ext cx="69523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7DD3FC"/>
                  </a:solidFill>
                  <a:latin typeface="+mj-lt"/>
                  <a:ea typeface="+mj-ea"/>
                  <a:cs typeface="+mj-cs"/>
                </a:rPr>
                <a:t>320+ 维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7156323" y="4567714"/>
              <a:ext cx="176193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长肽 / 数据多时才划算</a:t>
              </a:r>
            </a:p>
          </p:txBody>
        </p:sp>
      </p:grpSp>
      <p:grpSp>
        <p:nvGrpSpPr>
          <p:cNvPr id="43" name="feature-takeaway"/>
          <p:cNvGrpSpPr/>
          <p:nvPr/>
        </p:nvGrpSpPr>
        <p:grpSpPr>
          <a:xfrm>
            <a:off x="666750" y="5219700"/>
            <a:ext cx="10839450" cy="628650"/>
            <a:chOff x="666750" y="5219700"/>
            <a:chExt cx="10839450" cy="628650"/>
          </a:xfrm>
        </p:grpSpPr>
        <p:sp>
          <p:nvSpPr>
            <p:cNvPr id="40" name="Rectangle 40"/>
            <p:cNvSpPr/>
            <p:nvPr/>
          </p:nvSpPr>
          <p:spPr>
            <a:xfrm>
              <a:off x="666750" y="5219700"/>
              <a:ext cx="10839450" cy="628650"/>
            </a:xfrm>
            <a:prstGeom prst="roundRect">
              <a:avLst>
                <a:gd name="adj" fmla="val 18182"/>
              </a:avLst>
            </a:prstGeom>
            <a:solidFill>
              <a:srgbClr val="0D1626"/>
            </a:solidFill>
            <a:ln w="9525">
              <a:solidFill>
                <a:srgbClr val="1E3A5F"/>
              </a:solidFill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906780" y="5362575"/>
              <a:ext cx="656925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顺序：先 AAC + 理化做基线 → 再看 DPC / CTD 的增益 → 最后才上嵌入。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909066" y="5639752"/>
              <a:ext cx="312039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FBBF24"/>
                  </a:solidFill>
                  <a:latin typeface="+mj-lt"/>
                  <a:ea typeface="+mj-ea"/>
                  <a:cs typeface="+mj-cs"/>
                </a:rPr>
                <a:t>示例：维度数字是常见设置，按自己的实现替换。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page-title"/>
          <p:cNvGrpSpPr/>
          <p:nvPr/>
        </p:nvGrpSpPr>
        <p:grpSpPr>
          <a:xfrm>
            <a:off x="649986" y="613410"/>
            <a:ext cx="3143250" cy="1194435"/>
            <a:chOff x="649986" y="613410"/>
            <a:chExt cx="3143250" cy="1194435"/>
          </a:xfrm>
        </p:grpSpPr>
        <p:sp>
          <p:nvSpPr>
            <p:cNvPr id="2" name="TextBox 2"/>
            <p:cNvSpPr txBox="1"/>
            <p:nvPr/>
          </p:nvSpPr>
          <p:spPr>
            <a:xfrm>
              <a:off x="698754" y="613410"/>
              <a:ext cx="111313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spc="225" dirty="0">
                  <a:solidFill>
                    <a:srgbClr val="22D3EE"/>
                  </a:solidFill>
                  <a:latin typeface="+mj-lt"/>
                  <a:ea typeface="+mj-ea"/>
                  <a:cs typeface="+mj-cs"/>
                </a:rPr>
                <a:t>// MODELS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649986" y="958215"/>
              <a:ext cx="3143250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30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模型家族与取舍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678180" y="1514475"/>
              <a:ext cx="26403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四类做法，从可解释到端到端</a:t>
              </a:r>
            </a:p>
          </p:txBody>
        </p:sp>
      </p:grpSp>
      <p:sp>
        <p:nvSpPr>
          <p:cNvPr id="6" name="page-number"/>
          <p:cNvSpPr txBox="1"/>
          <p:nvPr/>
        </p:nvSpPr>
        <p:spPr>
          <a:xfrm>
            <a:off x="10878160" y="613410"/>
            <a:ext cx="634136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200" dirty="0">
                <a:solidFill>
                  <a:srgbClr val="64748B"/>
                </a:solidFill>
                <a:latin typeface="+mj-lt"/>
                <a:ea typeface="+mj-ea"/>
                <a:cs typeface="+mj-cs"/>
              </a:rPr>
              <a:t>06 / 12</a:t>
            </a:r>
          </a:p>
        </p:txBody>
      </p:sp>
      <p:sp>
        <p:nvSpPr>
          <p:cNvPr id="7" name="Line 7"/>
          <p:cNvSpPr/>
          <p:nvPr/>
        </p:nvSpPr>
        <p:spPr>
          <a:xfrm>
            <a:off x="685800" y="5924550"/>
            <a:ext cx="10820400" cy="9525"/>
          </a:xfrm>
          <a:custGeom>
            <a:avLst/>
            <a:gdLst/>
            <a:ahLst/>
            <a:cxnLst/>
            <a:rect l="l" t="t" r="r" b="b"/>
            <a:pathLst>
              <a:path w="10820400" h="9525">
                <a:moveTo>
                  <a:pt x="0" y="0"/>
                </a:moveTo>
                <a:lnTo>
                  <a:pt x="10820400" y="0"/>
                </a:lnTo>
              </a:path>
            </a:pathLst>
          </a:custGeom>
          <a:noFill/>
          <a:ln w="9525">
            <a:solidFill>
              <a:srgbClr val="17293F"/>
            </a:solidFill>
          </a:ln>
        </p:spPr>
      </p:sp>
      <p:sp>
        <p:nvSpPr>
          <p:cNvPr id="8" name="footer-left"/>
          <p:cNvSpPr txBox="1"/>
          <p:nvPr/>
        </p:nvSpPr>
        <p:spPr>
          <a:xfrm>
            <a:off x="680466" y="6096952"/>
            <a:ext cx="3975564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050" dirty="0">
                <a:solidFill>
                  <a:srgbClr val="64748B"/>
                </a:solidFill>
                <a:latin typeface="+mj-lt"/>
                <a:ea typeface="+mj-ea"/>
                <a:cs typeface="+mj-cs"/>
              </a:rPr>
              <a:t>umami peptides · ppt-master deck · session 01a0aa00</a:t>
            </a:r>
          </a:p>
        </p:txBody>
      </p:sp>
      <p:sp>
        <p:nvSpPr>
          <p:cNvPr id="9" name="footer-right"/>
          <p:cNvSpPr txBox="1"/>
          <p:nvPr/>
        </p:nvSpPr>
        <p:spPr>
          <a:xfrm>
            <a:off x="10268712" y="6096952"/>
            <a:ext cx="124282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1050" dirty="0">
                <a:solidFill>
                  <a:srgbClr val="64748B"/>
                </a:solidFill>
                <a:latin typeface="+mj-lt"/>
                <a:ea typeface="+mj-ea"/>
                <a:cs typeface="+mj-cs"/>
              </a:rPr>
              <a:t>LAPTOP-R77M5D6M</a:t>
            </a:r>
          </a:p>
        </p:txBody>
      </p:sp>
      <p:grpSp>
        <p:nvGrpSpPr>
          <p:cNvPr id="16" name="model-classic"/>
          <p:cNvGrpSpPr/>
          <p:nvPr/>
        </p:nvGrpSpPr>
        <p:grpSpPr>
          <a:xfrm>
            <a:off x="666750" y="2057400"/>
            <a:ext cx="2590800" cy="2857500"/>
            <a:chOff x="666750" y="2057400"/>
            <a:chExt cx="2590800" cy="2857500"/>
          </a:xfrm>
        </p:grpSpPr>
        <p:sp>
          <p:nvSpPr>
            <p:cNvPr id="10" name="Rectangle 10"/>
            <p:cNvSpPr/>
            <p:nvPr/>
          </p:nvSpPr>
          <p:spPr>
            <a:xfrm>
              <a:off x="666750" y="2057400"/>
              <a:ext cx="2590800" cy="2857500"/>
            </a:xfrm>
            <a:prstGeom prst="roundRect">
              <a:avLst>
                <a:gd name="adj" fmla="val 5147"/>
              </a:avLst>
            </a:prstGeom>
            <a:solidFill>
              <a:srgbClr val="121C2E"/>
            </a:solidFill>
            <a:ln w="9525">
              <a:solidFill>
                <a:srgbClr val="1E3A5F"/>
              </a:solidFill>
            </a:ln>
          </p:spPr>
        </p:sp>
        <p:sp>
          <p:nvSpPr>
            <p:cNvPr id="11" name="Rectangle 11"/>
            <p:cNvSpPr/>
            <p:nvPr/>
          </p:nvSpPr>
          <p:spPr>
            <a:xfrm>
              <a:off x="666750" y="2057400"/>
              <a:ext cx="38100" cy="2857500"/>
            </a:xfrm>
            <a:prstGeom prst="roundRect">
              <a:avLst>
                <a:gd name="adj" fmla="val 50000"/>
              </a:avLst>
            </a:prstGeom>
            <a:solidFill>
              <a:srgbClr val="22D3EE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963168" y="2336482"/>
              <a:ext cx="102713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65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SVM / RF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965454" y="2785110"/>
              <a:ext cx="130454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样本几百条就够用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65454" y="3128010"/>
              <a:ext cx="114300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可看特征重要度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965454" y="3470910"/>
              <a:ext cx="81991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调参成本低</a:t>
              </a:r>
            </a:p>
          </p:txBody>
        </p:sp>
      </p:grpSp>
      <p:grpSp>
        <p:nvGrpSpPr>
          <p:cNvPr id="23" name="model-boost"/>
          <p:cNvGrpSpPr/>
          <p:nvPr/>
        </p:nvGrpSpPr>
        <p:grpSpPr>
          <a:xfrm>
            <a:off x="3409950" y="2057400"/>
            <a:ext cx="2590800" cy="2857500"/>
            <a:chOff x="3409950" y="2057400"/>
            <a:chExt cx="2590800" cy="2857500"/>
          </a:xfrm>
        </p:grpSpPr>
        <p:sp>
          <p:nvSpPr>
            <p:cNvPr id="17" name="Rectangle 17"/>
            <p:cNvSpPr/>
            <p:nvPr/>
          </p:nvSpPr>
          <p:spPr>
            <a:xfrm>
              <a:off x="3409950" y="2057400"/>
              <a:ext cx="2590800" cy="2857500"/>
            </a:xfrm>
            <a:prstGeom prst="roundRect">
              <a:avLst>
                <a:gd name="adj" fmla="val 5147"/>
              </a:avLst>
            </a:prstGeom>
            <a:solidFill>
              <a:srgbClr val="121C2E"/>
            </a:solidFill>
            <a:ln w="9525">
              <a:solidFill>
                <a:srgbClr val="1E3A5F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3409950" y="2057400"/>
              <a:ext cx="38100" cy="2857500"/>
            </a:xfrm>
            <a:prstGeom prst="roundRect">
              <a:avLst>
                <a:gd name="adj" fmla="val 50000"/>
              </a:avLst>
            </a:prstGeom>
            <a:solidFill>
              <a:srgbClr val="A3E635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3706368" y="2336482"/>
              <a:ext cx="93647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65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XGBoost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3708654" y="2785110"/>
              <a:ext cx="146608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表格特征上的强基线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3708654" y="3128010"/>
              <a:ext cx="114300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处理缺失值方便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708654" y="3470910"/>
              <a:ext cx="98145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需要防过拟合</a:t>
              </a:r>
            </a:p>
          </p:txBody>
        </p:sp>
      </p:grpSp>
      <p:grpSp>
        <p:nvGrpSpPr>
          <p:cNvPr id="30" name="model-deep"/>
          <p:cNvGrpSpPr/>
          <p:nvPr/>
        </p:nvGrpSpPr>
        <p:grpSpPr>
          <a:xfrm>
            <a:off x="6153150" y="2057400"/>
            <a:ext cx="2590800" cy="2857500"/>
            <a:chOff x="6153150" y="2057400"/>
            <a:chExt cx="2590800" cy="2857500"/>
          </a:xfrm>
        </p:grpSpPr>
        <p:sp>
          <p:nvSpPr>
            <p:cNvPr id="24" name="Rectangle 24"/>
            <p:cNvSpPr/>
            <p:nvPr/>
          </p:nvSpPr>
          <p:spPr>
            <a:xfrm>
              <a:off x="6153150" y="2057400"/>
              <a:ext cx="2590800" cy="2857500"/>
            </a:xfrm>
            <a:prstGeom prst="roundRect">
              <a:avLst>
                <a:gd name="adj" fmla="val 5147"/>
              </a:avLst>
            </a:prstGeom>
            <a:solidFill>
              <a:srgbClr val="121C2E"/>
            </a:solidFill>
            <a:ln w="9525">
              <a:solidFill>
                <a:srgbClr val="1E3A5F"/>
              </a:solidFill>
            </a:ln>
          </p:spPr>
        </p:sp>
        <p:sp>
          <p:nvSpPr>
            <p:cNvPr id="25" name="Rectangle 25"/>
            <p:cNvSpPr/>
            <p:nvPr/>
          </p:nvSpPr>
          <p:spPr>
            <a:xfrm>
              <a:off x="6153150" y="2057400"/>
              <a:ext cx="38100" cy="2857500"/>
            </a:xfrm>
            <a:prstGeom prst="roundRect">
              <a:avLst>
                <a:gd name="adj" fmla="val 50000"/>
              </a:avLst>
            </a:prstGeom>
            <a:solidFill>
              <a:srgbClr val="60A5FA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449568" y="2336482"/>
              <a:ext cx="1298204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65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CNN / LSTM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6451854" y="2785110"/>
              <a:ext cx="81991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直接吃序列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6451854" y="3128010"/>
              <a:ext cx="130454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数据少容易过拟合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451854" y="3470910"/>
              <a:ext cx="114300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要配增强与正则</a:t>
              </a:r>
            </a:p>
          </p:txBody>
        </p:sp>
      </p:grpSp>
      <p:grpSp>
        <p:nvGrpSpPr>
          <p:cNvPr id="37" name="model-embed"/>
          <p:cNvGrpSpPr/>
          <p:nvPr/>
        </p:nvGrpSpPr>
        <p:grpSpPr>
          <a:xfrm>
            <a:off x="8896350" y="2057400"/>
            <a:ext cx="2609850" cy="2857500"/>
            <a:chOff x="8896350" y="2057400"/>
            <a:chExt cx="2609850" cy="2857500"/>
          </a:xfrm>
        </p:grpSpPr>
        <p:sp>
          <p:nvSpPr>
            <p:cNvPr id="31" name="Rectangle 31"/>
            <p:cNvSpPr/>
            <p:nvPr/>
          </p:nvSpPr>
          <p:spPr>
            <a:xfrm>
              <a:off x="8896350" y="2057400"/>
              <a:ext cx="2609850" cy="2857500"/>
            </a:xfrm>
            <a:prstGeom prst="roundRect">
              <a:avLst>
                <a:gd name="adj" fmla="val 5109"/>
              </a:avLst>
            </a:prstGeom>
            <a:solidFill>
              <a:srgbClr val="121C2E"/>
            </a:solidFill>
            <a:ln w="9525">
              <a:solidFill>
                <a:srgbClr val="1E3A5F"/>
              </a:solidFill>
            </a:ln>
          </p:spPr>
        </p:sp>
        <p:sp>
          <p:nvSpPr>
            <p:cNvPr id="32" name="Rectangle 32"/>
            <p:cNvSpPr/>
            <p:nvPr/>
          </p:nvSpPr>
          <p:spPr>
            <a:xfrm>
              <a:off x="8896350" y="2057400"/>
              <a:ext cx="38100" cy="2857500"/>
            </a:xfrm>
            <a:prstGeom prst="roundRect">
              <a:avLst>
                <a:gd name="adj" fmla="val 50000"/>
              </a:avLst>
            </a:prstGeom>
            <a:solidFill>
              <a:srgbClr val="FBBF24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9192768" y="2336482"/>
              <a:ext cx="112737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预训练微调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195054" y="2785110"/>
              <a:ext cx="149032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蛋白语言模型 + 头部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9195054" y="3128010"/>
              <a:ext cx="132877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算力 / 显存要求高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9195054" y="3470910"/>
              <a:ext cx="130454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小数据上未必更好</a:t>
              </a:r>
            </a:p>
          </p:txBody>
        </p:sp>
      </p:grpSp>
      <p:grpSp>
        <p:nvGrpSpPr>
          <p:cNvPr id="41" name="models-imbalance"/>
          <p:cNvGrpSpPr/>
          <p:nvPr/>
        </p:nvGrpSpPr>
        <p:grpSpPr>
          <a:xfrm>
            <a:off x="666750" y="5143500"/>
            <a:ext cx="10839450" cy="704850"/>
            <a:chOff x="666750" y="5143500"/>
            <a:chExt cx="10839450" cy="704850"/>
          </a:xfrm>
        </p:grpSpPr>
        <p:sp>
          <p:nvSpPr>
            <p:cNvPr id="38" name="Rectangle 38"/>
            <p:cNvSpPr/>
            <p:nvPr/>
          </p:nvSpPr>
          <p:spPr>
            <a:xfrm>
              <a:off x="666750" y="5143500"/>
              <a:ext cx="10839450" cy="704850"/>
            </a:xfrm>
            <a:prstGeom prst="roundRect">
              <a:avLst>
                <a:gd name="adj" fmla="val 16216"/>
              </a:avLst>
            </a:prstGeom>
            <a:solidFill>
              <a:srgbClr val="0D1626"/>
            </a:solidFill>
            <a:ln w="9525">
              <a:solidFill>
                <a:srgbClr val="1E3A5F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906780" y="5305425"/>
              <a:ext cx="8218141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类别不平衡：正样本通常远少于负样本 → 类别权重 / 重采样 / 阈值调优，不要只盯准确率。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909066" y="5620702"/>
              <a:ext cx="297903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FBBF24"/>
                  </a:solidFill>
                  <a:latin typeface="+mj-lt"/>
                  <a:ea typeface="+mj-ea"/>
                  <a:cs typeface="+mj-cs"/>
                </a:rPr>
                <a:t>示例：常见做法，不构成某篇论文的复现结论。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page-title"/>
          <p:cNvGrpSpPr/>
          <p:nvPr/>
        </p:nvGrpSpPr>
        <p:grpSpPr>
          <a:xfrm>
            <a:off x="649986" y="613410"/>
            <a:ext cx="3587496" cy="1194435"/>
            <a:chOff x="649986" y="613410"/>
            <a:chExt cx="3587496" cy="1194435"/>
          </a:xfrm>
        </p:grpSpPr>
        <p:sp>
          <p:nvSpPr>
            <p:cNvPr id="2" name="TextBox 2"/>
            <p:cNvSpPr txBox="1"/>
            <p:nvPr/>
          </p:nvSpPr>
          <p:spPr>
            <a:xfrm>
              <a:off x="698754" y="613410"/>
              <a:ext cx="86136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spc="225" dirty="0">
                  <a:solidFill>
                    <a:srgbClr val="22D3EE"/>
                  </a:solidFill>
                  <a:latin typeface="+mj-lt"/>
                  <a:ea typeface="+mj-ea"/>
                  <a:cs typeface="+mj-cs"/>
                </a:rPr>
                <a:t>// EVAL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649986" y="958215"/>
              <a:ext cx="3587496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30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评估：指标与陷阱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678180" y="1514475"/>
              <a:ext cx="34480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模型的分数只有在划分干净时才算证据</a:t>
              </a:r>
            </a:p>
          </p:txBody>
        </p:sp>
      </p:grpSp>
      <p:sp>
        <p:nvSpPr>
          <p:cNvPr id="6" name="page-number"/>
          <p:cNvSpPr txBox="1"/>
          <p:nvPr/>
        </p:nvSpPr>
        <p:spPr>
          <a:xfrm>
            <a:off x="10878160" y="613410"/>
            <a:ext cx="634136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200" dirty="0">
                <a:solidFill>
                  <a:srgbClr val="64748B"/>
                </a:solidFill>
                <a:latin typeface="+mj-lt"/>
                <a:ea typeface="+mj-ea"/>
                <a:cs typeface="+mj-cs"/>
              </a:rPr>
              <a:t>07 / 12</a:t>
            </a:r>
          </a:p>
        </p:txBody>
      </p:sp>
      <p:sp>
        <p:nvSpPr>
          <p:cNvPr id="7" name="Line 7"/>
          <p:cNvSpPr/>
          <p:nvPr/>
        </p:nvSpPr>
        <p:spPr>
          <a:xfrm>
            <a:off x="685800" y="5924550"/>
            <a:ext cx="10820400" cy="9525"/>
          </a:xfrm>
          <a:custGeom>
            <a:avLst/>
            <a:gdLst/>
            <a:ahLst/>
            <a:cxnLst/>
            <a:rect l="l" t="t" r="r" b="b"/>
            <a:pathLst>
              <a:path w="10820400" h="9525">
                <a:moveTo>
                  <a:pt x="0" y="0"/>
                </a:moveTo>
                <a:lnTo>
                  <a:pt x="10820400" y="0"/>
                </a:lnTo>
              </a:path>
            </a:pathLst>
          </a:custGeom>
          <a:noFill/>
          <a:ln w="9525">
            <a:solidFill>
              <a:srgbClr val="17293F"/>
            </a:solidFill>
          </a:ln>
        </p:spPr>
      </p:sp>
      <p:sp>
        <p:nvSpPr>
          <p:cNvPr id="8" name="footer-left"/>
          <p:cNvSpPr txBox="1"/>
          <p:nvPr/>
        </p:nvSpPr>
        <p:spPr>
          <a:xfrm>
            <a:off x="680466" y="6096952"/>
            <a:ext cx="3975564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050" dirty="0">
                <a:solidFill>
                  <a:srgbClr val="64748B"/>
                </a:solidFill>
                <a:latin typeface="+mj-lt"/>
                <a:ea typeface="+mj-ea"/>
                <a:cs typeface="+mj-cs"/>
              </a:rPr>
              <a:t>umami peptides · ppt-master deck · session 01a0aa00</a:t>
            </a:r>
          </a:p>
        </p:txBody>
      </p:sp>
      <p:sp>
        <p:nvSpPr>
          <p:cNvPr id="9" name="footer-right"/>
          <p:cNvSpPr txBox="1"/>
          <p:nvPr/>
        </p:nvSpPr>
        <p:spPr>
          <a:xfrm>
            <a:off x="10268712" y="6096952"/>
            <a:ext cx="124282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1050" dirty="0">
                <a:solidFill>
                  <a:srgbClr val="64748B"/>
                </a:solidFill>
                <a:latin typeface="+mj-lt"/>
                <a:ea typeface="+mj-ea"/>
                <a:cs typeface="+mj-cs"/>
              </a:rPr>
              <a:t>LAPTOP-R77M5D6M</a:t>
            </a:r>
          </a:p>
        </p:txBody>
      </p:sp>
      <p:grpSp>
        <p:nvGrpSpPr>
          <p:cNvPr id="14" name="eval-row-1"/>
          <p:cNvGrpSpPr/>
          <p:nvPr/>
        </p:nvGrpSpPr>
        <p:grpSpPr>
          <a:xfrm>
            <a:off x="666750" y="2000250"/>
            <a:ext cx="10858500" cy="495300"/>
            <a:chOff x="666750" y="2000250"/>
            <a:chExt cx="10858500" cy="495300"/>
          </a:xfrm>
        </p:grpSpPr>
        <p:sp>
          <p:nvSpPr>
            <p:cNvPr id="10" name="Rectangle 10"/>
            <p:cNvSpPr/>
            <p:nvPr/>
          </p:nvSpPr>
          <p:spPr>
            <a:xfrm>
              <a:off x="666750" y="2000250"/>
              <a:ext cx="10858500" cy="495300"/>
            </a:xfrm>
            <a:prstGeom prst="roundRect">
              <a:avLst>
                <a:gd name="adj" fmla="val 19231"/>
              </a:avLst>
            </a:prstGeom>
            <a:solidFill>
              <a:srgbClr val="121C2E"/>
            </a:solidFill>
            <a:ln w="9525">
              <a:solidFill>
                <a:srgbClr val="1E3A5F"/>
              </a:solidFill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06780" y="2162175"/>
              <a:ext cx="38488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b="1" dirty="0">
                  <a:solidFill>
                    <a:srgbClr val="22D3EE"/>
                  </a:solidFill>
                  <a:latin typeface="+mn-lt"/>
                  <a:ea typeface="+mn-ea"/>
                  <a:cs typeface="+mn-cs"/>
                </a:rPr>
                <a:t>AUC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3041142" y="2178368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整体排序能力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5479923" y="2186464"/>
              <a:ext cx="259765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对不平衡不敏感，但掩盖阈值问题</a:t>
              </a:r>
            </a:p>
          </p:txBody>
        </p:sp>
      </p:grpSp>
      <p:grpSp>
        <p:nvGrpSpPr>
          <p:cNvPr id="19" name="eval-row-2"/>
          <p:cNvGrpSpPr/>
          <p:nvPr/>
        </p:nvGrpSpPr>
        <p:grpSpPr>
          <a:xfrm>
            <a:off x="666750" y="2552700"/>
            <a:ext cx="10858500" cy="495300"/>
            <a:chOff x="666750" y="2552700"/>
            <a:chExt cx="10858500" cy="495300"/>
          </a:xfrm>
        </p:grpSpPr>
        <p:sp>
          <p:nvSpPr>
            <p:cNvPr id="15" name="Rectangle 15"/>
            <p:cNvSpPr/>
            <p:nvPr/>
          </p:nvSpPr>
          <p:spPr>
            <a:xfrm>
              <a:off x="666750" y="2552700"/>
              <a:ext cx="10858500" cy="495300"/>
            </a:xfrm>
            <a:prstGeom prst="roundRect">
              <a:avLst>
                <a:gd name="adj" fmla="val 19231"/>
              </a:avLst>
            </a:prstGeom>
            <a:solidFill>
              <a:srgbClr val="0D1626"/>
            </a:solidFill>
            <a:ln w="9525">
              <a:solidFill>
                <a:srgbClr val="1E3A5F"/>
              </a:solidFill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06780" y="2714625"/>
              <a:ext cx="75453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b="1" dirty="0">
                  <a:solidFill>
                    <a:srgbClr val="A3E635"/>
                  </a:solidFill>
                  <a:latin typeface="+mn-lt"/>
                  <a:ea typeface="+mn-ea"/>
                  <a:cs typeface="+mn-cs"/>
                </a:rPr>
                <a:t>PR-AUC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3041142" y="2730818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正类识别能力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5479923" y="2738914"/>
              <a:ext cx="173609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正样本稀少时更该看它</a:t>
              </a:r>
            </a:p>
          </p:txBody>
        </p:sp>
      </p:grpSp>
      <p:grpSp>
        <p:nvGrpSpPr>
          <p:cNvPr id="24" name="eval-row-3"/>
          <p:cNvGrpSpPr/>
          <p:nvPr/>
        </p:nvGrpSpPr>
        <p:grpSpPr>
          <a:xfrm>
            <a:off x="666750" y="3105150"/>
            <a:ext cx="10858500" cy="495300"/>
            <a:chOff x="666750" y="3105150"/>
            <a:chExt cx="10858500" cy="495300"/>
          </a:xfrm>
        </p:grpSpPr>
        <p:sp>
          <p:nvSpPr>
            <p:cNvPr id="20" name="Rectangle 20"/>
            <p:cNvSpPr/>
            <p:nvPr/>
          </p:nvSpPr>
          <p:spPr>
            <a:xfrm>
              <a:off x="666750" y="3105150"/>
              <a:ext cx="10858500" cy="495300"/>
            </a:xfrm>
            <a:prstGeom prst="roundRect">
              <a:avLst>
                <a:gd name="adj" fmla="val 19231"/>
              </a:avLst>
            </a:prstGeom>
            <a:solidFill>
              <a:srgbClr val="121C2E"/>
            </a:solidFill>
            <a:ln w="9525">
              <a:solidFill>
                <a:srgbClr val="1E3A5F"/>
              </a:solidFill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906780" y="3267075"/>
              <a:ext cx="42969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b="1" dirty="0">
                  <a:solidFill>
                    <a:srgbClr val="60A5FA"/>
                  </a:solidFill>
                  <a:latin typeface="+mn-lt"/>
                  <a:ea typeface="+mn-ea"/>
                  <a:cs typeface="+mn-cs"/>
                </a:rPr>
                <a:t>MCC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041142" y="3283268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综合混淆矩阵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5479923" y="3291364"/>
              <a:ext cx="190840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比准确率稳，适合不平衡</a:t>
              </a:r>
            </a:p>
          </p:txBody>
        </p:sp>
      </p:grpSp>
      <p:grpSp>
        <p:nvGrpSpPr>
          <p:cNvPr id="29" name="eval-row-4"/>
          <p:cNvGrpSpPr/>
          <p:nvPr/>
        </p:nvGrpSpPr>
        <p:grpSpPr>
          <a:xfrm>
            <a:off x="666750" y="3657600"/>
            <a:ext cx="10858500" cy="495300"/>
            <a:chOff x="666750" y="3657600"/>
            <a:chExt cx="10858500" cy="495300"/>
          </a:xfrm>
        </p:grpSpPr>
        <p:sp>
          <p:nvSpPr>
            <p:cNvPr id="25" name="Rectangle 25"/>
            <p:cNvSpPr/>
            <p:nvPr/>
          </p:nvSpPr>
          <p:spPr>
            <a:xfrm>
              <a:off x="666750" y="3657600"/>
              <a:ext cx="10858500" cy="495300"/>
            </a:xfrm>
            <a:prstGeom prst="roundRect">
              <a:avLst>
                <a:gd name="adj" fmla="val 19231"/>
              </a:avLst>
            </a:prstGeom>
            <a:solidFill>
              <a:srgbClr val="0D1626"/>
            </a:solidFill>
            <a:ln w="9525">
              <a:solidFill>
                <a:srgbClr val="1E3A5F"/>
              </a:solidFill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906780" y="3819525"/>
              <a:ext cx="1432131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FBBF24"/>
                  </a:solidFill>
                  <a:latin typeface="+mn-lt"/>
                  <a:ea typeface="+mn-ea"/>
                  <a:cs typeface="+mn-cs"/>
                </a:rPr>
                <a:t>F1 / 召回@前 N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3041142" y="3835718"/>
              <a:ext cx="55892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筛选用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5479923" y="3843814"/>
              <a:ext cx="15637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决定进湿实验的数量</a:t>
              </a:r>
            </a:p>
          </p:txBody>
        </p:sp>
      </p:grpSp>
      <p:grpSp>
        <p:nvGrpSpPr>
          <p:cNvPr id="34" name="eval-traps"/>
          <p:cNvGrpSpPr/>
          <p:nvPr/>
        </p:nvGrpSpPr>
        <p:grpSpPr>
          <a:xfrm>
            <a:off x="666750" y="4362450"/>
            <a:ext cx="5257800" cy="1047750"/>
            <a:chOff x="666750" y="4362450"/>
            <a:chExt cx="5257800" cy="1047750"/>
          </a:xfrm>
        </p:grpSpPr>
        <p:sp>
          <p:nvSpPr>
            <p:cNvPr id="30" name="Rectangle 30"/>
            <p:cNvSpPr/>
            <p:nvPr/>
          </p:nvSpPr>
          <p:spPr>
            <a:xfrm>
              <a:off x="666750" y="4362450"/>
              <a:ext cx="5257800" cy="1047750"/>
            </a:xfrm>
            <a:prstGeom prst="roundRect">
              <a:avLst>
                <a:gd name="adj" fmla="val 12727"/>
              </a:avLst>
            </a:prstGeom>
            <a:solidFill>
              <a:srgbClr val="121C2E"/>
            </a:solidFill>
            <a:ln w="9525">
              <a:solidFill>
                <a:srgbClr val="1E3A5F"/>
              </a:solidFill>
            </a:ln>
          </p:spPr>
        </p:sp>
        <p:sp>
          <p:nvSpPr>
            <p:cNvPr id="31" name="Rectangle 31"/>
            <p:cNvSpPr/>
            <p:nvPr/>
          </p:nvSpPr>
          <p:spPr>
            <a:xfrm>
              <a:off x="666750" y="4362450"/>
              <a:ext cx="38100" cy="1047750"/>
            </a:xfrm>
            <a:prstGeom prst="roundRect">
              <a:avLst>
                <a:gd name="adj" fmla="val 50000"/>
              </a:avLst>
            </a:prstGeom>
            <a:solidFill>
              <a:srgbClr val="FBBF24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963168" y="4641532"/>
              <a:ext cx="134950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三个常见陷阱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965454" y="5090160"/>
              <a:ext cx="206380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相似序列跨训练/测试 → 泄漏</a:t>
              </a:r>
            </a:p>
          </p:txBody>
        </p:sp>
      </p:grpSp>
      <p:grpSp>
        <p:nvGrpSpPr>
          <p:cNvPr id="39" name="eval-split"/>
          <p:cNvGrpSpPr/>
          <p:nvPr/>
        </p:nvGrpSpPr>
        <p:grpSpPr>
          <a:xfrm>
            <a:off x="6248400" y="4362450"/>
            <a:ext cx="5276850" cy="1047750"/>
            <a:chOff x="6248400" y="4362450"/>
            <a:chExt cx="5276850" cy="1047750"/>
          </a:xfrm>
        </p:grpSpPr>
        <p:sp>
          <p:nvSpPr>
            <p:cNvPr id="35" name="Rectangle 35"/>
            <p:cNvSpPr/>
            <p:nvPr/>
          </p:nvSpPr>
          <p:spPr>
            <a:xfrm>
              <a:off x="6248400" y="4362450"/>
              <a:ext cx="5276850" cy="1047750"/>
            </a:xfrm>
            <a:prstGeom prst="roundRect">
              <a:avLst>
                <a:gd name="adj" fmla="val 12727"/>
              </a:avLst>
            </a:prstGeom>
            <a:solidFill>
              <a:srgbClr val="121C2E"/>
            </a:solidFill>
            <a:ln w="9525">
              <a:solidFill>
                <a:srgbClr val="1E3A5F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6248400" y="4362450"/>
              <a:ext cx="38100" cy="1047750"/>
            </a:xfrm>
            <a:prstGeom prst="roundRect">
              <a:avLst>
                <a:gd name="adj" fmla="val 50000"/>
              </a:avLst>
            </a:prstGeom>
            <a:solidFill>
              <a:srgbClr val="A3E635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6544818" y="4641532"/>
              <a:ext cx="112737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划分与复现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6547104" y="5090160"/>
              <a:ext cx="279074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5-fold + 独立物种留出，固定随机种子</a:t>
              </a:r>
            </a:p>
          </p:txBody>
        </p:sp>
      </p:grpSp>
      <p:grpSp>
        <p:nvGrpSpPr>
          <p:cNvPr id="41" name="demo-note"/>
          <p:cNvGrpSpPr/>
          <p:nvPr/>
        </p:nvGrpSpPr>
        <p:grpSpPr>
          <a:xfrm>
            <a:off x="908685" y="5650706"/>
            <a:ext cx="4685436" cy="220028"/>
            <a:chOff x="908685" y="5650706"/>
            <a:chExt cx="4685436" cy="220028"/>
          </a:xfrm>
        </p:grpSpPr>
        <p:sp>
          <p:nvSpPr>
            <p:cNvPr id="40" name="TextBox 40"/>
            <p:cNvSpPr txBox="1"/>
            <p:nvPr/>
          </p:nvSpPr>
          <p:spPr>
            <a:xfrm>
              <a:off x="908685" y="5650706"/>
              <a:ext cx="468543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FBBF24"/>
                  </a:solidFill>
                  <a:latin typeface="+mn-lt"/>
                  <a:ea typeface="+mn-ea"/>
                  <a:cs typeface="+mn-cs"/>
                </a:rPr>
                <a:t>示例：阈值、指标和划分都要写进结果表，别只贴一个最好看的分数。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page-title"/>
          <p:cNvGrpSpPr/>
          <p:nvPr/>
        </p:nvGrpSpPr>
        <p:grpSpPr>
          <a:xfrm>
            <a:off x="649986" y="613410"/>
            <a:ext cx="5364480" cy="1194435"/>
            <a:chOff x="649986" y="613410"/>
            <a:chExt cx="5364480" cy="1194435"/>
          </a:xfrm>
        </p:grpSpPr>
        <p:sp>
          <p:nvSpPr>
            <p:cNvPr id="2" name="TextBox 2"/>
            <p:cNvSpPr txBox="1"/>
            <p:nvPr/>
          </p:nvSpPr>
          <p:spPr>
            <a:xfrm>
              <a:off x="698754" y="613410"/>
              <a:ext cx="111313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spc="225" dirty="0">
                  <a:solidFill>
                    <a:srgbClr val="22D3EE"/>
                  </a:solidFill>
                  <a:latin typeface="+mj-lt"/>
                  <a:ea typeface="+mj-ea"/>
                  <a:cs typeface="+mj-cs"/>
                </a:rPr>
                <a:t>// FUNNEL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649986" y="958215"/>
              <a:ext cx="5364480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30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筛选漏斗：从库里到可合成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678180" y="1514475"/>
              <a:ext cx="26403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每一级都要能说清砍掉了什么</a:t>
              </a:r>
            </a:p>
          </p:txBody>
        </p:sp>
      </p:grpSp>
      <p:sp>
        <p:nvSpPr>
          <p:cNvPr id="6" name="page-number"/>
          <p:cNvSpPr txBox="1"/>
          <p:nvPr/>
        </p:nvSpPr>
        <p:spPr>
          <a:xfrm>
            <a:off x="10878160" y="613410"/>
            <a:ext cx="634136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200" dirty="0">
                <a:solidFill>
                  <a:srgbClr val="64748B"/>
                </a:solidFill>
                <a:latin typeface="+mj-lt"/>
                <a:ea typeface="+mj-ea"/>
                <a:cs typeface="+mj-cs"/>
              </a:rPr>
              <a:t>08 / 12</a:t>
            </a:r>
          </a:p>
        </p:txBody>
      </p:sp>
      <p:sp>
        <p:nvSpPr>
          <p:cNvPr id="7" name="Line 7"/>
          <p:cNvSpPr/>
          <p:nvPr/>
        </p:nvSpPr>
        <p:spPr>
          <a:xfrm>
            <a:off x="685800" y="5924550"/>
            <a:ext cx="10820400" cy="9525"/>
          </a:xfrm>
          <a:custGeom>
            <a:avLst/>
            <a:gdLst/>
            <a:ahLst/>
            <a:cxnLst/>
            <a:rect l="l" t="t" r="r" b="b"/>
            <a:pathLst>
              <a:path w="10820400" h="9525">
                <a:moveTo>
                  <a:pt x="0" y="0"/>
                </a:moveTo>
                <a:lnTo>
                  <a:pt x="10820400" y="0"/>
                </a:lnTo>
              </a:path>
            </a:pathLst>
          </a:custGeom>
          <a:noFill/>
          <a:ln w="9525">
            <a:solidFill>
              <a:srgbClr val="17293F"/>
            </a:solidFill>
          </a:ln>
        </p:spPr>
      </p:sp>
      <p:sp>
        <p:nvSpPr>
          <p:cNvPr id="8" name="footer-left"/>
          <p:cNvSpPr txBox="1"/>
          <p:nvPr/>
        </p:nvSpPr>
        <p:spPr>
          <a:xfrm>
            <a:off x="680466" y="6096952"/>
            <a:ext cx="3975564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050" dirty="0">
                <a:solidFill>
                  <a:srgbClr val="64748B"/>
                </a:solidFill>
                <a:latin typeface="+mj-lt"/>
                <a:ea typeface="+mj-ea"/>
                <a:cs typeface="+mj-cs"/>
              </a:rPr>
              <a:t>umami peptides · ppt-master deck · session 01a0aa00</a:t>
            </a:r>
          </a:p>
        </p:txBody>
      </p:sp>
      <p:sp>
        <p:nvSpPr>
          <p:cNvPr id="9" name="footer-right"/>
          <p:cNvSpPr txBox="1"/>
          <p:nvPr/>
        </p:nvSpPr>
        <p:spPr>
          <a:xfrm>
            <a:off x="10268712" y="6096952"/>
            <a:ext cx="124282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1050" dirty="0">
                <a:solidFill>
                  <a:srgbClr val="64748B"/>
                </a:solidFill>
                <a:latin typeface="+mj-lt"/>
                <a:ea typeface="+mj-ea"/>
                <a:cs typeface="+mj-cs"/>
              </a:rPr>
              <a:t>LAPTOP-R77M5D6M</a:t>
            </a:r>
          </a:p>
        </p:txBody>
      </p:sp>
      <p:grpSp>
        <p:nvGrpSpPr>
          <p:cNvPr id="14" name="funnel-step-1"/>
          <p:cNvGrpSpPr/>
          <p:nvPr/>
        </p:nvGrpSpPr>
        <p:grpSpPr>
          <a:xfrm>
            <a:off x="666750" y="1962150"/>
            <a:ext cx="10561320" cy="590550"/>
            <a:chOff x="666750" y="1962150"/>
            <a:chExt cx="10561320" cy="590550"/>
          </a:xfrm>
        </p:grpSpPr>
        <p:sp>
          <p:nvSpPr>
            <p:cNvPr id="10" name="Rectangle 10"/>
            <p:cNvSpPr/>
            <p:nvPr/>
          </p:nvSpPr>
          <p:spPr>
            <a:xfrm>
              <a:off x="666750" y="1962150"/>
              <a:ext cx="9810750" cy="590550"/>
            </a:xfrm>
            <a:prstGeom prst="roundRect">
              <a:avLst>
                <a:gd name="adj" fmla="val 19355"/>
              </a:avLst>
            </a:prstGeom>
            <a:solidFill>
              <a:srgbClr val="121C2E"/>
            </a:solidFill>
            <a:ln w="9525">
              <a:solidFill>
                <a:srgbClr val="1E3A5F"/>
              </a:solidFill>
            </a:ln>
          </p:spPr>
        </p:sp>
        <p:sp>
          <p:nvSpPr>
            <p:cNvPr id="11" name="Rectangle 11"/>
            <p:cNvSpPr/>
            <p:nvPr/>
          </p:nvSpPr>
          <p:spPr>
            <a:xfrm>
              <a:off x="666750" y="1962150"/>
              <a:ext cx="38100" cy="590550"/>
            </a:xfrm>
            <a:prstGeom prst="roundRect">
              <a:avLst>
                <a:gd name="adj" fmla="val 50000"/>
              </a:avLst>
            </a:prstGeom>
            <a:solidFill>
              <a:srgbClr val="22D3EE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906399" y="2173129"/>
              <a:ext cx="2612532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候选库（酶解 / 计算生成）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0768584" y="2181225"/>
              <a:ext cx="45948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500" b="1" dirty="0">
                  <a:solidFill>
                    <a:srgbClr val="22D3EE"/>
                  </a:solidFill>
                  <a:latin typeface="+mj-lt"/>
                  <a:ea typeface="+mj-ea"/>
                  <a:cs typeface="+mj-cs"/>
                </a:rPr>
                <a:t>10^6</a:t>
              </a:r>
            </a:p>
          </p:txBody>
        </p:sp>
      </p:grpSp>
      <p:grpSp>
        <p:nvGrpSpPr>
          <p:cNvPr id="19" name="funnel-step-2"/>
          <p:cNvGrpSpPr/>
          <p:nvPr/>
        </p:nvGrpSpPr>
        <p:grpSpPr>
          <a:xfrm>
            <a:off x="666750" y="2705100"/>
            <a:ext cx="10561320" cy="590550"/>
            <a:chOff x="666750" y="2705100"/>
            <a:chExt cx="10561320" cy="590550"/>
          </a:xfrm>
        </p:grpSpPr>
        <p:sp>
          <p:nvSpPr>
            <p:cNvPr id="15" name="Rectangle 15"/>
            <p:cNvSpPr/>
            <p:nvPr/>
          </p:nvSpPr>
          <p:spPr>
            <a:xfrm>
              <a:off x="666750" y="2705100"/>
              <a:ext cx="8382000" cy="590550"/>
            </a:xfrm>
            <a:prstGeom prst="roundRect">
              <a:avLst>
                <a:gd name="adj" fmla="val 19355"/>
              </a:avLst>
            </a:prstGeom>
            <a:solidFill>
              <a:srgbClr val="121C2E"/>
            </a:solidFill>
            <a:ln w="9525">
              <a:solidFill>
                <a:srgbClr val="1E3A5F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666750" y="2705100"/>
              <a:ext cx="38100" cy="590550"/>
            </a:xfrm>
            <a:prstGeom prst="roundRect">
              <a:avLst>
                <a:gd name="adj" fmla="val 50000"/>
              </a:avLst>
            </a:prstGeom>
            <a:solidFill>
              <a:srgbClr val="60A5FA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906399" y="2916079"/>
              <a:ext cx="2443968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去冗余 + 长度 / 组成过滤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0768584" y="2924175"/>
              <a:ext cx="45948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500" b="1" dirty="0">
                  <a:solidFill>
                    <a:srgbClr val="60A5FA"/>
                  </a:solidFill>
                  <a:latin typeface="+mj-lt"/>
                  <a:ea typeface="+mj-ea"/>
                  <a:cs typeface="+mj-cs"/>
                </a:rPr>
                <a:t>10^4</a:t>
              </a:r>
            </a:p>
          </p:txBody>
        </p:sp>
      </p:grpSp>
      <p:grpSp>
        <p:nvGrpSpPr>
          <p:cNvPr id="24" name="funnel-step-3"/>
          <p:cNvGrpSpPr/>
          <p:nvPr/>
        </p:nvGrpSpPr>
        <p:grpSpPr>
          <a:xfrm>
            <a:off x="666750" y="3448050"/>
            <a:ext cx="10561320" cy="590550"/>
            <a:chOff x="666750" y="3448050"/>
            <a:chExt cx="10561320" cy="590550"/>
          </a:xfrm>
        </p:grpSpPr>
        <p:sp>
          <p:nvSpPr>
            <p:cNvPr id="20" name="Rectangle 20"/>
            <p:cNvSpPr/>
            <p:nvPr/>
          </p:nvSpPr>
          <p:spPr>
            <a:xfrm>
              <a:off x="666750" y="3448050"/>
              <a:ext cx="6667500" cy="590550"/>
            </a:xfrm>
            <a:prstGeom prst="roundRect">
              <a:avLst>
                <a:gd name="adj" fmla="val 19355"/>
              </a:avLst>
            </a:prstGeom>
            <a:solidFill>
              <a:srgbClr val="121C2E"/>
            </a:solidFill>
            <a:ln w="9525">
              <a:solidFill>
                <a:srgbClr val="1E3A5F"/>
              </a:solidFill>
            </a:ln>
          </p:spPr>
        </p:sp>
        <p:sp>
          <p:nvSpPr>
            <p:cNvPr id="21" name="Rectangle 21"/>
            <p:cNvSpPr/>
            <p:nvPr/>
          </p:nvSpPr>
          <p:spPr>
            <a:xfrm>
              <a:off x="666750" y="3448050"/>
              <a:ext cx="38100" cy="590550"/>
            </a:xfrm>
            <a:prstGeom prst="roundRect">
              <a:avLst>
                <a:gd name="adj" fmla="val 50000"/>
              </a:avLst>
            </a:prstGeom>
            <a:solidFill>
              <a:srgbClr val="A3E635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906399" y="3659029"/>
              <a:ext cx="1717599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模型打分，取头部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10768584" y="3667125"/>
              <a:ext cx="45948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500" b="1" dirty="0">
                  <a:solidFill>
                    <a:srgbClr val="A3E635"/>
                  </a:solidFill>
                  <a:latin typeface="+mj-lt"/>
                  <a:ea typeface="+mj-ea"/>
                  <a:cs typeface="+mj-cs"/>
                </a:rPr>
                <a:t>10^2</a:t>
              </a:r>
            </a:p>
          </p:txBody>
        </p:sp>
      </p:grpSp>
      <p:grpSp>
        <p:nvGrpSpPr>
          <p:cNvPr id="29" name="funnel-step-4"/>
          <p:cNvGrpSpPr/>
          <p:nvPr/>
        </p:nvGrpSpPr>
        <p:grpSpPr>
          <a:xfrm>
            <a:off x="666750" y="4191000"/>
            <a:ext cx="10561321" cy="590550"/>
            <a:chOff x="666750" y="4191000"/>
            <a:chExt cx="10561321" cy="590550"/>
          </a:xfrm>
        </p:grpSpPr>
        <p:sp>
          <p:nvSpPr>
            <p:cNvPr id="25" name="Rectangle 25"/>
            <p:cNvSpPr/>
            <p:nvPr/>
          </p:nvSpPr>
          <p:spPr>
            <a:xfrm>
              <a:off x="666750" y="4191000"/>
              <a:ext cx="5143500" cy="590550"/>
            </a:xfrm>
            <a:prstGeom prst="roundRect">
              <a:avLst>
                <a:gd name="adj" fmla="val 19355"/>
              </a:avLst>
            </a:prstGeom>
            <a:solidFill>
              <a:srgbClr val="121C2E"/>
            </a:solidFill>
            <a:ln w="9525">
              <a:solidFill>
                <a:srgbClr val="1E3A5F"/>
              </a:solidFill>
            </a:ln>
          </p:spPr>
        </p:sp>
        <p:sp>
          <p:nvSpPr>
            <p:cNvPr id="26" name="Rectangle 26"/>
            <p:cNvSpPr/>
            <p:nvPr/>
          </p:nvSpPr>
          <p:spPr>
            <a:xfrm>
              <a:off x="666750" y="4191000"/>
              <a:ext cx="38100" cy="590550"/>
            </a:xfrm>
            <a:prstGeom prst="roundRect">
              <a:avLst>
                <a:gd name="adj" fmla="val 50000"/>
              </a:avLst>
            </a:prstGeom>
            <a:solidFill>
              <a:srgbClr val="A3E635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906399" y="4401979"/>
              <a:ext cx="2443968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理化 · 毒性 · 溶解性过滤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10677716" y="4410075"/>
              <a:ext cx="55035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500" b="1" dirty="0">
                  <a:solidFill>
                    <a:srgbClr val="A3E635"/>
                  </a:solidFill>
                  <a:latin typeface="+mj-lt"/>
                  <a:ea typeface="+mj-ea"/>
                  <a:cs typeface="+mj-cs"/>
                </a:rPr>
                <a:t>30 条</a:t>
              </a:r>
            </a:p>
          </p:txBody>
        </p:sp>
      </p:grpSp>
      <p:grpSp>
        <p:nvGrpSpPr>
          <p:cNvPr id="34" name="funnel-step-5"/>
          <p:cNvGrpSpPr/>
          <p:nvPr/>
        </p:nvGrpSpPr>
        <p:grpSpPr>
          <a:xfrm>
            <a:off x="666750" y="4933950"/>
            <a:ext cx="10561321" cy="590550"/>
            <a:chOff x="666750" y="4933950"/>
            <a:chExt cx="10561321" cy="590550"/>
          </a:xfrm>
        </p:grpSpPr>
        <p:sp>
          <p:nvSpPr>
            <p:cNvPr id="30" name="Rectangle 30"/>
            <p:cNvSpPr/>
            <p:nvPr/>
          </p:nvSpPr>
          <p:spPr>
            <a:xfrm>
              <a:off x="666750" y="4933950"/>
              <a:ext cx="3429000" cy="590550"/>
            </a:xfrm>
            <a:prstGeom prst="roundRect">
              <a:avLst>
                <a:gd name="adj" fmla="val 19355"/>
              </a:avLst>
            </a:prstGeom>
            <a:solidFill>
              <a:srgbClr val="121C2E"/>
            </a:solidFill>
            <a:ln w="9525">
              <a:solidFill>
                <a:srgbClr val="1E3A5F"/>
              </a:solidFill>
            </a:ln>
          </p:spPr>
        </p:sp>
        <p:sp>
          <p:nvSpPr>
            <p:cNvPr id="31" name="Rectangle 31"/>
            <p:cNvSpPr/>
            <p:nvPr/>
          </p:nvSpPr>
          <p:spPr>
            <a:xfrm>
              <a:off x="666750" y="4933950"/>
              <a:ext cx="38100" cy="590550"/>
            </a:xfrm>
            <a:prstGeom prst="roundRect">
              <a:avLst>
                <a:gd name="adj" fmla="val 50000"/>
              </a:avLst>
            </a:prstGeom>
            <a:solidFill>
              <a:srgbClr val="FBBF24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906399" y="5144929"/>
              <a:ext cx="2443968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合成 + 感官 / 电子舌验证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10273856" y="5153025"/>
              <a:ext cx="95421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500" b="1" dirty="0">
                  <a:solidFill>
                    <a:srgbClr val="FBBF24"/>
                  </a:solidFill>
                  <a:latin typeface="+mj-lt"/>
                  <a:ea typeface="+mj-ea"/>
                  <a:cs typeface="+mj-cs"/>
                </a:rPr>
                <a:t>12 条命中</a:t>
              </a:r>
            </a:p>
          </p:txBody>
        </p:sp>
      </p:grpSp>
      <p:grpSp>
        <p:nvGrpSpPr>
          <p:cNvPr id="36" name="demo-note"/>
          <p:cNvGrpSpPr/>
          <p:nvPr/>
        </p:nvGrpSpPr>
        <p:grpSpPr>
          <a:xfrm>
            <a:off x="908685" y="5650706"/>
            <a:ext cx="4685436" cy="220028"/>
            <a:chOff x="908685" y="5650706"/>
            <a:chExt cx="4685436" cy="220028"/>
          </a:xfrm>
        </p:grpSpPr>
        <p:sp>
          <p:nvSpPr>
            <p:cNvPr id="35" name="TextBox 35"/>
            <p:cNvSpPr txBox="1"/>
            <p:nvPr/>
          </p:nvSpPr>
          <p:spPr>
            <a:xfrm>
              <a:off x="908685" y="5650706"/>
              <a:ext cx="468543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FBBF24"/>
                  </a:solidFill>
                  <a:latin typeface="+mn-lt"/>
                  <a:ea typeface="+mn-ea"/>
                  <a:cs typeface="+mn-cs"/>
                </a:rPr>
                <a:t>示例：数量级是示例；替换成自己库的统计，几何形状会自动跟着变。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page-title"/>
          <p:cNvGrpSpPr/>
          <p:nvPr/>
        </p:nvGrpSpPr>
        <p:grpSpPr>
          <a:xfrm>
            <a:off x="649986" y="613410"/>
            <a:ext cx="3143250" cy="1194435"/>
            <a:chOff x="649986" y="613410"/>
            <a:chExt cx="3143250" cy="1194435"/>
          </a:xfrm>
        </p:grpSpPr>
        <p:sp>
          <p:nvSpPr>
            <p:cNvPr id="2" name="TextBox 2"/>
            <p:cNvSpPr txBox="1"/>
            <p:nvPr/>
          </p:nvSpPr>
          <p:spPr>
            <a:xfrm>
              <a:off x="698754" y="613410"/>
              <a:ext cx="123901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spc="225" dirty="0">
                  <a:solidFill>
                    <a:srgbClr val="22D3EE"/>
                  </a:solidFill>
                  <a:latin typeface="+mj-lt"/>
                  <a:ea typeface="+mj-ea"/>
                  <a:cs typeface="+mj-cs"/>
                </a:rPr>
                <a:t>// WET LAB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649986" y="958215"/>
              <a:ext cx="3143250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30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湿实验验证协议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678180" y="1514475"/>
              <a:ext cx="26403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模型给出排序，实验给出结论</a:t>
              </a:r>
            </a:p>
          </p:txBody>
        </p:sp>
      </p:grpSp>
      <p:sp>
        <p:nvSpPr>
          <p:cNvPr id="6" name="page-number"/>
          <p:cNvSpPr txBox="1"/>
          <p:nvPr/>
        </p:nvSpPr>
        <p:spPr>
          <a:xfrm>
            <a:off x="10878160" y="613410"/>
            <a:ext cx="634136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200" dirty="0">
                <a:solidFill>
                  <a:srgbClr val="64748B"/>
                </a:solidFill>
                <a:latin typeface="+mj-lt"/>
                <a:ea typeface="+mj-ea"/>
                <a:cs typeface="+mj-cs"/>
              </a:rPr>
              <a:t>09 / 12</a:t>
            </a:r>
          </a:p>
        </p:txBody>
      </p:sp>
      <p:sp>
        <p:nvSpPr>
          <p:cNvPr id="7" name="Line 7"/>
          <p:cNvSpPr/>
          <p:nvPr/>
        </p:nvSpPr>
        <p:spPr>
          <a:xfrm>
            <a:off x="685800" y="5924550"/>
            <a:ext cx="10820400" cy="9525"/>
          </a:xfrm>
          <a:custGeom>
            <a:avLst/>
            <a:gdLst/>
            <a:ahLst/>
            <a:cxnLst/>
            <a:rect l="l" t="t" r="r" b="b"/>
            <a:pathLst>
              <a:path w="10820400" h="9525">
                <a:moveTo>
                  <a:pt x="0" y="0"/>
                </a:moveTo>
                <a:lnTo>
                  <a:pt x="10820400" y="0"/>
                </a:lnTo>
              </a:path>
            </a:pathLst>
          </a:custGeom>
          <a:noFill/>
          <a:ln w="9525">
            <a:solidFill>
              <a:srgbClr val="17293F"/>
            </a:solidFill>
          </a:ln>
        </p:spPr>
      </p:sp>
      <p:sp>
        <p:nvSpPr>
          <p:cNvPr id="8" name="footer-left"/>
          <p:cNvSpPr txBox="1"/>
          <p:nvPr/>
        </p:nvSpPr>
        <p:spPr>
          <a:xfrm>
            <a:off x="680466" y="6096952"/>
            <a:ext cx="3975564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050" dirty="0">
                <a:solidFill>
                  <a:srgbClr val="64748B"/>
                </a:solidFill>
                <a:latin typeface="+mj-lt"/>
                <a:ea typeface="+mj-ea"/>
                <a:cs typeface="+mj-cs"/>
              </a:rPr>
              <a:t>umami peptides · ppt-master deck · session 01a0aa00</a:t>
            </a:r>
          </a:p>
        </p:txBody>
      </p:sp>
      <p:sp>
        <p:nvSpPr>
          <p:cNvPr id="9" name="footer-right"/>
          <p:cNvSpPr txBox="1"/>
          <p:nvPr/>
        </p:nvSpPr>
        <p:spPr>
          <a:xfrm>
            <a:off x="10268712" y="6096952"/>
            <a:ext cx="124282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1050" dirty="0">
                <a:solidFill>
                  <a:srgbClr val="64748B"/>
                </a:solidFill>
                <a:latin typeface="+mj-lt"/>
                <a:ea typeface="+mj-ea"/>
                <a:cs typeface="+mj-cs"/>
              </a:rPr>
              <a:t>LAPTOP-R77M5D6M</a:t>
            </a:r>
          </a:p>
        </p:txBody>
      </p:sp>
      <p:grpSp>
        <p:nvGrpSpPr>
          <p:cNvPr id="14" name="wetlab-row-1"/>
          <p:cNvGrpSpPr/>
          <p:nvPr/>
        </p:nvGrpSpPr>
        <p:grpSpPr>
          <a:xfrm>
            <a:off x="666750" y="2019300"/>
            <a:ext cx="10858500" cy="533400"/>
            <a:chOff x="666750" y="2019300"/>
            <a:chExt cx="10858500" cy="533400"/>
          </a:xfrm>
        </p:grpSpPr>
        <p:sp>
          <p:nvSpPr>
            <p:cNvPr id="10" name="Rectangle 10"/>
            <p:cNvSpPr/>
            <p:nvPr/>
          </p:nvSpPr>
          <p:spPr>
            <a:xfrm>
              <a:off x="666750" y="2019300"/>
              <a:ext cx="10858500" cy="533400"/>
            </a:xfrm>
            <a:prstGeom prst="roundRect">
              <a:avLst>
                <a:gd name="adj" fmla="val 17857"/>
              </a:avLst>
            </a:prstGeom>
            <a:solidFill>
              <a:srgbClr val="121C2E"/>
            </a:solidFill>
            <a:ln w="9525">
              <a:solidFill>
                <a:srgbClr val="1E3A5F"/>
              </a:solidFill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06780" y="2200275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22D3EE"/>
                  </a:solidFill>
                  <a:latin typeface="+mn-lt"/>
                  <a:ea typeface="+mn-ea"/>
                  <a:cs typeface="+mn-cs"/>
                </a:rPr>
                <a:t>感官评价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3041142" y="2216468"/>
              <a:ext cx="154853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阈值测定（mg/L）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7765923" y="2224564"/>
              <a:ext cx="158962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评审小组 + 空白对照</a:t>
              </a:r>
            </a:p>
          </p:txBody>
        </p:sp>
      </p:grpSp>
      <p:grpSp>
        <p:nvGrpSpPr>
          <p:cNvPr id="19" name="wetlab-row-2"/>
          <p:cNvGrpSpPr/>
          <p:nvPr/>
        </p:nvGrpSpPr>
        <p:grpSpPr>
          <a:xfrm>
            <a:off x="666750" y="2609850"/>
            <a:ext cx="10858500" cy="533400"/>
            <a:chOff x="666750" y="2609850"/>
            <a:chExt cx="10858500" cy="533400"/>
          </a:xfrm>
        </p:grpSpPr>
        <p:sp>
          <p:nvSpPr>
            <p:cNvPr id="15" name="Rectangle 15"/>
            <p:cNvSpPr/>
            <p:nvPr/>
          </p:nvSpPr>
          <p:spPr>
            <a:xfrm>
              <a:off x="666750" y="2609850"/>
              <a:ext cx="10858500" cy="533400"/>
            </a:xfrm>
            <a:prstGeom prst="roundRect">
              <a:avLst>
                <a:gd name="adj" fmla="val 17857"/>
              </a:avLst>
            </a:prstGeom>
            <a:solidFill>
              <a:srgbClr val="0D1626"/>
            </a:solidFill>
            <a:ln w="9525">
              <a:solidFill>
                <a:srgbClr val="1E3A5F"/>
              </a:solidFill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06780" y="2790825"/>
              <a:ext cx="6210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A3E635"/>
                  </a:solidFill>
                  <a:latin typeface="+mn-lt"/>
                  <a:ea typeface="+mn-ea"/>
                  <a:cs typeface="+mn-cs"/>
                </a:rPr>
                <a:t>电子舌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3041142" y="2807018"/>
              <a:ext cx="258529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传感器响应 / 与已知鲜味肽比对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7765923" y="2815114"/>
              <a:ext cx="104683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无创、通量高</a:t>
              </a:r>
            </a:p>
          </p:txBody>
        </p:sp>
      </p:grpSp>
      <p:grpSp>
        <p:nvGrpSpPr>
          <p:cNvPr id="24" name="wetlab-row-3"/>
          <p:cNvGrpSpPr/>
          <p:nvPr/>
        </p:nvGrpSpPr>
        <p:grpSpPr>
          <a:xfrm>
            <a:off x="666750" y="3200400"/>
            <a:ext cx="10858500" cy="533400"/>
            <a:chOff x="666750" y="3200400"/>
            <a:chExt cx="10858500" cy="533400"/>
          </a:xfrm>
        </p:grpSpPr>
        <p:sp>
          <p:nvSpPr>
            <p:cNvPr id="20" name="Rectangle 20"/>
            <p:cNvSpPr/>
            <p:nvPr/>
          </p:nvSpPr>
          <p:spPr>
            <a:xfrm>
              <a:off x="666750" y="3200400"/>
              <a:ext cx="10858500" cy="533400"/>
            </a:xfrm>
            <a:prstGeom prst="roundRect">
              <a:avLst>
                <a:gd name="adj" fmla="val 17857"/>
              </a:avLst>
            </a:prstGeom>
            <a:solidFill>
              <a:srgbClr val="121C2E"/>
            </a:solidFill>
            <a:ln w="9525">
              <a:solidFill>
                <a:srgbClr val="1E3A5F"/>
              </a:solidFill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906780" y="3381375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60A5FA"/>
                  </a:solidFill>
                  <a:latin typeface="+mn-lt"/>
                  <a:ea typeface="+mn-ea"/>
                  <a:cs typeface="+mn-cs"/>
                </a:rPr>
                <a:t>受体功能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041142" y="3397568"/>
              <a:ext cx="259232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T1R1-T1R3 钙成像，拟合 EC50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765923" y="3405664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机制证据</a:t>
              </a:r>
            </a:p>
          </p:txBody>
        </p:sp>
      </p:grpSp>
      <p:grpSp>
        <p:nvGrpSpPr>
          <p:cNvPr id="29" name="wetlab-row-4"/>
          <p:cNvGrpSpPr/>
          <p:nvPr/>
        </p:nvGrpSpPr>
        <p:grpSpPr>
          <a:xfrm>
            <a:off x="666750" y="3790950"/>
            <a:ext cx="10858500" cy="533400"/>
            <a:chOff x="666750" y="3790950"/>
            <a:chExt cx="10858500" cy="533400"/>
          </a:xfrm>
        </p:grpSpPr>
        <p:sp>
          <p:nvSpPr>
            <p:cNvPr id="25" name="Rectangle 25"/>
            <p:cNvSpPr/>
            <p:nvPr/>
          </p:nvSpPr>
          <p:spPr>
            <a:xfrm>
              <a:off x="666750" y="3790950"/>
              <a:ext cx="10858500" cy="533400"/>
            </a:xfrm>
            <a:prstGeom prst="roundRect">
              <a:avLst>
                <a:gd name="adj" fmla="val 17857"/>
              </a:avLst>
            </a:prstGeom>
            <a:solidFill>
              <a:srgbClr val="0D1626"/>
            </a:solidFill>
            <a:ln w="9525">
              <a:solidFill>
                <a:srgbClr val="1E3A5F"/>
              </a:solidFill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906780" y="3971925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FBBF24"/>
                  </a:solidFill>
                  <a:latin typeface="+mn-lt"/>
                  <a:ea typeface="+mn-ea"/>
                  <a:cs typeface="+mn-cs"/>
                </a:rPr>
                <a:t>分子对接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3041142" y="3988118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结合位点与相互作用预测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7765923" y="3996214"/>
              <a:ext cx="225303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解释性补充，不作为唯一证据</a:t>
              </a:r>
            </a:p>
          </p:txBody>
        </p:sp>
      </p:grpSp>
      <p:grpSp>
        <p:nvGrpSpPr>
          <p:cNvPr id="32" name="wetlab-rule"/>
          <p:cNvGrpSpPr/>
          <p:nvPr/>
        </p:nvGrpSpPr>
        <p:grpSpPr>
          <a:xfrm>
            <a:off x="666750" y="4629150"/>
            <a:ext cx="10839450" cy="571500"/>
            <a:chOff x="666750" y="4629150"/>
            <a:chExt cx="10839450" cy="571500"/>
          </a:xfrm>
        </p:grpSpPr>
        <p:sp>
          <p:nvSpPr>
            <p:cNvPr id="30" name="Rectangle 30"/>
            <p:cNvSpPr/>
            <p:nvPr/>
          </p:nvSpPr>
          <p:spPr>
            <a:xfrm>
              <a:off x="666750" y="4629150"/>
              <a:ext cx="10839450" cy="571500"/>
            </a:xfrm>
            <a:prstGeom prst="roundRect">
              <a:avLst>
                <a:gd name="adj" fmla="val 20000"/>
              </a:avLst>
            </a:prstGeom>
            <a:solidFill>
              <a:srgbClr val="0D1626"/>
            </a:solidFill>
            <a:ln w="9525">
              <a:solidFill>
                <a:srgbClr val="1E3A5F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906780" y="4810125"/>
              <a:ext cx="73579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判定顺序：先电子舌筛响应，再用阈值 + 受体实验确认——避免把假阳性带进结论。</a:t>
              </a:r>
            </a:p>
          </p:txBody>
        </p:sp>
      </p:grpSp>
      <p:grpSp>
        <p:nvGrpSpPr>
          <p:cNvPr id="34" name="demo-note"/>
          <p:cNvGrpSpPr/>
          <p:nvPr/>
        </p:nvGrpSpPr>
        <p:grpSpPr>
          <a:xfrm>
            <a:off x="908685" y="5650706"/>
            <a:ext cx="4233113" cy="220028"/>
            <a:chOff x="908685" y="5650706"/>
            <a:chExt cx="4233113" cy="220028"/>
          </a:xfrm>
        </p:grpSpPr>
        <p:sp>
          <p:nvSpPr>
            <p:cNvPr id="33" name="TextBox 33"/>
            <p:cNvSpPr txBox="1"/>
            <p:nvPr/>
          </p:nvSpPr>
          <p:spPr>
            <a:xfrm>
              <a:off x="908685" y="5650706"/>
              <a:ext cx="423311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FBBF24"/>
                  </a:solidFill>
                  <a:latin typeface="+mn-lt"/>
                  <a:ea typeface="+mn-ea"/>
                  <a:cs typeface="+mn-cs"/>
                </a:rPr>
                <a:t>示例：协议字段按自己实验室的能力增减；这里只是流程骨架。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page-title"/>
          <p:cNvGrpSpPr/>
          <p:nvPr/>
        </p:nvGrpSpPr>
        <p:grpSpPr>
          <a:xfrm>
            <a:off x="649986" y="613410"/>
            <a:ext cx="4538091" cy="1194435"/>
            <a:chOff x="649986" y="613410"/>
            <a:chExt cx="4538091" cy="1194435"/>
          </a:xfrm>
        </p:grpSpPr>
        <p:sp>
          <p:nvSpPr>
            <p:cNvPr id="2" name="TextBox 2"/>
            <p:cNvSpPr txBox="1"/>
            <p:nvPr/>
          </p:nvSpPr>
          <p:spPr>
            <a:xfrm>
              <a:off x="698754" y="613410"/>
              <a:ext cx="123901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spc="225" dirty="0">
                  <a:solidFill>
                    <a:srgbClr val="22D3EE"/>
                  </a:solidFill>
                  <a:latin typeface="+mj-lt"/>
                  <a:ea typeface="+mj-ea"/>
                  <a:cs typeface="+mj-cs"/>
                </a:rPr>
                <a:t>// REBUILD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649986" y="958215"/>
              <a:ext cx="4475988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30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怎么在这台机器上重建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678180" y="1514475"/>
              <a:ext cx="4509897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同一套 venv + PPT Master，换主题只改页源文件</a:t>
              </a:r>
            </a:p>
          </p:txBody>
        </p:sp>
      </p:grpSp>
      <p:sp>
        <p:nvSpPr>
          <p:cNvPr id="6" name="page-number"/>
          <p:cNvSpPr txBox="1"/>
          <p:nvPr/>
        </p:nvSpPr>
        <p:spPr>
          <a:xfrm>
            <a:off x="10878160" y="613410"/>
            <a:ext cx="634136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200" dirty="0">
                <a:solidFill>
                  <a:srgbClr val="64748B"/>
                </a:solidFill>
                <a:latin typeface="+mj-lt"/>
                <a:ea typeface="+mj-ea"/>
                <a:cs typeface="+mj-cs"/>
              </a:rPr>
              <a:t>10 / 12</a:t>
            </a:r>
          </a:p>
        </p:txBody>
      </p:sp>
      <p:sp>
        <p:nvSpPr>
          <p:cNvPr id="7" name="Line 7"/>
          <p:cNvSpPr/>
          <p:nvPr/>
        </p:nvSpPr>
        <p:spPr>
          <a:xfrm>
            <a:off x="685800" y="5924550"/>
            <a:ext cx="10820400" cy="9525"/>
          </a:xfrm>
          <a:custGeom>
            <a:avLst/>
            <a:gdLst/>
            <a:ahLst/>
            <a:cxnLst/>
            <a:rect l="l" t="t" r="r" b="b"/>
            <a:pathLst>
              <a:path w="10820400" h="9525">
                <a:moveTo>
                  <a:pt x="0" y="0"/>
                </a:moveTo>
                <a:lnTo>
                  <a:pt x="10820400" y="0"/>
                </a:lnTo>
              </a:path>
            </a:pathLst>
          </a:custGeom>
          <a:noFill/>
          <a:ln w="9525">
            <a:solidFill>
              <a:srgbClr val="17293F"/>
            </a:solidFill>
          </a:ln>
        </p:spPr>
      </p:sp>
      <p:sp>
        <p:nvSpPr>
          <p:cNvPr id="8" name="footer-left"/>
          <p:cNvSpPr txBox="1"/>
          <p:nvPr/>
        </p:nvSpPr>
        <p:spPr>
          <a:xfrm>
            <a:off x="680466" y="6096952"/>
            <a:ext cx="3975564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050" dirty="0">
                <a:solidFill>
                  <a:srgbClr val="64748B"/>
                </a:solidFill>
                <a:latin typeface="+mj-lt"/>
                <a:ea typeface="+mj-ea"/>
                <a:cs typeface="+mj-cs"/>
              </a:rPr>
              <a:t>umami peptides · ppt-master deck · session 01a0aa00</a:t>
            </a:r>
          </a:p>
        </p:txBody>
      </p:sp>
      <p:sp>
        <p:nvSpPr>
          <p:cNvPr id="9" name="footer-right"/>
          <p:cNvSpPr txBox="1"/>
          <p:nvPr/>
        </p:nvSpPr>
        <p:spPr>
          <a:xfrm>
            <a:off x="10268712" y="6096952"/>
            <a:ext cx="124282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1050" dirty="0">
                <a:solidFill>
                  <a:srgbClr val="64748B"/>
                </a:solidFill>
                <a:latin typeface="+mj-lt"/>
                <a:ea typeface="+mj-ea"/>
                <a:cs typeface="+mj-cs"/>
              </a:rPr>
              <a:t>LAPTOP-R77M5D6M</a:t>
            </a:r>
          </a:p>
        </p:txBody>
      </p:sp>
      <p:grpSp>
        <p:nvGrpSpPr>
          <p:cNvPr id="16" name="repro-cmd"/>
          <p:cNvGrpSpPr/>
          <p:nvPr/>
        </p:nvGrpSpPr>
        <p:grpSpPr>
          <a:xfrm>
            <a:off x="666750" y="2019300"/>
            <a:ext cx="5257800" cy="1981200"/>
            <a:chOff x="666750" y="2019300"/>
            <a:chExt cx="5257800" cy="1981200"/>
          </a:xfrm>
        </p:grpSpPr>
        <p:sp>
          <p:nvSpPr>
            <p:cNvPr id="10" name="Rectangle 10"/>
            <p:cNvSpPr/>
            <p:nvPr/>
          </p:nvSpPr>
          <p:spPr>
            <a:xfrm>
              <a:off x="666750" y="2019300"/>
              <a:ext cx="5257800" cy="1981200"/>
            </a:xfrm>
            <a:prstGeom prst="roundRect">
              <a:avLst>
                <a:gd name="adj" fmla="val 6731"/>
              </a:avLst>
            </a:prstGeom>
            <a:solidFill>
              <a:srgbClr val="121C2E"/>
            </a:solidFill>
            <a:ln w="9525">
              <a:solidFill>
                <a:srgbClr val="1E3A5F"/>
              </a:solidFill>
            </a:ln>
          </p:spPr>
        </p:sp>
        <p:sp>
          <p:nvSpPr>
            <p:cNvPr id="11" name="Rectangle 11"/>
            <p:cNvSpPr/>
            <p:nvPr/>
          </p:nvSpPr>
          <p:spPr>
            <a:xfrm>
              <a:off x="666750" y="2019300"/>
              <a:ext cx="38100" cy="1981200"/>
            </a:xfrm>
            <a:prstGeom prst="roundRect">
              <a:avLst>
                <a:gd name="adj" fmla="val 50000"/>
              </a:avLst>
            </a:prstGeom>
            <a:solidFill>
              <a:srgbClr val="A3E635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963168" y="2298382"/>
              <a:ext cx="90525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一条命令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965454" y="2747010"/>
              <a:ext cx="157916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4A3B8"/>
                  </a:solidFill>
                  <a:latin typeface="+mj-lt"/>
                  <a:ea typeface="+mj-ea"/>
                  <a:cs typeface="+mj-cs"/>
                </a:rPr>
                <a:t>双击 make-deck.cmd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65454" y="3089910"/>
              <a:ext cx="255651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4A3B8"/>
                  </a:solidFill>
                  <a:latin typeface="+mj-lt"/>
                  <a:ea typeface="+mj-ea"/>
                  <a:cs typeface="+mj-cs"/>
                </a:rPr>
                <a:t>或 venv\python 跑 svg_to_pptx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965454" y="3432810"/>
              <a:ext cx="254035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4A3B8"/>
                  </a:solidFill>
                  <a:latin typeface="+mj-lt"/>
                  <a:ea typeface="+mj-ea"/>
                  <a:cs typeface="+mj-cs"/>
                </a:rPr>
                <a:t>改页：code/make_deck_umami.py</a:t>
              </a:r>
            </a:p>
          </p:txBody>
        </p:sp>
      </p:grpSp>
      <p:grpSp>
        <p:nvGrpSpPr>
          <p:cNvPr id="23" name="repro-paths"/>
          <p:cNvGrpSpPr/>
          <p:nvPr/>
        </p:nvGrpSpPr>
        <p:grpSpPr>
          <a:xfrm>
            <a:off x="6248400" y="2019300"/>
            <a:ext cx="5276850" cy="1981200"/>
            <a:chOff x="6248400" y="2019300"/>
            <a:chExt cx="5276850" cy="1981200"/>
          </a:xfrm>
        </p:grpSpPr>
        <p:sp>
          <p:nvSpPr>
            <p:cNvPr id="17" name="Rectangle 17"/>
            <p:cNvSpPr/>
            <p:nvPr/>
          </p:nvSpPr>
          <p:spPr>
            <a:xfrm>
              <a:off x="6248400" y="2019300"/>
              <a:ext cx="5276850" cy="1981200"/>
            </a:xfrm>
            <a:prstGeom prst="roundRect">
              <a:avLst>
                <a:gd name="adj" fmla="val 6731"/>
              </a:avLst>
            </a:prstGeom>
            <a:solidFill>
              <a:srgbClr val="121C2E"/>
            </a:solidFill>
            <a:ln w="9525">
              <a:solidFill>
                <a:srgbClr val="1E3A5F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6248400" y="2019300"/>
              <a:ext cx="38100" cy="1981200"/>
            </a:xfrm>
            <a:prstGeom prst="roundRect">
              <a:avLst>
                <a:gd name="adj" fmla="val 50000"/>
              </a:avLst>
            </a:prstGeom>
            <a:solidFill>
              <a:srgbClr val="22D3EE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6544818" y="2298382"/>
              <a:ext cx="90525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文件在哪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6547104" y="2747010"/>
              <a:ext cx="288111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94A3B8"/>
                  </a:solidFill>
                  <a:latin typeface="+mj-lt"/>
                  <a:ea typeface="+mj-ea"/>
                  <a:cs typeface="+mj-cs"/>
                </a:rPr>
                <a:t>ppt-master\out\DECK_umami_*.pptx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6547104" y="3089910"/>
              <a:ext cx="174071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4A3B8"/>
                  </a:solidFill>
                  <a:latin typeface="+mj-lt"/>
                  <a:ea typeface="+mj-ea"/>
                  <a:cs typeface="+mj-cs"/>
                </a:rPr>
                <a:t>证据：results/umami/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6547104" y="3432810"/>
              <a:ext cx="225765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4A3B8"/>
                  </a:solidFill>
                  <a:latin typeface="+mj-lt"/>
                  <a:ea typeface="+mj-ea"/>
                  <a:cs typeface="+mj-cs"/>
                </a:rPr>
                <a:t>页面源：results/umami/svg/</a:t>
              </a:r>
            </a:p>
          </p:txBody>
        </p:sp>
      </p:grpSp>
      <p:grpSp>
        <p:nvGrpSpPr>
          <p:cNvPr id="28" name="repro-data"/>
          <p:cNvGrpSpPr/>
          <p:nvPr/>
        </p:nvGrpSpPr>
        <p:grpSpPr>
          <a:xfrm>
            <a:off x="666750" y="4267200"/>
            <a:ext cx="5257800" cy="1047750"/>
            <a:chOff x="666750" y="4267200"/>
            <a:chExt cx="5257800" cy="1047750"/>
          </a:xfrm>
        </p:grpSpPr>
        <p:sp>
          <p:nvSpPr>
            <p:cNvPr id="24" name="Rectangle 24"/>
            <p:cNvSpPr/>
            <p:nvPr/>
          </p:nvSpPr>
          <p:spPr>
            <a:xfrm>
              <a:off x="666750" y="4267200"/>
              <a:ext cx="5257800" cy="1047750"/>
            </a:xfrm>
            <a:prstGeom prst="roundRect">
              <a:avLst>
                <a:gd name="adj" fmla="val 12727"/>
              </a:avLst>
            </a:prstGeom>
            <a:solidFill>
              <a:srgbClr val="121C2E"/>
            </a:solidFill>
            <a:ln w="9525">
              <a:solidFill>
                <a:srgbClr val="1E3A5F"/>
              </a:solidFill>
            </a:ln>
          </p:spPr>
        </p:sp>
        <p:sp>
          <p:nvSpPr>
            <p:cNvPr id="25" name="Rectangle 25"/>
            <p:cNvSpPr/>
            <p:nvPr/>
          </p:nvSpPr>
          <p:spPr>
            <a:xfrm>
              <a:off x="666750" y="4267200"/>
              <a:ext cx="38100" cy="1047750"/>
            </a:xfrm>
            <a:prstGeom prst="roundRect">
              <a:avLst>
                <a:gd name="adj" fmla="val 50000"/>
              </a:avLst>
            </a:prstGeom>
            <a:solidFill>
              <a:srgbClr val="FBBF24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963168" y="4546282"/>
              <a:ext cx="90525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换数据前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965454" y="4994910"/>
              <a:ext cx="195072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把示例数字换成自己的统计</a:t>
              </a:r>
            </a:p>
          </p:txBody>
        </p:sp>
      </p:grpSp>
      <p:grpSp>
        <p:nvGrpSpPr>
          <p:cNvPr id="33" name="repro-model"/>
          <p:cNvGrpSpPr/>
          <p:nvPr/>
        </p:nvGrpSpPr>
        <p:grpSpPr>
          <a:xfrm>
            <a:off x="6248400" y="4267200"/>
            <a:ext cx="5276850" cy="1047750"/>
            <a:chOff x="6248400" y="4267200"/>
            <a:chExt cx="5276850" cy="1047750"/>
          </a:xfrm>
        </p:grpSpPr>
        <p:sp>
          <p:nvSpPr>
            <p:cNvPr id="29" name="Rectangle 29"/>
            <p:cNvSpPr/>
            <p:nvPr/>
          </p:nvSpPr>
          <p:spPr>
            <a:xfrm>
              <a:off x="6248400" y="4267200"/>
              <a:ext cx="5276850" cy="1047750"/>
            </a:xfrm>
            <a:prstGeom prst="roundRect">
              <a:avLst>
                <a:gd name="adj" fmla="val 12727"/>
              </a:avLst>
            </a:prstGeom>
            <a:solidFill>
              <a:srgbClr val="121C2E"/>
            </a:solidFill>
            <a:ln w="9525">
              <a:solidFill>
                <a:srgbClr val="1E3A5F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6248400" y="4267200"/>
              <a:ext cx="38100" cy="1047750"/>
            </a:xfrm>
            <a:prstGeom prst="roundRect">
              <a:avLst>
                <a:gd name="adj" fmla="val 50000"/>
              </a:avLst>
            </a:prstGeom>
            <a:solidFill>
              <a:srgbClr val="60A5FA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6544818" y="4546282"/>
              <a:ext cx="90525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换模型时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6547104" y="4994910"/>
              <a:ext cx="243535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保留同一划分与指标表，才可比较</a:t>
              </a:r>
            </a:p>
          </p:txBody>
        </p:sp>
      </p:grpSp>
      <p:grpSp>
        <p:nvGrpSpPr>
          <p:cNvPr id="35" name="demo-note"/>
          <p:cNvGrpSpPr/>
          <p:nvPr/>
        </p:nvGrpSpPr>
        <p:grpSpPr>
          <a:xfrm>
            <a:off x="908685" y="5650706"/>
            <a:ext cx="4534662" cy="220028"/>
            <a:chOff x="908685" y="5650706"/>
            <a:chExt cx="4534662" cy="220028"/>
          </a:xfrm>
        </p:grpSpPr>
        <p:sp>
          <p:nvSpPr>
            <p:cNvPr id="34" name="TextBox 34"/>
            <p:cNvSpPr txBox="1"/>
            <p:nvPr/>
          </p:nvSpPr>
          <p:spPr>
            <a:xfrm>
              <a:off x="908685" y="5650706"/>
              <a:ext cx="453466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FBBF24"/>
                  </a:solidFill>
                  <a:latin typeface="+mn-lt"/>
                  <a:ea typeface="+mn-ea"/>
                  <a:cs typeface="+mn-cs"/>
                </a:rPr>
                <a:t>示例：这句是给下一位读者的：每个数字都能追溯到库或实验记录。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-grid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762000" y="0"/>
                </a:moveTo>
                <a:lnTo>
                  <a:pt x="762000" y="6858000"/>
                </a:lnTo>
                <a:moveTo>
                  <a:pt x="1524000" y="0"/>
                </a:moveTo>
                <a:lnTo>
                  <a:pt x="1524000" y="6858000"/>
                </a:lnTo>
                <a:moveTo>
                  <a:pt x="2286000" y="0"/>
                </a:moveTo>
                <a:lnTo>
                  <a:pt x="2286000" y="6858000"/>
                </a:lnTo>
                <a:moveTo>
                  <a:pt x="3048000" y="0"/>
                </a:moveTo>
                <a:lnTo>
                  <a:pt x="3048000" y="6858000"/>
                </a:lnTo>
                <a:moveTo>
                  <a:pt x="3810000" y="0"/>
                </a:moveTo>
                <a:lnTo>
                  <a:pt x="3810000" y="6858000"/>
                </a:lnTo>
                <a:moveTo>
                  <a:pt x="4572000" y="0"/>
                </a:moveTo>
                <a:lnTo>
                  <a:pt x="4572000" y="6858000"/>
                </a:lnTo>
                <a:moveTo>
                  <a:pt x="5334000" y="0"/>
                </a:moveTo>
                <a:lnTo>
                  <a:pt x="5334000" y="6858000"/>
                </a:lnTo>
                <a:moveTo>
                  <a:pt x="6096000" y="0"/>
                </a:moveTo>
                <a:lnTo>
                  <a:pt x="6096000" y="6858000"/>
                </a:lnTo>
                <a:moveTo>
                  <a:pt x="6858000" y="0"/>
                </a:moveTo>
                <a:lnTo>
                  <a:pt x="6858000" y="6858000"/>
                </a:lnTo>
                <a:moveTo>
                  <a:pt x="7620000" y="0"/>
                </a:moveTo>
                <a:lnTo>
                  <a:pt x="7620000" y="6858000"/>
                </a:lnTo>
                <a:moveTo>
                  <a:pt x="8382000" y="0"/>
                </a:moveTo>
                <a:lnTo>
                  <a:pt x="8382000" y="6858000"/>
                </a:lnTo>
                <a:moveTo>
                  <a:pt x="9144000" y="0"/>
                </a:moveTo>
                <a:lnTo>
                  <a:pt x="9144000" y="6858000"/>
                </a:lnTo>
                <a:moveTo>
                  <a:pt x="9906000" y="0"/>
                </a:moveTo>
                <a:lnTo>
                  <a:pt x="9906000" y="6858000"/>
                </a:lnTo>
                <a:moveTo>
                  <a:pt x="10668000" y="0"/>
                </a:moveTo>
                <a:lnTo>
                  <a:pt x="10668000" y="6858000"/>
                </a:lnTo>
                <a:moveTo>
                  <a:pt x="11430000" y="0"/>
                </a:moveTo>
                <a:lnTo>
                  <a:pt x="11430000" y="6858000"/>
                </a:lnTo>
                <a:moveTo>
                  <a:pt x="0" y="857250"/>
                </a:moveTo>
                <a:lnTo>
                  <a:pt x="12192000" y="857250"/>
                </a:lnTo>
                <a:moveTo>
                  <a:pt x="0" y="1714500"/>
                </a:moveTo>
                <a:lnTo>
                  <a:pt x="12192000" y="1714500"/>
                </a:lnTo>
                <a:moveTo>
                  <a:pt x="0" y="2571750"/>
                </a:moveTo>
                <a:lnTo>
                  <a:pt x="12192000" y="2571750"/>
                </a:lnTo>
                <a:moveTo>
                  <a:pt x="0" y="3429000"/>
                </a:moveTo>
                <a:lnTo>
                  <a:pt x="12192000" y="3429000"/>
                </a:lnTo>
                <a:moveTo>
                  <a:pt x="0" y="4286250"/>
                </a:moveTo>
                <a:lnTo>
                  <a:pt x="12192000" y="4286250"/>
                </a:lnTo>
                <a:moveTo>
                  <a:pt x="0" y="5143500"/>
                </a:moveTo>
                <a:lnTo>
                  <a:pt x="12192000" y="5143500"/>
                </a:lnTo>
                <a:moveTo>
                  <a:pt x="0" y="6000750"/>
                </a:moveTo>
                <a:lnTo>
                  <a:pt x="12192000" y="6000750"/>
                </a:lnTo>
              </a:path>
            </a:pathLst>
          </a:custGeom>
          <a:noFill/>
          <a:ln w="9525">
            <a:solidFill>
              <a:srgbClr val="17293F">
                <a:alpha val="50000"/>
              </a:srgbClr>
            </a:solidFill>
          </a:ln>
        </p:spPr>
      </p:sp>
      <p:sp>
        <p:nvSpPr>
          <p:cNvPr id="3" name="ending-trace"/>
          <p:cNvSpPr/>
          <p:nvPr/>
        </p:nvSpPr>
        <p:spPr>
          <a:xfrm>
            <a:off x="0" y="2381250"/>
            <a:ext cx="12192000" cy="2095500"/>
          </a:xfrm>
          <a:custGeom>
            <a:avLst/>
            <a:gdLst/>
            <a:ahLst/>
            <a:cxnLst/>
            <a:rect l="l" t="t" r="r" b="b"/>
            <a:pathLst>
              <a:path w="12192000" h="2095500">
                <a:moveTo>
                  <a:pt x="0" y="0"/>
                </a:moveTo>
                <a:lnTo>
                  <a:pt x="12192000" y="2095500"/>
                </a:lnTo>
              </a:path>
            </a:pathLst>
          </a:custGeom>
          <a:noFill/>
          <a:ln w="19050">
            <a:solidFill>
              <a:srgbClr val="16324D"/>
            </a:solidFill>
          </a:ln>
        </p:spPr>
      </p:sp>
      <p:grpSp>
        <p:nvGrpSpPr>
          <p:cNvPr id="5" name="ending-kicker"/>
          <p:cNvGrpSpPr/>
          <p:nvPr/>
        </p:nvGrpSpPr>
        <p:grpSpPr>
          <a:xfrm>
            <a:off x="888492" y="2197418"/>
            <a:ext cx="1305611" cy="264033"/>
            <a:chOff x="888492" y="2197418"/>
            <a:chExt cx="1305611" cy="264033"/>
          </a:xfrm>
        </p:grpSpPr>
        <p:sp>
          <p:nvSpPr>
            <p:cNvPr id="4" name="TextBox 4"/>
            <p:cNvSpPr txBox="1"/>
            <p:nvPr/>
          </p:nvSpPr>
          <p:spPr>
            <a:xfrm>
              <a:off x="888492" y="2197418"/>
              <a:ext cx="130561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spc="300" dirty="0">
                  <a:solidFill>
                    <a:srgbClr val="22D3EE"/>
                  </a:solidFill>
                  <a:latin typeface="+mj-lt"/>
                  <a:ea typeface="+mj-ea"/>
                  <a:cs typeface="+mj-cs"/>
                </a:rPr>
                <a:t>// STATUS</a:t>
              </a:r>
            </a:p>
          </p:txBody>
        </p:sp>
      </p:grpSp>
      <p:grpSp>
        <p:nvGrpSpPr>
          <p:cNvPr id="7" name="ending-headline"/>
          <p:cNvGrpSpPr/>
          <p:nvPr/>
        </p:nvGrpSpPr>
        <p:grpSpPr>
          <a:xfrm>
            <a:off x="857250" y="2907030"/>
            <a:ext cx="4480560" cy="1276350"/>
            <a:chOff x="857250" y="2907030"/>
            <a:chExt cx="4480560" cy="1276350"/>
          </a:xfrm>
        </p:grpSpPr>
        <p:sp>
          <p:nvSpPr>
            <p:cNvPr id="6" name="TextBox 6"/>
            <p:cNvSpPr txBox="1"/>
            <p:nvPr/>
          </p:nvSpPr>
          <p:spPr>
            <a:xfrm>
              <a:off x="857250" y="2907030"/>
              <a:ext cx="4480560" cy="12763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6600" b="1" dirty="0">
                  <a:solidFill>
                    <a:srgbClr val="A3E635"/>
                  </a:solidFill>
                  <a:latin typeface="+mn-lt"/>
                  <a:ea typeface="+mn-ea"/>
                  <a:cs typeface="+mn-cs"/>
                </a:rPr>
                <a:t>本机已生成</a:t>
              </a:r>
            </a:p>
          </p:txBody>
        </p:sp>
      </p:grpSp>
      <p:grpSp>
        <p:nvGrpSpPr>
          <p:cNvPr id="9" name="ending-status"/>
          <p:cNvGrpSpPr/>
          <p:nvPr/>
        </p:nvGrpSpPr>
        <p:grpSpPr>
          <a:xfrm>
            <a:off x="907161" y="4284821"/>
            <a:ext cx="7818547" cy="278702"/>
            <a:chOff x="907161" y="4284821"/>
            <a:chExt cx="7818547" cy="278702"/>
          </a:xfrm>
        </p:grpSpPr>
        <p:sp>
          <p:nvSpPr>
            <p:cNvPr id="8" name="TextBox 8"/>
            <p:cNvSpPr txBox="1"/>
            <p:nvPr/>
          </p:nvSpPr>
          <p:spPr>
            <a:xfrm>
              <a:off x="907161" y="4284821"/>
              <a:ext cx="7818547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7DD3FC"/>
                  </a:solidFill>
                  <a:latin typeface="+mj-lt"/>
                  <a:ea typeface="+mj-ea"/>
                  <a:cs typeface="+mj-cs"/>
                </a:rPr>
                <a:t>environment=windows · ppt-master venv python · 12 页 · 真 PowerPoint 已开档</a:t>
              </a:r>
            </a:p>
          </p:txBody>
        </p:sp>
      </p:grpSp>
      <p:grpSp>
        <p:nvGrpSpPr>
          <p:cNvPr id="11" name="ending-rule"/>
          <p:cNvGrpSpPr/>
          <p:nvPr/>
        </p:nvGrpSpPr>
        <p:grpSpPr>
          <a:xfrm>
            <a:off x="914400" y="4686300"/>
            <a:ext cx="2857500" cy="19050"/>
            <a:chOff x="914400" y="4686300"/>
            <a:chExt cx="2857500" cy="19050"/>
          </a:xfrm>
        </p:grpSpPr>
        <p:sp>
          <p:nvSpPr>
            <p:cNvPr id="10" name="Rectangle 10"/>
            <p:cNvSpPr/>
            <p:nvPr/>
          </p:nvSpPr>
          <p:spPr>
            <a:xfrm>
              <a:off x="914400" y="4686300"/>
              <a:ext cx="2857500" cy="19050"/>
            </a:xfrm>
            <a:prstGeom prst="rect">
              <a:avLst/>
            </a:prstGeom>
            <a:solidFill>
              <a:srgbClr val="A3E635">
                <a:alpha val="70000"/>
              </a:srgbClr>
            </a:solidFill>
            <a:ln>
              <a:noFill/>
            </a:ln>
          </p:spPr>
        </p:sp>
      </p:grpSp>
      <p:grpSp>
        <p:nvGrpSpPr>
          <p:cNvPr id="13" name="ending-note"/>
          <p:cNvGrpSpPr/>
          <p:nvPr/>
        </p:nvGrpSpPr>
        <p:grpSpPr>
          <a:xfrm>
            <a:off x="907542" y="5035868"/>
            <a:ext cx="8764353" cy="264033"/>
            <a:chOff x="907542" y="5035868"/>
            <a:chExt cx="8764353" cy="264033"/>
          </a:xfrm>
        </p:grpSpPr>
        <p:sp>
          <p:nvSpPr>
            <p:cNvPr id="12" name="TextBox 12"/>
            <p:cNvSpPr txBox="1"/>
            <p:nvPr/>
          </p:nvSpPr>
          <p:spPr>
            <a:xfrm>
              <a:off x="907542" y="5035868"/>
              <a:ext cx="876435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下一步：把示例数字换成自己的肽库统计（页源 code/make_deck_umami.py），再双击 make-deck.cmd。</a:t>
              </a:r>
            </a:p>
          </p:txBody>
        </p:sp>
      </p:grpSp>
      <p:grpSp>
        <p:nvGrpSpPr>
          <p:cNvPr id="15" name="ending-paths"/>
          <p:cNvGrpSpPr/>
          <p:nvPr/>
        </p:nvGrpSpPr>
        <p:grpSpPr>
          <a:xfrm>
            <a:off x="908304" y="5680710"/>
            <a:ext cx="6287083" cy="234696"/>
            <a:chOff x="908304" y="5680710"/>
            <a:chExt cx="6287083" cy="234696"/>
          </a:xfrm>
        </p:grpSpPr>
        <p:sp>
          <p:nvSpPr>
            <p:cNvPr id="14" name="TextBox 14"/>
            <p:cNvSpPr txBox="1"/>
            <p:nvPr/>
          </p:nvSpPr>
          <p:spPr>
            <a:xfrm>
              <a:off x="908304" y="5680710"/>
              <a:ext cx="628708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64748B"/>
                  </a:solidFill>
                  <a:latin typeface="+mj-lt"/>
                  <a:ea typeface="+mj-ea"/>
                  <a:cs typeface="+mj-cs"/>
                </a:rPr>
                <a:t>deck：ppt-master\out\DECK_umami_01a0aa00_v1.pptx · 证据：results/umami/</a:t>
              </a:r>
            </a:p>
          </p:txBody>
        </p:sp>
      </p:grpSp>
      <p:sp>
        <p:nvSpPr>
          <p:cNvPr id="16" name="footer-left"/>
          <p:cNvSpPr txBox="1"/>
          <p:nvPr/>
        </p:nvSpPr>
        <p:spPr>
          <a:xfrm>
            <a:off x="908304" y="6271260"/>
            <a:ext cx="4524502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200" dirty="0">
                <a:solidFill>
                  <a:srgbClr val="64748B"/>
                </a:solidFill>
                <a:latin typeface="+mj-lt"/>
                <a:ea typeface="+mj-ea"/>
                <a:cs typeface="+mj-cs"/>
              </a:rPr>
              <a:t>umami peptides · ppt-master deck · LAPTOP-R77M5D6M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theme/theme1.xml><?xml version="1.0" encoding="utf-8"?>
<a:theme xmlns:a="http://schemas.openxmlformats.org/drawingml/2006/main" name="umami-01a0aa00">
  <a:themeElements>
    <a:clrScheme name="umami-01a0aa00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umami-01a0aa00">
      <a:majorFont>
        <a:latin typeface="Consolas"/>
        <a:ea typeface="Microsoft YaHei"/>
        <a:cs typeface="Consolas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Segoe UI"/>
        <a:ea typeface="Microsoft YaHei"/>
        <a:cs typeface="Segoe UI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ami-01a0aa00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On-screen Show (16:9)</PresentationFormat>
  <Paragraphs>0</Paragraphs>
  <Slides>12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dc:language>zh-CN</dc:language>
  <cp:lastModifiedBy/>
  <cp:revision>1</cp:revision>
  <dcterms:created xsi:type="dcterms:W3CDTF">2026-09-17T01:01:58Z</dcterms:created>
  <dcterms:modified xsi:type="dcterms:W3CDTF">2026-09-17T01:01:58Z</dcterms:modified>
  <cp:category/>
  <cp:contentStatus/>
</cp:coreProperties>
</file>