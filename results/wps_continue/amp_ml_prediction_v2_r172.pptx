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机器学习预测抗菌肽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从序列特征工程到蛋白质语言模型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8534400" y="342900"/>
            <a:ext cx="5118100" cy="28702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53600" y="1231900"/>
            <a:ext cx="3657600" cy="20574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670800" y="1638300"/>
            <a:ext cx="2679700" cy="14986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23900" y="4241800"/>
            <a:ext cx="6096000" cy="8890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方法综述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23900" y="5486400"/>
            <a:ext cx="10718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Agent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WPS COM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原生图形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每个元素均可编辑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背景：为什么需要新的抗菌武器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抗生素耐药（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AMR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）威胁持续升级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传统抗生素发现管线趋于枯竭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3556000"/>
            <a:ext cx="3289300" cy="24638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每年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AMR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直接死亡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Lancet 2019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18000" y="3556000"/>
            <a:ext cx="3289300" cy="24638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管线枯竭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新抗生素发现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越来越少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4800" y="3556000"/>
            <a:ext cx="3530600" cy="2463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先天免疫多肽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破膜杀菌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不易耐药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抗菌肽是什么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10–50 aa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带正电荷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两亲性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静电吸附细菌负电膜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插膜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破膜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3900" y="4521200"/>
            <a:ext cx="3657600" cy="342900"/>
          </a:xfrm>
          <a:prstGeom prst="rect">
            <a:avLst/>
          </a:prstGeom>
          <a:solidFill>
            <a:srgbClr val="C8D0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细菌细胞膜（带负电）</a:t>
            </a:r>
            <a:endParaRPr lang="zh-CN" altLang="en-US"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2192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9431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6797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左箭头 10"/>
          <p:cNvSpPr/>
          <p:nvPr/>
        </p:nvSpPr>
        <p:spPr>
          <a:xfrm>
            <a:off x="13335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>
            <a:off x="20701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>
            <a:off x="27940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118100" y="37719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桶板模型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Barrel-stave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118100" y="45847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环孔模型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Toroidal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118100" y="54102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地毯模型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Carpet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34400" y="3771900"/>
            <a:ext cx="2921000" cy="23241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附加活性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免疫调节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抗病毒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抗肿瘤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数据库与数据集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正样本：实验验证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；负样本：非抗菌肽片段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打乱序列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870200"/>
          <a:ext cx="10718800" cy="328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700"/>
                <a:gridCol w="3632200"/>
                <a:gridCol w="5143500"/>
              </a:tblGrid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特色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APD3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天然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百科式收录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注释详尽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活性标注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DBAASP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结构与活性数据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MIC/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盐稳定性等实验参数最全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CAMP3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多家族多物种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家族分类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预测工具链接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LAMP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综合数据库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覆盖面广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定期更新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ADAPT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功能标注库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活性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毒性标签丰富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723900" y="2057400"/>
            <a:ext cx="10718800" cy="6096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去冗余：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CD-HIT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一致性）防止同源序列泄漏到测试集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特征工程：序列描述符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数十维手工特征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重要性筛选（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mRMR / RF importance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2870200"/>
            <a:ext cx="51181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组成特征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AAC · DPC · g-gap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二肽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CKSAAP</a:t>
            </a:r>
            <a:endParaRPr lang="en-US" altLang="zh-CN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210300" y="2870200"/>
            <a:ext cx="52324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伪氨基酸组成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PseAAC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融入残基相关性与理化离散度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23900" y="4660900"/>
            <a:ext cx="51181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理化性质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净电荷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疏水性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疏水矩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Boman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指数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210300" y="4660900"/>
            <a:ext cx="52324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末端编码（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iAMPpred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N/C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端片段特征捕捉局部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motif</a:t>
            </a:r>
            <a:endParaRPr lang="en-US" altLang="zh-CN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经典机器学习模型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小样本友好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上限取决于人工特征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743200"/>
          <a:ext cx="10718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2565400"/>
                <a:gridCol w="2997200"/>
                <a:gridCol w="3429000"/>
              </a:tblGrid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代表工作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特点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SVM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iAMPpred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末端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理化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小样本强基线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随机森林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AmPEP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类特征融合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抗过拟合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XGBoost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多用于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MIC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梯度提升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特征重要性可读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逻辑回归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通用基线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任意描述符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最可解释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深度学习方法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端到端学习，无需手工特征（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Deep-AmPEP30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：短肽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CNN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标杆）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3556000"/>
            <a:ext cx="1828800" cy="14986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6162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098800" y="3556000"/>
            <a:ext cx="1828800" cy="14986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One-hot/DPC</a:t>
            </a:r>
            <a:endParaRPr lang="en-US" alt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9911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486400" y="3556000"/>
            <a:ext cx="1828800" cy="14986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CNN /
BiLSTM</a:t>
            </a:r>
            <a:endParaRPr lang="en-US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73660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861300" y="3556000"/>
            <a:ext cx="1828800" cy="1498600"/>
          </a:xfrm>
          <a:prstGeom prst="roundRect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定位关键残基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97536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236200" y="3556000"/>
            <a:ext cx="1219200" cy="1498600"/>
          </a:xfrm>
          <a:prstGeom prst="round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
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23900" y="5486400"/>
            <a:ext cx="10718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代表：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AMPscanner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Deep-AmPEP30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≤30 aa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短肽）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LSTM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变体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蛋白质语言模型时代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预训练表征正在取代人工特征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9200" y="3429000"/>
            <a:ext cx="4381500" cy="889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ESM-2 / ProtT5 / ProtBERT
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（海量序列自监督预训练）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4457700"/>
            <a:ext cx="4381500" cy="889000"/>
          </a:xfrm>
          <a:prstGeom prst="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标注微调（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AMP-BERT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19200" y="5486400"/>
            <a:ext cx="4381500" cy="889000"/>
          </a:xfrm>
          <a:prstGeom prst="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分类头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AMP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活性打分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337300" y="3429000"/>
            <a:ext cx="51181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少样本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零样本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PLM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只训练轻量头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337300" y="4521200"/>
            <a:ext cx="51181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迁移学习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缓解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数据稀缺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337300" y="5613400"/>
            <a:ext cx="5118100" cy="7493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嵌入可复用：聚类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评估体系：怎么才算好模型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交叉验证（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5/10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独立测试集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跨库泛化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743200"/>
          <a:ext cx="4622800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/>
                <a:gridCol w="1524000"/>
                <a:gridCol w="1524000"/>
              </a:tblGrid>
              <a:tr h="956310"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预测非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563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FN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9563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实际非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TN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6096000" y="2743200"/>
            <a:ext cx="2438400" cy="812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灵敏度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775700" y="2743200"/>
            <a:ext cx="2679700" cy="812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特异度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096000" y="3771900"/>
            <a:ext cx="2438400" cy="8128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MCC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（首选）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775700" y="3771900"/>
            <a:ext cx="2679700" cy="8128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AUC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096000" y="4800600"/>
            <a:ext cx="5359400" cy="13716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常见坑：不平衡数据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Accuracy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虚高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去冗余不足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同源泄漏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高估性能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挑战与陷阱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从预测到成药还有很长的路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>
            <a:off x="965200" y="3213100"/>
            <a:ext cx="723900" cy="546100"/>
          </a:xfrm>
          <a:prstGeom prst="triangl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943100" y="3009900"/>
            <a:ext cx="36576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负样本定义模糊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未验证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无活性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>
            <a:off x="6337300" y="3213100"/>
            <a:ext cx="723900" cy="546100"/>
          </a:xfrm>
          <a:prstGeom prst="triangl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315200" y="3009900"/>
            <a:ext cx="41402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数据集偏差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物种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测定方法不统一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965200" y="4800600"/>
            <a:ext cx="723900" cy="546100"/>
          </a:xfrm>
          <a:prstGeom prst="triangl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943100" y="4584700"/>
            <a:ext cx="36576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体外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体内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毒性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半衰期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6337300" y="4800600"/>
            <a:ext cx="723900" cy="546100"/>
          </a:xfrm>
          <a:prstGeom prst="triangl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315200" y="4584700"/>
            <a:ext cx="41402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回归数据稀缺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远少于二分类标注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从预测到从头设计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HYDRA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Nat. Biomed. Eng. 2023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）：生成式设计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ML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过滤批量获得有效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</a:t>
            </a:r>
            <a:endParaRPr lang="en-US" altLang="zh-CN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965200" y="3289300"/>
            <a:ext cx="2438400" cy="952500"/>
          </a:xfrm>
          <a:prstGeom prst="roundRect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生成模型设计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VAE · GAN ·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622800" y="3289300"/>
            <a:ext cx="2438400" cy="9525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预测过滤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活性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毒性双目标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80400" y="3289300"/>
            <a:ext cx="2921000" cy="9525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固相合成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622800" y="5346700"/>
            <a:ext cx="6578600" cy="952500"/>
          </a:xfrm>
          <a:prstGeom prst="round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实验验证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反馈迭代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左箭头 10"/>
          <p:cNvSpPr/>
          <p:nvPr/>
        </p:nvSpPr>
        <p:spPr>
          <a:xfrm>
            <a:off x="3467100" y="3632200"/>
            <a:ext cx="1092200" cy="266700"/>
          </a:xfrm>
          <a:prstGeom prst="lef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7124700" y="3632200"/>
            <a:ext cx="1092200" cy="266700"/>
          </a:xfrm>
          <a:prstGeom prst="righ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>
            <a:off x="9499600" y="4241800"/>
            <a:ext cx="482600" cy="1092200"/>
          </a:xfrm>
          <a:prstGeom prst="lef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943100" y="4521200"/>
            <a:ext cx="1219200" cy="685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多个落地出口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3900" y="3149600"/>
            <a:ext cx="5118100" cy="304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23900" y="3454400"/>
            <a:ext cx="51181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抗感染先导药物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应对超级细菌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10300" y="3149600"/>
            <a:ext cx="5118100" cy="304800"/>
          </a:xfrm>
          <a:prstGeom prst="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210300" y="3454400"/>
            <a:ext cx="52324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医疗器械抗菌涂层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导管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植入物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3900" y="4927600"/>
            <a:ext cx="5118100" cy="304800"/>
          </a:xfrm>
          <a:prstGeom prst="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23900" y="5245100"/>
            <a:ext cx="51181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食品工业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天然防腐剂替代化学品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10300" y="4927600"/>
            <a:ext cx="5232400" cy="304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210300" y="5245100"/>
            <a:ext cx="52324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农业畜牧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抗生素替代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绿色养殖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工程化复现路线图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可落地的五步闭环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609600" y="3429000"/>
            <a:ext cx="2311400" cy="1371600"/>
          </a:xfrm>
          <a:prstGeom prst="chevron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APD3+DBAASP
CD-HIT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2794000" y="3429000"/>
            <a:ext cx="2311400" cy="1371600"/>
          </a:xfrm>
          <a:prstGeom prst="chevron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PseAAC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ESM-2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4991100" y="3429000"/>
            <a:ext cx="2311400" cy="1371600"/>
          </a:xfrm>
          <a:prstGeom prst="chevron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SVM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
CNN / PLM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7188200" y="3429000"/>
            <a:ext cx="2311400" cy="1371600"/>
          </a:xfrm>
          <a:prstGeom prst="chevron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10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CV +
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独立集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跨库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燕尾形 10"/>
          <p:cNvSpPr/>
          <p:nvPr/>
        </p:nvSpPr>
        <p:spPr>
          <a:xfrm>
            <a:off x="9385300" y="3429000"/>
            <a:ext cx="2184400" cy="1371600"/>
          </a:xfrm>
          <a:prstGeom prst="chevron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Web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
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批量打分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09600" y="5346700"/>
            <a:ext cx="10972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本幻灯片由全自动管线生成：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WPS COM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原生图形（形状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箭头），全部可编辑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1092200"/>
            <a:ext cx="3289300" cy="20574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三代方法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各有位置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→PLM</a:t>
            </a:r>
            <a:endParaRPr lang="en-US" alt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18000" y="1092200"/>
            <a:ext cx="3289300" cy="20574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数据治理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与严格评估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比模型花样重要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4800" y="1092200"/>
            <a:ext cx="3530600" cy="20574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生成式设计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+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实验闭环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下一个爆发点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23900" y="3771900"/>
            <a:ext cx="10718800" cy="8890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开源生态持续完善：数据库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预训练权重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基准测试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438400" y="5143500"/>
            <a:ext cx="7315200" cy="9525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PPTX</a:t>
            </a:r>
            <a:endParaRPr lang="en-US" altLang="zh-CN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WPS 演示</Application>
  <PresentationFormat>宽屏</PresentationFormat>
  <Paragraphs>286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BNI</dc:creator>
  <cp:lastModifiedBy>BNI</cp:lastModifiedBy>
  <cp:revision>158</cp:revision>
  <dcterms:created xsi:type="dcterms:W3CDTF">2019-06-19T02:08:00Z</dcterms:created>
  <dcterms:modified xsi:type="dcterms:W3CDTF">2026-10-02T02:19:32Z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2EC8F4E892D6489CA9EE84B304DABF30_13</vt:lpwstr>
  </property>
</Properties>
</file>