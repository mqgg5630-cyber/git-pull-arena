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zh-CN" altLang="en-US" sz="28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机器学习预测抗菌肽</a:t>
            </a:r>
            <a:endParaRPr lang="zh-CN" altLang="en-US" sz="28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pPr algn="l"/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从序列特征工程到蛋白质语言模型</a:t>
            </a:r>
            <a:endParaRPr lang="zh-CN" altLang="en-US" sz="16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241300" cy="6858000"/>
          </a:xfrm>
          <a:prstGeom prst="rect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6540500"/>
            <a:ext cx="12192000" cy="304800"/>
          </a:xfrm>
          <a:prstGeom prst="rect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1277600" y="6438900"/>
            <a:ext cx="609600" cy="609600"/>
          </a:xfrm>
          <a:prstGeom prst="ellipse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en-US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en-US"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8534400" y="342900"/>
            <a:ext cx="5118100" cy="2870200"/>
          </a:xfrm>
          <a:prstGeom prst="ellipse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9753600" y="1231900"/>
            <a:ext cx="3657600" cy="2057400"/>
          </a:xfrm>
          <a:prstGeom prst="ellipse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7670800" y="1638300"/>
            <a:ext cx="2679700" cy="1498600"/>
          </a:xfrm>
          <a:prstGeom prst="ellipse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723900" y="4241800"/>
            <a:ext cx="6096000" cy="889000"/>
          </a:xfrm>
          <a:prstGeom prst="roundRect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方法综述</a:t>
            </a:r>
            <a:r>
              <a:rPr lang="en-US" altLang="zh-CN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挑战</a:t>
            </a:r>
            <a:r>
              <a:rPr lang="en-US" altLang="zh-CN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</a:t>
            </a:r>
            <a:endParaRPr lang="zh-CN" altLang="en-US"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723900" y="5486400"/>
            <a:ext cx="10718800" cy="685800"/>
          </a:xfrm>
          <a:prstGeom prst="roundRect">
            <a:avLst/>
          </a:prstGeom>
          <a:solidFill>
            <a:srgbClr val="F2F6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en-US" altLang="en-US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Arena Agent </a:t>
            </a:r>
            <a:r>
              <a:rPr lang="zh-CN" altLang="en-US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全自动生成</a:t>
            </a:r>
            <a:r>
              <a:rPr lang="en-US" altLang="zh-CN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WPS COM </a:t>
            </a:r>
            <a:r>
              <a:rPr lang="zh-CN" altLang="en-US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原生图形</a:t>
            </a:r>
            <a:r>
              <a:rPr lang="en-US" altLang="zh-CN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每个元素均可编辑</a:t>
            </a:r>
            <a:endParaRPr lang="zh-CN" altLang="en-US" sz="12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zh-CN" altLang="en-US" sz="28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背景：为什么需要新的抗菌武器</a:t>
            </a:r>
            <a:endParaRPr lang="zh-CN" altLang="en-US" sz="28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pPr algn="l"/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抗生素耐药（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AMR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）威胁持续升级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传统抗生素发现管线趋于枯竭</a:t>
            </a:r>
            <a:endParaRPr lang="zh-CN" altLang="en-US" sz="16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241300" cy="6858000"/>
          </a:xfrm>
          <a:prstGeom prst="rect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6540500"/>
            <a:ext cx="12192000" cy="304800"/>
          </a:xfrm>
          <a:prstGeom prst="rect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1277600" y="6438900"/>
            <a:ext cx="609600" cy="609600"/>
          </a:xfrm>
          <a:prstGeom prst="ellipse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en-US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en-US"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723900" y="3556000"/>
            <a:ext cx="3289300" cy="2463800"/>
          </a:xfrm>
          <a:prstGeom prst="roundRect">
            <a:avLst/>
          </a:prstGeom>
          <a:solidFill>
            <a:srgbClr val="C0392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en-US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127 </a:t>
            </a:r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</a:t>
            </a:r>
            <a:r>
              <a:rPr lang="en-US" altLang="zh-CN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每年</a:t>
            </a:r>
            <a:r>
              <a:rPr lang="en-US" altLang="zh-CN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AMR </a:t>
            </a:r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直接死亡</a:t>
            </a:r>
            <a:r>
              <a:rPr lang="en-US" altLang="zh-CN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Lancet 2019</a:t>
            </a:r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4318000" y="3556000"/>
            <a:ext cx="3289300" cy="2463800"/>
          </a:xfrm>
          <a:prstGeom prst="roundRect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管线枯竭</a:t>
            </a:r>
            <a:r>
              <a:rPr lang="en-US" altLang="zh-CN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新抗生素发现</a:t>
            </a:r>
            <a:r>
              <a:rPr lang="en-US" altLang="zh-CN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越来越少</a:t>
            </a:r>
            <a:endParaRPr lang="zh-CN" altLang="en-US"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7924800" y="3556000"/>
            <a:ext cx="3530600" cy="2463800"/>
          </a:xfrm>
          <a:prstGeom prst="roundRect">
            <a:avLst/>
          </a:prstGeom>
          <a:solidFill>
            <a:srgbClr val="008C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en-US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AMP </a:t>
            </a:r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机会</a:t>
            </a:r>
            <a:r>
              <a:rPr lang="en-US" altLang="zh-CN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先天免疫多肽</a:t>
            </a:r>
            <a:r>
              <a:rPr lang="en-US" altLang="zh-CN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破膜杀菌</a:t>
            </a:r>
            <a:r>
              <a:rPr lang="en-US" altLang="zh-CN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不易耐药</a:t>
            </a:r>
            <a:endParaRPr lang="zh-CN" altLang="en-US"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zh-CN" altLang="en-US" sz="28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抗菌肽是什么</a:t>
            </a:r>
            <a:endParaRPr lang="zh-CN" altLang="en-US" sz="28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pPr algn="l"/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通常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10–50 aa ·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带正电荷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两亲性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静电吸附细菌负电膜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插膜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破膜</a:t>
            </a:r>
            <a:endParaRPr lang="zh-CN" altLang="en-US" sz="16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241300" cy="6858000"/>
          </a:xfrm>
          <a:prstGeom prst="rect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6540500"/>
            <a:ext cx="12192000" cy="304800"/>
          </a:xfrm>
          <a:prstGeom prst="rect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1277600" y="6438900"/>
            <a:ext cx="609600" cy="609600"/>
          </a:xfrm>
          <a:prstGeom prst="ellipse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en-US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en-US"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23900" y="4521200"/>
            <a:ext cx="3657600" cy="342900"/>
          </a:xfrm>
          <a:prstGeom prst="rect">
            <a:avLst/>
          </a:prstGeom>
          <a:solidFill>
            <a:srgbClr val="C8D0D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1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细菌细胞膜（带负电）</a:t>
            </a:r>
            <a:endParaRPr lang="zh-CN" altLang="en-US" sz="11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1219200" y="3771900"/>
            <a:ext cx="609600" cy="342900"/>
          </a:xfrm>
          <a:prstGeom prst="ellipse">
            <a:avLst/>
          </a:prstGeom>
          <a:solidFill>
            <a:srgbClr val="008C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1943100" y="3771900"/>
            <a:ext cx="609600" cy="342900"/>
          </a:xfrm>
          <a:prstGeom prst="ellipse">
            <a:avLst/>
          </a:prstGeom>
          <a:solidFill>
            <a:srgbClr val="008C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2679700" y="3771900"/>
            <a:ext cx="609600" cy="342900"/>
          </a:xfrm>
          <a:prstGeom prst="ellipse">
            <a:avLst/>
          </a:prstGeom>
          <a:solidFill>
            <a:srgbClr val="008C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左箭头 10"/>
          <p:cNvSpPr/>
          <p:nvPr/>
        </p:nvSpPr>
        <p:spPr>
          <a:xfrm>
            <a:off x="1333500" y="4114800"/>
            <a:ext cx="355600" cy="406400"/>
          </a:xfrm>
          <a:prstGeom prst="leftArrow">
            <a:avLst/>
          </a:prstGeom>
          <a:solidFill>
            <a:srgbClr val="008C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左箭头 11"/>
          <p:cNvSpPr/>
          <p:nvPr/>
        </p:nvSpPr>
        <p:spPr>
          <a:xfrm>
            <a:off x="2070100" y="4114800"/>
            <a:ext cx="355600" cy="406400"/>
          </a:xfrm>
          <a:prstGeom prst="leftArrow">
            <a:avLst/>
          </a:prstGeom>
          <a:solidFill>
            <a:srgbClr val="008C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左箭头 12"/>
          <p:cNvSpPr/>
          <p:nvPr/>
        </p:nvSpPr>
        <p:spPr>
          <a:xfrm>
            <a:off x="2794000" y="4114800"/>
            <a:ext cx="355600" cy="406400"/>
          </a:xfrm>
          <a:prstGeom prst="leftArrow">
            <a:avLst/>
          </a:prstGeom>
          <a:solidFill>
            <a:srgbClr val="008C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圆角矩形 13"/>
          <p:cNvSpPr/>
          <p:nvPr/>
        </p:nvSpPr>
        <p:spPr>
          <a:xfrm>
            <a:off x="5118100" y="3771900"/>
            <a:ext cx="2921000" cy="685800"/>
          </a:xfrm>
          <a:prstGeom prst="roundRect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2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桶板模型</a:t>
            </a:r>
            <a:r>
              <a:rPr lang="en-US" altLang="zh-CN" sz="12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Barrel-stave</a:t>
            </a:r>
            <a:endParaRPr lang="en-US" altLang="zh-CN" sz="12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5118100" y="4584700"/>
            <a:ext cx="2921000" cy="685800"/>
          </a:xfrm>
          <a:prstGeom prst="roundRect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2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环孔模型</a:t>
            </a:r>
            <a:r>
              <a:rPr lang="en-US" altLang="zh-CN" sz="12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Toroidal</a:t>
            </a:r>
            <a:endParaRPr lang="en-US" altLang="zh-CN" sz="12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5118100" y="5410200"/>
            <a:ext cx="2921000" cy="685800"/>
          </a:xfrm>
          <a:prstGeom prst="roundRect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2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地毯模型</a:t>
            </a:r>
            <a:r>
              <a:rPr lang="en-US" altLang="zh-CN" sz="12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Carpet</a:t>
            </a:r>
            <a:endParaRPr lang="en-US" altLang="zh-CN" sz="12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8534400" y="3771900"/>
            <a:ext cx="2921000" cy="2324100"/>
          </a:xfrm>
          <a:prstGeom prst="roundRect">
            <a:avLst/>
          </a:prstGeom>
          <a:solidFill>
            <a:srgbClr val="F2F6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附加活性</a:t>
            </a:r>
            <a:r>
              <a:rPr lang="en-US" altLang="zh-CN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免疫调节</a:t>
            </a:r>
            <a:r>
              <a:rPr lang="en-US" altLang="zh-CN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抗病毒</a:t>
            </a:r>
            <a:r>
              <a:rPr lang="en-US" altLang="zh-CN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抗肿瘤</a:t>
            </a:r>
            <a:endParaRPr lang="zh-CN" altLang="en-US" sz="13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zh-CN" altLang="en-US" sz="28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数据库与数据集</a:t>
            </a:r>
            <a:endParaRPr lang="zh-CN" altLang="en-US" sz="28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pPr algn="l"/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正样本：实验验证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AMP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；负样本：非抗菌肽片段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打乱序列</a:t>
            </a:r>
            <a:endParaRPr lang="zh-CN" altLang="en-US" sz="16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241300" cy="6858000"/>
          </a:xfrm>
          <a:prstGeom prst="rect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6540500"/>
            <a:ext cx="12192000" cy="304800"/>
          </a:xfrm>
          <a:prstGeom prst="rect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1277600" y="6438900"/>
            <a:ext cx="609600" cy="609600"/>
          </a:xfrm>
          <a:prstGeom prst="ellipse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en-US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en-US"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7" name="表格 6"/>
          <p:cNvGraphicFramePr/>
          <p:nvPr/>
        </p:nvGraphicFramePr>
        <p:xfrm>
          <a:off x="723900" y="2870200"/>
          <a:ext cx="10718800" cy="3289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7700"/>
                <a:gridCol w="3632200"/>
                <a:gridCol w="5143500"/>
              </a:tblGrid>
              <a:tr h="54800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数据库</a:t>
                      </a:r>
                      <a:endParaRPr lang="zh-CN" altLang="en-US"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定位</a:t>
                      </a:r>
                      <a:endParaRPr lang="zh-CN" altLang="en-US"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特色</a:t>
                      </a:r>
                      <a:endParaRPr lang="zh-CN" altLang="en-US"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54800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APD3</a:t>
                      </a:r>
                      <a:endParaRPr lang="en-US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天然</a:t>
                      </a:r>
                      <a:r>
                        <a:rPr lang="en-US" altLang="zh-CN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AMP </a:t>
                      </a: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百科式收录</a:t>
                      </a:r>
                      <a:endParaRPr lang="zh-CN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注释详尽</a:t>
                      </a:r>
                      <a:r>
                        <a:rPr lang="en-US" altLang="zh-CN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· </a:t>
                      </a: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长度</a:t>
                      </a:r>
                      <a:r>
                        <a:rPr lang="en-US" altLang="zh-CN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</a:t>
                      </a: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活性标注</a:t>
                      </a:r>
                      <a:endParaRPr lang="zh-CN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</a:tr>
              <a:tr h="54800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DBAASP</a:t>
                      </a:r>
                      <a:endParaRPr lang="en-US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结构与活性数据</a:t>
                      </a:r>
                      <a:endParaRPr lang="zh-CN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MIC/</a:t>
                      </a: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盐稳定性等实验参数最全</a:t>
                      </a:r>
                      <a:endParaRPr lang="zh-CN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</a:tr>
              <a:tr h="54800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CAMP3</a:t>
                      </a:r>
                      <a:endParaRPr lang="en-US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多家族多物种</a:t>
                      </a:r>
                      <a:endParaRPr lang="zh-CN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家族分类</a:t>
                      </a:r>
                      <a:r>
                        <a:rPr lang="en-US" altLang="zh-CN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+ </a:t>
                      </a: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预测工具链接</a:t>
                      </a:r>
                      <a:endParaRPr lang="zh-CN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</a:tr>
              <a:tr h="54800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LAMP</a:t>
                      </a:r>
                      <a:endParaRPr lang="en-US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综合数据库</a:t>
                      </a:r>
                      <a:endParaRPr lang="zh-CN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覆盖面广</a:t>
                      </a:r>
                      <a:r>
                        <a:rPr lang="en-US" altLang="zh-CN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· </a:t>
                      </a: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定期更新</a:t>
                      </a:r>
                      <a:endParaRPr lang="zh-CN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</a:tr>
              <a:tr h="54800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ADAPT</a:t>
                      </a:r>
                      <a:endParaRPr lang="en-US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功能标注库</a:t>
                      </a:r>
                      <a:endParaRPr lang="zh-CN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活性</a:t>
                      </a:r>
                      <a:r>
                        <a:rPr lang="en-US" altLang="zh-CN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</a:t>
                      </a: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毒性标签丰富</a:t>
                      </a:r>
                      <a:endParaRPr lang="zh-CN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圆角矩形 7"/>
          <p:cNvSpPr/>
          <p:nvPr/>
        </p:nvSpPr>
        <p:spPr>
          <a:xfrm>
            <a:off x="723900" y="2057400"/>
            <a:ext cx="10718800" cy="609600"/>
          </a:xfrm>
          <a:prstGeom prst="roundRect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去冗余：</a:t>
            </a:r>
            <a:r>
              <a:rPr lang="en-US" alt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CD-HIT</a:t>
            </a:r>
            <a:r>
              <a:rPr lang="zh-CN" alt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40% </a:t>
            </a:r>
            <a:r>
              <a:rPr lang="zh-CN" alt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一致性）防止同源序列泄漏到测试集</a:t>
            </a:r>
            <a:endParaRPr lang="zh-CN" altLang="en-US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zh-CN" altLang="en-US" sz="28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特征工程：序列描述符</a:t>
            </a:r>
            <a:endParaRPr lang="zh-CN" altLang="en-US" sz="28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pPr algn="l"/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数十维手工特征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重要性筛选（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mRMR / RF importance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 sz="16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241300" cy="6858000"/>
          </a:xfrm>
          <a:prstGeom prst="rect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6540500"/>
            <a:ext cx="12192000" cy="304800"/>
          </a:xfrm>
          <a:prstGeom prst="rect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1277600" y="6438900"/>
            <a:ext cx="609600" cy="609600"/>
          </a:xfrm>
          <a:prstGeom prst="ellipse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en-US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altLang="en-US"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723900" y="2870200"/>
            <a:ext cx="5118100" cy="1498600"/>
          </a:xfrm>
          <a:prstGeom prst="roundRect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组成特征</a:t>
            </a:r>
            <a:r>
              <a:rPr lang="en-US" altLang="zh-CN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AAC · DPC · g-gap </a:t>
            </a:r>
            <a:r>
              <a:rPr lang="zh-CN" altLang="en-US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二肽</a:t>
            </a:r>
            <a:r>
              <a:rPr lang="en-US" altLang="zh-CN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CKSAAP</a:t>
            </a:r>
            <a:endParaRPr lang="en-US" altLang="zh-CN" sz="13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6210300" y="2870200"/>
            <a:ext cx="5232400" cy="1498600"/>
          </a:xfrm>
          <a:prstGeom prst="roundRect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伪氨基酸组成</a:t>
            </a:r>
            <a:r>
              <a:rPr lang="en-US" altLang="zh-CN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PseAAC
</a:t>
            </a:r>
            <a:r>
              <a:rPr lang="zh-CN" altLang="en-US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融入残基相关性与理化离散度</a:t>
            </a:r>
            <a:endParaRPr lang="zh-CN" altLang="en-US" sz="13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723900" y="4660900"/>
            <a:ext cx="5118100" cy="1498600"/>
          </a:xfrm>
          <a:prstGeom prst="roundRect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理化性质</a:t>
            </a:r>
            <a:r>
              <a:rPr lang="en-US" altLang="zh-CN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净电荷</a:t>
            </a:r>
            <a:r>
              <a:rPr lang="en-US" altLang="zh-CN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疏水性</a:t>
            </a:r>
            <a:r>
              <a:rPr lang="en-US" altLang="zh-CN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疏水矩</a:t>
            </a:r>
            <a:r>
              <a:rPr lang="en-US" altLang="zh-CN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Boman </a:t>
            </a:r>
            <a:r>
              <a:rPr lang="zh-CN" altLang="en-US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指数</a:t>
            </a:r>
            <a:endParaRPr lang="zh-CN" altLang="en-US" sz="13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6210300" y="4660900"/>
            <a:ext cx="5232400" cy="1498600"/>
          </a:xfrm>
          <a:prstGeom prst="roundRect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末端编码（</a:t>
            </a:r>
            <a:r>
              <a:rPr lang="en-US" altLang="zh-CN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iAMPpred</a:t>
            </a:r>
            <a:r>
              <a:rPr lang="zh-CN" altLang="en-US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en-US" altLang="zh-CN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N/C </a:t>
            </a:r>
            <a:r>
              <a:rPr lang="zh-CN" altLang="en-US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端片段特征捕捉局部</a:t>
            </a:r>
            <a:r>
              <a:rPr lang="en-US" altLang="zh-CN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motif</a:t>
            </a:r>
            <a:endParaRPr lang="en-US" altLang="zh-CN" sz="13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zh-CN" altLang="en-US" sz="28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经典机器学习模型</a:t>
            </a:r>
            <a:endParaRPr lang="zh-CN" altLang="en-US" sz="28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pPr algn="l"/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小样本友好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可解释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上限取决于人工特征</a:t>
            </a:r>
            <a:endParaRPr lang="zh-CN" altLang="en-US" sz="16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241300" cy="6858000"/>
          </a:xfrm>
          <a:prstGeom prst="rect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6540500"/>
            <a:ext cx="12192000" cy="304800"/>
          </a:xfrm>
          <a:prstGeom prst="rect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1277600" y="6438900"/>
            <a:ext cx="609600" cy="609600"/>
          </a:xfrm>
          <a:prstGeom prst="ellipse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en-US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lang="en-US" altLang="en-US"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7" name="表格 6"/>
          <p:cNvGraphicFramePr/>
          <p:nvPr/>
        </p:nvGraphicFramePr>
        <p:xfrm>
          <a:off x="723900" y="2743200"/>
          <a:ext cx="1071880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2565400"/>
                <a:gridCol w="2997200"/>
                <a:gridCol w="3429000"/>
              </a:tblGrid>
              <a:tr h="6858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模型</a:t>
                      </a:r>
                      <a:endParaRPr lang="zh-CN" altLang="en-US"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代表工作</a:t>
                      </a:r>
                      <a:endParaRPr lang="zh-CN" altLang="en-US"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特征</a:t>
                      </a:r>
                      <a:endParaRPr lang="zh-CN" altLang="en-US"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特点</a:t>
                      </a:r>
                      <a:endParaRPr lang="zh-CN" altLang="en-US"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6858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SVM</a:t>
                      </a:r>
                      <a:endParaRPr lang="en-US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iAMPpred</a:t>
                      </a:r>
                      <a:endParaRPr lang="en-US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末端</a:t>
                      </a:r>
                      <a:r>
                        <a:rPr lang="en-US" altLang="zh-CN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+ </a:t>
                      </a: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理化</a:t>
                      </a:r>
                      <a:endParaRPr lang="zh-CN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小样本强基线</a:t>
                      </a:r>
                      <a:endParaRPr lang="zh-CN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6858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随机森林</a:t>
                      </a:r>
                      <a:endParaRPr lang="zh-CN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AmPEP</a:t>
                      </a:r>
                      <a:endParaRPr lang="en-US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 </a:t>
                      </a: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类特征融合</a:t>
                      </a:r>
                      <a:endParaRPr lang="zh-CN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抗过拟合</a:t>
                      </a:r>
                      <a:endParaRPr lang="zh-CN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6858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XGBoost</a:t>
                      </a:r>
                      <a:endParaRPr lang="en-US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多用于</a:t>
                      </a:r>
                      <a:r>
                        <a:rPr lang="en-US" altLang="zh-CN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MIC </a:t>
                      </a: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回归</a:t>
                      </a:r>
                      <a:endParaRPr lang="zh-CN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梯度提升</a:t>
                      </a:r>
                      <a:endParaRPr lang="zh-CN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特征重要性可读</a:t>
                      </a:r>
                      <a:endParaRPr lang="zh-CN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6858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逻辑回归</a:t>
                      </a:r>
                      <a:endParaRPr lang="zh-CN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通用基线</a:t>
                      </a:r>
                      <a:endParaRPr lang="zh-CN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任意描述符</a:t>
                      </a:r>
                      <a:endParaRPr lang="zh-CN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最可解释</a:t>
                      </a:r>
                      <a:endParaRPr lang="zh-CN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zh-CN" altLang="en-US" sz="28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深度学习方法</a:t>
            </a:r>
            <a:endParaRPr lang="zh-CN" altLang="en-US" sz="28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pPr algn="l"/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端到端学习，无需手工特征（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Deep-AmPEP30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：短肽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CNN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标杆）</a:t>
            </a:r>
            <a:endParaRPr lang="zh-CN" altLang="en-US" sz="16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241300" cy="6858000"/>
          </a:xfrm>
          <a:prstGeom prst="rect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6540500"/>
            <a:ext cx="12192000" cy="304800"/>
          </a:xfrm>
          <a:prstGeom prst="rect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1277600" y="6438900"/>
            <a:ext cx="609600" cy="609600"/>
          </a:xfrm>
          <a:prstGeom prst="ellipse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en-US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endParaRPr lang="en-US" altLang="en-US"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723900" y="3556000"/>
            <a:ext cx="1828800" cy="1498600"/>
          </a:xfrm>
          <a:prstGeom prst="roundRect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序列</a:t>
            </a:r>
            <a:r>
              <a:rPr lang="en-US" alt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右箭头 7"/>
          <p:cNvSpPr/>
          <p:nvPr/>
        </p:nvSpPr>
        <p:spPr>
          <a:xfrm>
            <a:off x="2616200" y="4114800"/>
            <a:ext cx="419100" cy="406400"/>
          </a:xfrm>
          <a:prstGeom prst="rightArrow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3098800" y="3556000"/>
            <a:ext cx="1828800" cy="1498600"/>
          </a:xfrm>
          <a:prstGeom prst="roundRect">
            <a:avLst/>
          </a:prstGeom>
          <a:solidFill>
            <a:srgbClr val="008C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编码</a:t>
            </a:r>
            <a:r>
              <a:rPr lang="en-US" altLang="zh-CN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One-hot/DPC</a:t>
            </a:r>
            <a:endParaRPr lang="en-US" altLang="zh-CN"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右箭头 9"/>
          <p:cNvSpPr/>
          <p:nvPr/>
        </p:nvSpPr>
        <p:spPr>
          <a:xfrm>
            <a:off x="4991100" y="4114800"/>
            <a:ext cx="419100" cy="406400"/>
          </a:xfrm>
          <a:prstGeom prst="rightArrow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5486400" y="3556000"/>
            <a:ext cx="1828800" cy="1498600"/>
          </a:xfrm>
          <a:prstGeom prst="roundRect">
            <a:avLst/>
          </a:prstGeom>
          <a:solidFill>
            <a:srgbClr val="008C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en-US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CNN /
BiLSTM</a:t>
            </a:r>
            <a:endParaRPr lang="en-US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右箭头 11"/>
          <p:cNvSpPr/>
          <p:nvPr/>
        </p:nvSpPr>
        <p:spPr>
          <a:xfrm>
            <a:off x="7366000" y="4114800"/>
            <a:ext cx="419100" cy="406400"/>
          </a:xfrm>
          <a:prstGeom prst="rightArrow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7861300" y="3556000"/>
            <a:ext cx="1828800" cy="1498600"/>
          </a:xfrm>
          <a:prstGeom prst="roundRect">
            <a:avLst/>
          </a:prstGeom>
          <a:solidFill>
            <a:srgbClr val="6C4E9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注意力</a:t>
            </a:r>
            <a:r>
              <a:rPr lang="en-US" alt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定位关键残基</a:t>
            </a:r>
            <a:endParaRPr lang="zh-CN" altLang="en-US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右箭头 13"/>
          <p:cNvSpPr/>
          <p:nvPr/>
        </p:nvSpPr>
        <p:spPr>
          <a:xfrm>
            <a:off x="9753600" y="4114800"/>
            <a:ext cx="419100" cy="406400"/>
          </a:xfrm>
          <a:prstGeom prst="rightArrow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圆角矩形 14"/>
          <p:cNvSpPr/>
          <p:nvPr/>
        </p:nvSpPr>
        <p:spPr>
          <a:xfrm>
            <a:off x="10236200" y="3556000"/>
            <a:ext cx="1219200" cy="1498600"/>
          </a:xfrm>
          <a:prstGeom prst="roundRect">
            <a:avLst/>
          </a:prstGeom>
          <a:solidFill>
            <a:srgbClr val="27905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en-US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AMP
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判定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723900" y="5486400"/>
            <a:ext cx="10718800" cy="685800"/>
          </a:xfrm>
          <a:prstGeom prst="roundRect">
            <a:avLst/>
          </a:prstGeom>
          <a:solidFill>
            <a:srgbClr val="F2F6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代表：</a:t>
            </a:r>
            <a:r>
              <a:rPr lang="en-US" altLang="zh-CN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AMPscanner</a:t>
            </a:r>
            <a:r>
              <a:rPr lang="zh-CN" altLang="en-US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CNN</a:t>
            </a:r>
            <a:r>
              <a:rPr lang="zh-CN" altLang="en-US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en-US" altLang="zh-CN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Deep-AmPEP30</a:t>
            </a:r>
            <a:r>
              <a:rPr lang="zh-CN" altLang="en-US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≤30 aa </a:t>
            </a:r>
            <a:r>
              <a:rPr lang="zh-CN" altLang="en-US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短肽）</a:t>
            </a:r>
            <a:r>
              <a:rPr lang="en-US" altLang="zh-CN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双向</a:t>
            </a:r>
            <a:r>
              <a:rPr lang="en-US" altLang="zh-CN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LSTM </a:t>
            </a:r>
            <a:r>
              <a:rPr lang="zh-CN" altLang="en-US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变体</a:t>
            </a:r>
            <a:endParaRPr lang="zh-CN" altLang="en-US" sz="12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zh-CN" altLang="en-US" sz="28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蛋白质语言模型时代</a:t>
            </a:r>
            <a:endParaRPr lang="zh-CN" altLang="en-US" sz="28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pPr algn="l"/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预训练表征正在取代人工特征</a:t>
            </a:r>
            <a:endParaRPr lang="zh-CN" altLang="en-US" sz="16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241300" cy="6858000"/>
          </a:xfrm>
          <a:prstGeom prst="rect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6540500"/>
            <a:ext cx="12192000" cy="304800"/>
          </a:xfrm>
          <a:prstGeom prst="rect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1277600" y="6438900"/>
            <a:ext cx="609600" cy="609600"/>
          </a:xfrm>
          <a:prstGeom prst="ellipse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en-US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endParaRPr lang="en-US" altLang="en-US"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219200" y="3429000"/>
            <a:ext cx="4381500" cy="889000"/>
          </a:xfrm>
          <a:prstGeom prst="rect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en-US" altLang="en-US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ESM-2 / ProtT5 / ProtBERT
</a:t>
            </a:r>
            <a:r>
              <a:rPr lang="zh-CN" altLang="en-US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（海量序列自监督预训练）</a:t>
            </a:r>
            <a:endParaRPr lang="zh-CN" altLang="en-US"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219200" y="4457700"/>
            <a:ext cx="4381500" cy="889000"/>
          </a:xfrm>
          <a:prstGeom prst="rect">
            <a:avLst/>
          </a:prstGeom>
          <a:solidFill>
            <a:srgbClr val="008C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en-US" altLang="en-US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AMP </a:t>
            </a:r>
            <a:r>
              <a:rPr lang="zh-CN" altLang="en-US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标注微调（</a:t>
            </a:r>
            <a:r>
              <a:rPr lang="en-US" altLang="zh-CN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AMP-BERT </a:t>
            </a:r>
            <a:r>
              <a:rPr lang="zh-CN" altLang="en-US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等）</a:t>
            </a:r>
            <a:endParaRPr lang="zh-CN" altLang="en-US"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219200" y="5486400"/>
            <a:ext cx="4381500" cy="889000"/>
          </a:xfrm>
          <a:prstGeom prst="rect">
            <a:avLst/>
          </a:prstGeom>
          <a:solidFill>
            <a:srgbClr val="27905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分类头</a:t>
            </a:r>
            <a:r>
              <a:rPr lang="en-US" altLang="zh-CN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AMP </a:t>
            </a:r>
            <a:r>
              <a:rPr lang="zh-CN" altLang="en-US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概率</a:t>
            </a:r>
            <a:r>
              <a:rPr lang="en-US" altLang="zh-CN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活性打分</a:t>
            </a:r>
            <a:endParaRPr lang="zh-CN" altLang="en-US"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6337300" y="3429000"/>
            <a:ext cx="5118100" cy="952500"/>
          </a:xfrm>
          <a:prstGeom prst="roundRect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少样本</a:t>
            </a:r>
            <a:r>
              <a:rPr lang="en-US" altLang="zh-CN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零样本</a:t>
            </a:r>
            <a:r>
              <a:rPr lang="en-US" altLang="zh-CN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冻结</a:t>
            </a:r>
            <a:r>
              <a:rPr lang="en-US" altLang="zh-CN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PLM </a:t>
            </a:r>
            <a:r>
              <a:rPr lang="zh-CN" altLang="en-US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只训练轻量头</a:t>
            </a:r>
            <a:endParaRPr lang="zh-CN" altLang="en-US" sz="13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6337300" y="4521200"/>
            <a:ext cx="5118100" cy="952500"/>
          </a:xfrm>
          <a:prstGeom prst="roundRect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迁移学习</a:t>
            </a:r>
            <a:r>
              <a:rPr lang="en-US" altLang="zh-CN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缓解</a:t>
            </a:r>
            <a:r>
              <a:rPr lang="en-US" altLang="zh-CN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AMP </a:t>
            </a:r>
            <a:r>
              <a:rPr lang="zh-CN" altLang="en-US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数据稀缺</a:t>
            </a:r>
            <a:endParaRPr lang="zh-CN" altLang="en-US" sz="13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6337300" y="5613400"/>
            <a:ext cx="5118100" cy="749300"/>
          </a:xfrm>
          <a:prstGeom prst="roundRect">
            <a:avLst/>
          </a:prstGeom>
          <a:solidFill>
            <a:srgbClr val="F2F6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嵌入可复用：聚类</a:t>
            </a:r>
            <a:r>
              <a:rPr lang="en-US" altLang="zh-CN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可视化</a:t>
            </a:r>
            <a:r>
              <a:rPr lang="en-US" altLang="zh-CN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</a:t>
            </a:r>
            <a:endParaRPr lang="zh-CN" altLang="en-US" sz="12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zh-CN" altLang="en-US" sz="28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评估体系：怎么才算好模型</a:t>
            </a:r>
            <a:endParaRPr lang="zh-CN" altLang="en-US" sz="28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pPr algn="l"/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交叉验证（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5/10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折）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独立测试集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跨库泛化</a:t>
            </a:r>
            <a:endParaRPr lang="zh-CN" altLang="en-US" sz="16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241300" cy="6858000"/>
          </a:xfrm>
          <a:prstGeom prst="rect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6540500"/>
            <a:ext cx="12192000" cy="304800"/>
          </a:xfrm>
          <a:prstGeom prst="rect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1277600" y="6438900"/>
            <a:ext cx="609600" cy="609600"/>
          </a:xfrm>
          <a:prstGeom prst="ellipse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en-US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9</a:t>
            </a:r>
            <a:endParaRPr lang="en-US" altLang="en-US"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7" name="表格 6"/>
          <p:cNvGraphicFramePr/>
          <p:nvPr/>
        </p:nvGraphicFramePr>
        <p:xfrm>
          <a:off x="723900" y="2743200"/>
          <a:ext cx="4622800" cy="287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2100"/>
                <a:gridCol w="1524000"/>
                <a:gridCol w="1524000"/>
              </a:tblGrid>
              <a:tr h="956310">
                <a:tc>
                  <a:txBody>
                    <a:bodyPr/>
                    <a:p>
                      <a:pPr algn="l">
                        <a:buNone/>
                      </a:pPr>
                      <a:endParaRPr lang="zh-CN" altLang="en-US"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预测</a:t>
                      </a:r>
                      <a:r>
                        <a:rPr lang="en-US" altLang="zh-CN"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AMP</a:t>
                      </a:r>
                      <a:endParaRPr lang="en-US" altLang="zh-CN"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预测非</a:t>
                      </a:r>
                      <a:r>
                        <a:rPr lang="en-US" altLang="zh-CN"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AMP</a:t>
                      </a:r>
                      <a:endParaRPr lang="en-US" altLang="zh-CN"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95631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实际</a:t>
                      </a:r>
                      <a:r>
                        <a:rPr lang="en-US" altLang="zh-CN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AMP</a:t>
                      </a:r>
                      <a:endParaRPr lang="en-US" altLang="zh-CN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TP</a:t>
                      </a:r>
                      <a:endParaRPr lang="en-US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FN</a:t>
                      </a:r>
                      <a:endParaRPr lang="en-US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95631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实际非</a:t>
                      </a:r>
                      <a:r>
                        <a:rPr lang="en-US" altLang="zh-CN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AMP</a:t>
                      </a:r>
                      <a:endParaRPr lang="en-US" altLang="zh-CN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FP</a:t>
                      </a:r>
                      <a:endParaRPr lang="en-US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TN</a:t>
                      </a:r>
                      <a:endParaRPr lang="en-US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圆角矩形 7"/>
          <p:cNvSpPr/>
          <p:nvPr/>
        </p:nvSpPr>
        <p:spPr>
          <a:xfrm>
            <a:off x="6096000" y="2743200"/>
            <a:ext cx="2438400" cy="812800"/>
          </a:xfrm>
          <a:prstGeom prst="roundRect">
            <a:avLst/>
          </a:prstGeom>
          <a:solidFill>
            <a:srgbClr val="008C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en-US" altLang="en-US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Sn </a:t>
            </a:r>
            <a:r>
              <a:rPr lang="zh-CN" altLang="en-US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灵敏度</a:t>
            </a:r>
            <a:endParaRPr lang="zh-CN" altLang="en-US"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8775700" y="2743200"/>
            <a:ext cx="2679700" cy="812800"/>
          </a:xfrm>
          <a:prstGeom prst="roundRect">
            <a:avLst/>
          </a:prstGeom>
          <a:solidFill>
            <a:srgbClr val="008C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en-US" altLang="en-US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 </a:t>
            </a:r>
            <a:r>
              <a:rPr lang="zh-CN" altLang="en-US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特异度</a:t>
            </a:r>
            <a:endParaRPr lang="zh-CN" altLang="en-US"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6096000" y="3771900"/>
            <a:ext cx="2438400" cy="812800"/>
          </a:xfrm>
          <a:prstGeom prst="roundRect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en-US" altLang="en-US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MCC</a:t>
            </a:r>
            <a:r>
              <a:rPr lang="zh-CN" altLang="en-US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（首选）</a:t>
            </a:r>
            <a:endParaRPr lang="zh-CN" altLang="en-US"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8775700" y="3771900"/>
            <a:ext cx="2679700" cy="812800"/>
          </a:xfrm>
          <a:prstGeom prst="roundRect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en-US" altLang="en-US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AUC</a:t>
            </a:r>
            <a:endParaRPr lang="en-US" altLang="en-US"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6096000" y="4800600"/>
            <a:ext cx="5359400" cy="1371600"/>
          </a:xfrm>
          <a:prstGeom prst="roundRect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常见坑：不平衡数据</a:t>
            </a:r>
            <a:r>
              <a:rPr lang="en-US" alt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Accuracy </a:t>
            </a:r>
            <a:r>
              <a:rPr lang="zh-CN" alt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虚高</a:t>
            </a:r>
            <a:r>
              <a:rPr lang="en-US" alt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
</a:t>
            </a:r>
            <a:r>
              <a:rPr lang="zh-CN" alt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去冗余不足</a:t>
            </a:r>
            <a:r>
              <a:rPr lang="en-US" alt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同源泄漏</a:t>
            </a:r>
            <a:r>
              <a:rPr lang="en-US" alt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高估性能</a:t>
            </a:r>
            <a:endParaRPr lang="zh-CN" altLang="en-US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zh-CN" altLang="en-US" sz="28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挑战与陷阱</a:t>
            </a:r>
            <a:endParaRPr lang="zh-CN" altLang="en-US" sz="28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pPr algn="l"/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从预测到成药还有很长的路</a:t>
            </a:r>
            <a:endParaRPr lang="zh-CN" altLang="en-US" sz="16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241300" cy="6858000"/>
          </a:xfrm>
          <a:prstGeom prst="rect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6540500"/>
            <a:ext cx="12192000" cy="304800"/>
          </a:xfrm>
          <a:prstGeom prst="rect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1277600" y="6438900"/>
            <a:ext cx="609600" cy="609600"/>
          </a:xfrm>
          <a:prstGeom prst="ellipse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en-US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endParaRPr lang="en-US" altLang="en-US"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等腰三角形 6"/>
          <p:cNvSpPr/>
          <p:nvPr/>
        </p:nvSpPr>
        <p:spPr>
          <a:xfrm>
            <a:off x="965200" y="3213100"/>
            <a:ext cx="723900" cy="546100"/>
          </a:xfrm>
          <a:prstGeom prst="triangle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1943100" y="3009900"/>
            <a:ext cx="3657600" cy="952500"/>
          </a:xfrm>
          <a:prstGeom prst="roundRect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负样本定义模糊</a:t>
            </a:r>
            <a:r>
              <a:rPr lang="en-US" altLang="zh-CN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未验证</a:t>
            </a:r>
            <a:r>
              <a:rPr lang="en-US" altLang="zh-CN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≠ </a:t>
            </a:r>
            <a:r>
              <a:rPr lang="zh-CN" altLang="en-US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无活性</a:t>
            </a:r>
            <a:endParaRPr lang="zh-CN" altLang="en-US" sz="12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等腰三角形 8"/>
          <p:cNvSpPr/>
          <p:nvPr/>
        </p:nvSpPr>
        <p:spPr>
          <a:xfrm>
            <a:off x="6337300" y="3213100"/>
            <a:ext cx="723900" cy="546100"/>
          </a:xfrm>
          <a:prstGeom prst="triangle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7315200" y="3009900"/>
            <a:ext cx="4140200" cy="952500"/>
          </a:xfrm>
          <a:prstGeom prst="roundRect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数据集偏差</a:t>
            </a:r>
            <a:r>
              <a:rPr lang="en-US" altLang="zh-CN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长度</a:t>
            </a:r>
            <a:r>
              <a:rPr lang="en-US" altLang="zh-CN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物种</a:t>
            </a:r>
            <a:r>
              <a:rPr lang="en-US" altLang="zh-CN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测定方法不统一</a:t>
            </a:r>
            <a:endParaRPr lang="zh-CN" altLang="en-US" sz="12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等腰三角形 10"/>
          <p:cNvSpPr/>
          <p:nvPr/>
        </p:nvSpPr>
        <p:spPr>
          <a:xfrm>
            <a:off x="965200" y="4800600"/>
            <a:ext cx="723900" cy="546100"/>
          </a:xfrm>
          <a:prstGeom prst="triangle">
            <a:avLst/>
          </a:prstGeom>
          <a:solidFill>
            <a:srgbClr val="C0392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圆角矩形 11"/>
          <p:cNvSpPr/>
          <p:nvPr/>
        </p:nvSpPr>
        <p:spPr>
          <a:xfrm>
            <a:off x="1943100" y="4584700"/>
            <a:ext cx="3657600" cy="952500"/>
          </a:xfrm>
          <a:prstGeom prst="roundRect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体外</a:t>
            </a:r>
            <a:r>
              <a:rPr lang="en-US" altLang="zh-CN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≠ </a:t>
            </a:r>
            <a:r>
              <a:rPr lang="zh-CN" altLang="en-US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体内</a:t>
            </a:r>
            <a:r>
              <a:rPr lang="en-US" altLang="zh-CN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毒性</a:t>
            </a:r>
            <a:r>
              <a:rPr lang="en-US" altLang="zh-CN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稳定性</a:t>
            </a:r>
            <a:r>
              <a:rPr lang="en-US" altLang="zh-CN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半衰期</a:t>
            </a:r>
            <a:endParaRPr lang="zh-CN" altLang="en-US" sz="12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等腰三角形 12"/>
          <p:cNvSpPr/>
          <p:nvPr/>
        </p:nvSpPr>
        <p:spPr>
          <a:xfrm>
            <a:off x="6337300" y="4800600"/>
            <a:ext cx="723900" cy="546100"/>
          </a:xfrm>
          <a:prstGeom prst="triangle">
            <a:avLst/>
          </a:prstGeom>
          <a:solidFill>
            <a:srgbClr val="C0392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圆角矩形 13"/>
          <p:cNvSpPr/>
          <p:nvPr/>
        </p:nvSpPr>
        <p:spPr>
          <a:xfrm>
            <a:off x="7315200" y="4584700"/>
            <a:ext cx="4140200" cy="952500"/>
          </a:xfrm>
          <a:prstGeom prst="roundRect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en-US" altLang="en-US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MIC </a:t>
            </a:r>
            <a:r>
              <a:rPr lang="zh-CN" altLang="en-US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回归数据稀缺</a:t>
            </a:r>
            <a:r>
              <a:rPr lang="en-US" altLang="zh-CN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远少于二分类标注</a:t>
            </a:r>
            <a:endParaRPr lang="zh-CN" altLang="en-US" sz="12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zh-CN" altLang="en-US" sz="28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从预测到从头设计</a:t>
            </a:r>
            <a:endParaRPr lang="zh-CN" altLang="en-US" sz="28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pPr algn="l"/>
            <a:r>
              <a:rPr lang="en-US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HYDRA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Nat. Biomed. Eng. 2023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）：生成式设计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ML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过滤批量获得有效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AMP</a:t>
            </a:r>
            <a:endParaRPr lang="en-US" altLang="zh-CN" sz="16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241300" cy="6858000"/>
          </a:xfrm>
          <a:prstGeom prst="rect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6540500"/>
            <a:ext cx="12192000" cy="304800"/>
          </a:xfrm>
          <a:prstGeom prst="rect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1277600" y="6438900"/>
            <a:ext cx="609600" cy="609600"/>
          </a:xfrm>
          <a:prstGeom prst="ellipse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en-US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11</a:t>
            </a:r>
            <a:endParaRPr lang="en-US" altLang="en-US"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965200" y="3289300"/>
            <a:ext cx="2438400" cy="952500"/>
          </a:xfrm>
          <a:prstGeom prst="roundRect">
            <a:avLst/>
          </a:prstGeom>
          <a:solidFill>
            <a:srgbClr val="6C4E9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生成模型设计</a:t>
            </a:r>
            <a:r>
              <a:rPr lang="en-US" alt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VAE · GAN · </a:t>
            </a:r>
            <a:r>
              <a:rPr lang="zh-CN" alt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扩散</a:t>
            </a:r>
            <a:endParaRPr lang="zh-CN" altLang="en-US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4622800" y="3289300"/>
            <a:ext cx="2438400" cy="952500"/>
          </a:xfrm>
          <a:prstGeom prst="roundRect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en-US" alt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ML </a:t>
            </a:r>
            <a:r>
              <a:rPr lang="zh-CN" alt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预测过滤</a:t>
            </a:r>
            <a:r>
              <a:rPr lang="en-US" alt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活性</a:t>
            </a:r>
            <a:r>
              <a:rPr lang="en-US" alt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毒性双目标</a:t>
            </a:r>
            <a:endParaRPr lang="zh-CN" altLang="en-US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8280400" y="3289300"/>
            <a:ext cx="2921000" cy="952500"/>
          </a:xfrm>
          <a:prstGeom prst="roundRect">
            <a:avLst/>
          </a:prstGeom>
          <a:solidFill>
            <a:srgbClr val="008C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固相合成</a:t>
            </a:r>
            <a:endParaRPr lang="zh-CN" altLang="en-US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4622800" y="5346700"/>
            <a:ext cx="6578600" cy="952500"/>
          </a:xfrm>
          <a:prstGeom prst="roundRect">
            <a:avLst/>
          </a:prstGeom>
          <a:solidFill>
            <a:srgbClr val="27905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en-US" alt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MIC </a:t>
            </a:r>
            <a:r>
              <a:rPr lang="zh-CN" alt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实验验证</a:t>
            </a:r>
            <a:r>
              <a:rPr lang="en-US" alt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反馈迭代</a:t>
            </a:r>
            <a:endParaRPr lang="zh-CN" altLang="en-US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左箭头 10"/>
          <p:cNvSpPr/>
          <p:nvPr/>
        </p:nvSpPr>
        <p:spPr>
          <a:xfrm>
            <a:off x="3467100" y="3632200"/>
            <a:ext cx="1092200" cy="266700"/>
          </a:xfrm>
          <a:prstGeom prst="leftArrow">
            <a:avLst/>
          </a:prstGeom>
          <a:solidFill>
            <a:srgbClr val="333333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右箭头 11"/>
          <p:cNvSpPr/>
          <p:nvPr/>
        </p:nvSpPr>
        <p:spPr>
          <a:xfrm>
            <a:off x="7124700" y="3632200"/>
            <a:ext cx="1092200" cy="266700"/>
          </a:xfrm>
          <a:prstGeom prst="rightArrow">
            <a:avLst/>
          </a:prstGeom>
          <a:solidFill>
            <a:srgbClr val="333333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左箭头 12"/>
          <p:cNvSpPr/>
          <p:nvPr/>
        </p:nvSpPr>
        <p:spPr>
          <a:xfrm>
            <a:off x="9499600" y="4241800"/>
            <a:ext cx="482600" cy="1092200"/>
          </a:xfrm>
          <a:prstGeom prst="leftArrow">
            <a:avLst/>
          </a:prstGeom>
          <a:solidFill>
            <a:srgbClr val="333333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1943100" y="4521200"/>
            <a:ext cx="1219200" cy="685800"/>
          </a:xfrm>
          <a:prstGeom prst="ellipse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闭环</a:t>
            </a:r>
            <a:endParaRPr lang="zh-CN" altLang="en-US"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zh-CN" altLang="en-US" sz="28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zh-CN" altLang="en-US" sz="28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pPr algn="l"/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一个模型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多个落地出口</a:t>
            </a:r>
            <a:endParaRPr lang="zh-CN" altLang="en-US" sz="16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241300" cy="6858000"/>
          </a:xfrm>
          <a:prstGeom prst="rect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6540500"/>
            <a:ext cx="12192000" cy="304800"/>
          </a:xfrm>
          <a:prstGeom prst="rect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1277600" y="6438900"/>
            <a:ext cx="609600" cy="609600"/>
          </a:xfrm>
          <a:prstGeom prst="ellipse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en-US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12</a:t>
            </a:r>
            <a:endParaRPr lang="en-US" altLang="en-US"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23900" y="3149600"/>
            <a:ext cx="5118100" cy="304800"/>
          </a:xfrm>
          <a:prstGeom prst="rect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723900" y="3454400"/>
            <a:ext cx="5118100" cy="1155700"/>
          </a:xfrm>
          <a:prstGeom prst="roundRect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抗感染先导药物</a:t>
            </a:r>
            <a:r>
              <a:rPr lang="en-US" altLang="zh-CN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应对超级细菌</a:t>
            </a:r>
            <a:endParaRPr lang="zh-CN" altLang="en-US" sz="13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210300" y="3149600"/>
            <a:ext cx="5118100" cy="304800"/>
          </a:xfrm>
          <a:prstGeom prst="rect">
            <a:avLst/>
          </a:prstGeom>
          <a:solidFill>
            <a:srgbClr val="008C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6210300" y="3454400"/>
            <a:ext cx="5232400" cy="1155700"/>
          </a:xfrm>
          <a:prstGeom prst="roundRect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医疗器械抗菌涂层</a:t>
            </a:r>
            <a:r>
              <a:rPr lang="en-US" altLang="zh-CN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导管</a:t>
            </a:r>
            <a:r>
              <a:rPr lang="en-US" altLang="zh-CN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植入物</a:t>
            </a:r>
            <a:endParaRPr lang="zh-CN" altLang="en-US" sz="13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723900" y="4927600"/>
            <a:ext cx="5118100" cy="304800"/>
          </a:xfrm>
          <a:prstGeom prst="rect">
            <a:avLst/>
          </a:prstGeom>
          <a:solidFill>
            <a:srgbClr val="27905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圆角矩形 11"/>
          <p:cNvSpPr/>
          <p:nvPr/>
        </p:nvSpPr>
        <p:spPr>
          <a:xfrm>
            <a:off x="723900" y="5245100"/>
            <a:ext cx="5118100" cy="1155700"/>
          </a:xfrm>
          <a:prstGeom prst="roundRect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食品工业</a:t>
            </a:r>
            <a:r>
              <a:rPr lang="en-US" altLang="zh-CN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天然防腐剂替代化学品</a:t>
            </a:r>
            <a:endParaRPr lang="zh-CN" altLang="en-US" sz="13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210300" y="4927600"/>
            <a:ext cx="5232400" cy="304800"/>
          </a:xfrm>
          <a:prstGeom prst="rect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圆角矩形 13"/>
          <p:cNvSpPr/>
          <p:nvPr/>
        </p:nvSpPr>
        <p:spPr>
          <a:xfrm>
            <a:off x="6210300" y="5245100"/>
            <a:ext cx="5232400" cy="1155700"/>
          </a:xfrm>
          <a:prstGeom prst="roundRect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农业畜牧</a:t>
            </a:r>
            <a:r>
              <a:rPr lang="en-US" altLang="zh-CN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抗生素替代</a:t>
            </a:r>
            <a:r>
              <a:rPr lang="en-US" altLang="zh-CN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绿色养殖</a:t>
            </a:r>
            <a:endParaRPr lang="zh-CN" altLang="en-US" sz="13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zh-CN" altLang="en-US" sz="28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工程化复现路线图</a:t>
            </a:r>
            <a:endParaRPr lang="zh-CN" altLang="en-US" sz="28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pPr algn="l"/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可落地的五步闭环</a:t>
            </a:r>
            <a:endParaRPr lang="zh-CN" altLang="en-US" sz="16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241300" cy="6858000"/>
          </a:xfrm>
          <a:prstGeom prst="rect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6540500"/>
            <a:ext cx="12192000" cy="304800"/>
          </a:xfrm>
          <a:prstGeom prst="rect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1277600" y="6438900"/>
            <a:ext cx="609600" cy="609600"/>
          </a:xfrm>
          <a:prstGeom prst="ellipse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en-US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13</a:t>
            </a:r>
            <a:endParaRPr lang="en-US" altLang="en-US"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燕尾形 6"/>
          <p:cNvSpPr/>
          <p:nvPr/>
        </p:nvSpPr>
        <p:spPr>
          <a:xfrm>
            <a:off x="609600" y="3429000"/>
            <a:ext cx="2311400" cy="1371600"/>
          </a:xfrm>
          <a:prstGeom prst="chevron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</a:t>
            </a:r>
            <a:r>
              <a:rPr lang="en-US" altLang="zh-CN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</a:t>
            </a:r>
            <a:r>
              <a:rPr lang="en-US" altLang="zh-CN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APD3+DBAASP
CD-HIT </a:t>
            </a:r>
            <a:r>
              <a:rPr lang="zh-CN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去冗余</a:t>
            </a:r>
            <a:endParaRPr lang="zh-CN" altLang="en-US"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燕尾形 7"/>
          <p:cNvSpPr/>
          <p:nvPr/>
        </p:nvSpPr>
        <p:spPr>
          <a:xfrm>
            <a:off x="2794000" y="3429000"/>
            <a:ext cx="2311400" cy="1371600"/>
          </a:xfrm>
          <a:prstGeom prst="chevron">
            <a:avLst/>
          </a:prstGeom>
          <a:solidFill>
            <a:srgbClr val="008C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</a:t>
            </a:r>
            <a:r>
              <a:rPr lang="en-US" altLang="zh-CN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特征</a:t>
            </a:r>
            <a:r>
              <a:rPr lang="en-US" altLang="zh-CN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PseAAC </a:t>
            </a:r>
            <a:r>
              <a:rPr lang="zh-CN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或</a:t>
            </a:r>
            <a:r>
              <a:rPr lang="en-US" altLang="zh-CN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ESM-2 </a:t>
            </a:r>
            <a:r>
              <a:rPr lang="zh-CN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嵌入</a:t>
            </a:r>
            <a:endParaRPr lang="zh-CN" altLang="en-US"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燕尾形 8"/>
          <p:cNvSpPr/>
          <p:nvPr/>
        </p:nvSpPr>
        <p:spPr>
          <a:xfrm>
            <a:off x="4991100" y="3429000"/>
            <a:ext cx="2311400" cy="1371600"/>
          </a:xfrm>
          <a:prstGeom prst="chevron">
            <a:avLst/>
          </a:prstGeom>
          <a:solidFill>
            <a:srgbClr val="6C4E9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</a:t>
            </a:r>
            <a:r>
              <a:rPr lang="en-US" altLang="zh-CN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</a:t>
            </a:r>
            <a:r>
              <a:rPr lang="en-US" altLang="zh-CN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SVM </a:t>
            </a:r>
            <a:r>
              <a:rPr lang="zh-CN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基线</a:t>
            </a:r>
            <a:r>
              <a:rPr lang="en-US" altLang="zh-CN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
CNN / PLM </a:t>
            </a:r>
            <a:r>
              <a:rPr lang="zh-CN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微调</a:t>
            </a:r>
            <a:endParaRPr lang="zh-CN" altLang="en-US"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燕尾形 9"/>
          <p:cNvSpPr/>
          <p:nvPr/>
        </p:nvSpPr>
        <p:spPr>
          <a:xfrm>
            <a:off x="7188200" y="3429000"/>
            <a:ext cx="2311400" cy="1371600"/>
          </a:xfrm>
          <a:prstGeom prst="chevron">
            <a:avLst/>
          </a:prstGeom>
          <a:solidFill>
            <a:srgbClr val="27905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</a:t>
            </a:r>
            <a:r>
              <a:rPr lang="en-US" altLang="zh-CN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评估</a:t>
            </a:r>
            <a:r>
              <a:rPr lang="en-US" altLang="zh-CN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10 </a:t>
            </a:r>
            <a:r>
              <a:rPr lang="zh-CN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折</a:t>
            </a:r>
            <a:r>
              <a:rPr lang="en-US" altLang="zh-CN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CV +
</a:t>
            </a:r>
            <a:r>
              <a:rPr lang="zh-CN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独立集</a:t>
            </a:r>
            <a:r>
              <a:rPr lang="en-US" altLang="zh-CN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跨库</a:t>
            </a:r>
            <a:endParaRPr lang="zh-CN" altLang="en-US"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燕尾形 10"/>
          <p:cNvSpPr/>
          <p:nvPr/>
        </p:nvSpPr>
        <p:spPr>
          <a:xfrm>
            <a:off x="9385300" y="3429000"/>
            <a:ext cx="2184400" cy="1371600"/>
          </a:xfrm>
          <a:prstGeom prst="chevron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</a:t>
            </a:r>
            <a:r>
              <a:rPr lang="en-US" altLang="zh-CN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部署</a:t>
            </a:r>
            <a:r>
              <a:rPr lang="en-US" altLang="zh-CN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Web </a:t>
            </a:r>
            <a:r>
              <a:rPr lang="zh-CN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</a:t>
            </a:r>
            <a:r>
              <a:rPr lang="en-US" altLang="zh-CN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
</a:t>
            </a:r>
            <a:r>
              <a:rPr lang="zh-CN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批量打分</a:t>
            </a:r>
            <a:endParaRPr lang="zh-CN" altLang="en-US"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609600" y="5346700"/>
            <a:ext cx="10972800" cy="685800"/>
          </a:xfrm>
          <a:prstGeom prst="roundRect">
            <a:avLst/>
          </a:prstGeom>
          <a:solidFill>
            <a:srgbClr val="F2F6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本幻灯片由全自动管线生成：</a:t>
            </a:r>
            <a:r>
              <a:rPr lang="en-US" altLang="zh-CN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WPS COM </a:t>
            </a:r>
            <a:r>
              <a:rPr lang="zh-CN" altLang="en-US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原生图形（形状</a:t>
            </a:r>
            <a:r>
              <a:rPr lang="en-US" altLang="zh-CN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表格</a:t>
            </a:r>
            <a:r>
              <a:rPr lang="en-US" altLang="zh-CN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箭头），全部可编辑</a:t>
            </a:r>
            <a:endParaRPr lang="zh-CN" altLang="en-US" sz="12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zh-CN" altLang="en-US" sz="28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总结与展望</a:t>
            </a:r>
            <a:endParaRPr lang="zh-CN" altLang="en-US" sz="28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241300" cy="6858000"/>
          </a:xfrm>
          <a:prstGeom prst="rect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6540500"/>
            <a:ext cx="12192000" cy="304800"/>
          </a:xfrm>
          <a:prstGeom prst="rect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1277600" y="6438900"/>
            <a:ext cx="609600" cy="609600"/>
          </a:xfrm>
          <a:prstGeom prst="ellipse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en-US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14</a:t>
            </a:r>
            <a:endParaRPr lang="en-US" altLang="en-US"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723900" y="1092200"/>
            <a:ext cx="3289300" cy="2057400"/>
          </a:xfrm>
          <a:prstGeom prst="roundRect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三代方法</a:t>
            </a:r>
            <a:r>
              <a:rPr lang="en-US" alt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各有位置</a:t>
            </a:r>
            <a:r>
              <a:rPr lang="en-US" alt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特征</a:t>
            </a:r>
            <a:r>
              <a:rPr lang="en-US" alt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lang="zh-CN" altLang="en-US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深度</a:t>
            </a:r>
            <a:r>
              <a:rPr lang="en-US" alt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→PLM</a:t>
            </a:r>
            <a:endParaRPr lang="en-US" alt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4318000" y="1092200"/>
            <a:ext cx="3289300" cy="2057400"/>
          </a:xfrm>
          <a:prstGeom prst="roundRect">
            <a:avLst/>
          </a:prstGeom>
          <a:solidFill>
            <a:srgbClr val="008C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数据治理</a:t>
            </a:r>
            <a:r>
              <a:rPr lang="en-US" alt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与严格评估</a:t>
            </a:r>
            <a:r>
              <a:rPr lang="en-US" alt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比模型花样重要</a:t>
            </a:r>
            <a:endParaRPr lang="zh-CN" altLang="en-US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7924800" y="1092200"/>
            <a:ext cx="3530600" cy="2057400"/>
          </a:xfrm>
          <a:prstGeom prst="roundRect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生成式设计</a:t>
            </a:r>
            <a:r>
              <a:rPr lang="en-US" alt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+ </a:t>
            </a:r>
            <a:r>
              <a:rPr lang="zh-CN" altLang="en-US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实验闭环</a:t>
            </a:r>
            <a:r>
              <a:rPr lang="en-US" alt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下一个爆发点</a:t>
            </a:r>
            <a:endParaRPr lang="zh-CN" altLang="en-US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723900" y="3771900"/>
            <a:ext cx="10718800" cy="889000"/>
          </a:xfrm>
          <a:prstGeom prst="roundRect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开源生态持续完善：数据库</a:t>
            </a:r>
            <a:r>
              <a:rPr lang="en-US" altLang="zh-CN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预训练权重</a:t>
            </a:r>
            <a:r>
              <a:rPr lang="en-US" altLang="zh-CN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基准测试</a:t>
            </a:r>
            <a:endParaRPr lang="zh-CN" altLang="en-US" sz="14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2438400" y="5143500"/>
            <a:ext cx="7315200" cy="952500"/>
          </a:xfrm>
          <a:prstGeom prst="roundRect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谢谢观看</a:t>
            </a:r>
            <a:r>
              <a:rPr lang="en-US" altLang="zh-CN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可编辑</a:t>
            </a:r>
            <a:r>
              <a:rPr lang="en-US" altLang="zh-CN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PPTX</a:t>
            </a:r>
            <a:endParaRPr lang="en-US" altLang="zh-CN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1844</Words>
  <Application>WPS 演示</Application>
  <PresentationFormat>宽屏</PresentationFormat>
  <Paragraphs>286</Paragraphs>
  <Slides>14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Arial</vt:lpstr>
      <vt:lpstr>宋体</vt:lpstr>
      <vt:lpstr>Wingdings</vt:lpstr>
      <vt:lpstr>Wingdings</vt:lpstr>
      <vt:lpstr>Arial Unicode MS</vt:lpstr>
      <vt:lpstr>微软雅黑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BNI</dc:creator>
  <cp:lastModifiedBy>BNI</cp:lastModifiedBy>
  <cp:revision>158</cp:revision>
  <dcterms:created xsi:type="dcterms:W3CDTF">2019-06-19T02:08:00Z</dcterms:created>
  <dcterms:modified xsi:type="dcterms:W3CDTF">2026-10-01T17:41:54Z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2052-12.1.0.22525</vt:lpwstr>
  </property>
  <property fmtid="{D5CDD505-2E9C-101B-9397-08002B2CF9AE}" pid="3" name="ICV">
    <vt:lpwstr>4C7517525B314B89A8377A5F41C0E81C_13</vt:lpwstr>
  </property>
</Properties>
</file>