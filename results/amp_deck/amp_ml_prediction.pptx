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机器学习预测抗菌肽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从序列特征工程到蛋白质语言模型</a:t>
            </a:r>
            <a:r>
              <a:rPr lang="en-US" altLang="zh-CN"/>
              <a:t>
</a:t>
            </a:r>
            <a:r>
              <a:rPr lang="zh-CN" altLang="en-US"/>
              <a:t>方法综述</a:t>
            </a:r>
            <a:r>
              <a:rPr lang="en-US" altLang="zh-CN"/>
              <a:t> · </a:t>
            </a:r>
            <a:r>
              <a:rPr lang="zh-CN" altLang="en-US"/>
              <a:t>挑战</a:t>
            </a:r>
            <a:r>
              <a:rPr lang="en-US" altLang="zh-CN"/>
              <a:t> · </a:t>
            </a:r>
            <a:r>
              <a:rPr lang="zh-CN" altLang="en-US"/>
              <a:t>应用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5200" y="4927600"/>
            <a:ext cx="10236200" cy="6858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Arena Agent </a:t>
            </a:r>
            <a:r>
              <a:rPr lang="zh-CN" altLang="en-US"/>
              <a:t>全自动生成</a:t>
            </a:r>
            <a:r>
              <a:rPr lang="en-US" altLang="zh-CN"/>
              <a:t> · WPS COM </a:t>
            </a:r>
            <a:r>
              <a:rPr lang="zh-CN" altLang="en-US"/>
              <a:t>可编辑演示文稿</a:t>
            </a:r>
            <a:r>
              <a:rPr lang="en-US" altLang="zh-CN"/>
              <a:t> · 2026-10-02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背景：为什么需要新的抗菌武器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抗生素耐药（</a:t>
            </a:r>
            <a:r>
              <a:rPr lang="en-US" altLang="zh-CN"/>
              <a:t>AMR</a:t>
            </a:r>
            <a:r>
              <a:rPr lang="zh-CN" altLang="en-US"/>
              <a:t>）每年直接致死约</a:t>
            </a:r>
            <a:r>
              <a:rPr lang="en-US" altLang="zh-CN"/>
              <a:t> 127 </a:t>
            </a:r>
            <a:r>
              <a:rPr lang="zh-CN" altLang="en-US"/>
              <a:t>万人（</a:t>
            </a:r>
            <a:r>
              <a:rPr lang="en-US" altLang="zh-CN"/>
              <a:t>Lancet 2019</a:t>
            </a:r>
            <a:r>
              <a:rPr lang="zh-CN" altLang="en-US"/>
              <a:t>）</a:t>
            </a:r>
            <a:r>
              <a:rPr lang="en-US" altLang="zh-CN"/>
              <a:t>
</a:t>
            </a:r>
            <a:r>
              <a:rPr lang="zh-CN" altLang="en-US"/>
              <a:t>传统抗生素发现管线趋于枯竭</a:t>
            </a:r>
            <a:r>
              <a:rPr lang="en-US" altLang="zh-CN"/>
              <a:t>
</a:t>
            </a:r>
            <a:r>
              <a:rPr lang="zh-CN" altLang="en-US"/>
              <a:t>抗菌肽（</a:t>
            </a:r>
            <a:r>
              <a:rPr lang="en-US" altLang="zh-CN"/>
              <a:t>AMP</a:t>
            </a:r>
            <a:r>
              <a:rPr lang="zh-CN" altLang="en-US"/>
              <a:t>）：先天免疫多肽，破膜杀菌、不易诱导耐药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5200" y="5613400"/>
            <a:ext cx="10236200" cy="546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关键词：</a:t>
            </a:r>
            <a:r>
              <a:rPr lang="en-US" altLang="zh-CN"/>
              <a:t>AMR </a:t>
            </a:r>
            <a:r>
              <a:rPr lang="zh-CN" altLang="en-US"/>
              <a:t>危机</a:t>
            </a:r>
            <a:r>
              <a:rPr lang="en-US" altLang="zh-CN"/>
              <a:t> · </a:t>
            </a:r>
            <a:r>
              <a:rPr lang="zh-CN" altLang="en-US"/>
              <a:t>新作用机制</a:t>
            </a:r>
            <a:r>
              <a:rPr lang="en-US" altLang="zh-CN"/>
              <a:t> · </a:t>
            </a:r>
            <a:r>
              <a:rPr lang="zh-CN" altLang="en-US"/>
              <a:t>先天免疫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抗菌肽是什么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通常</a:t>
            </a:r>
            <a:r>
              <a:rPr lang="en-US" altLang="zh-CN"/>
              <a:t> 10–50 </a:t>
            </a:r>
            <a:r>
              <a:rPr lang="zh-CN" altLang="en-US"/>
              <a:t>个氨基酸、带正电荷、具有两亲性</a:t>
            </a:r>
            <a:r>
              <a:rPr lang="en-US" altLang="zh-CN"/>
              <a:t>
</a:t>
            </a:r>
            <a:r>
              <a:rPr lang="zh-CN" altLang="en-US"/>
              <a:t>作用机制：静电吸附</a:t>
            </a:r>
            <a:r>
              <a:rPr lang="en-US" altLang="zh-CN"/>
              <a:t> → </a:t>
            </a:r>
            <a:r>
              <a:rPr lang="zh-CN" altLang="en-US"/>
              <a:t>插膜</a:t>
            </a:r>
            <a:r>
              <a:rPr lang="en-US" altLang="zh-CN"/>
              <a:t> → </a:t>
            </a:r>
            <a:r>
              <a:rPr lang="zh-CN" altLang="en-US"/>
              <a:t>孔道</a:t>
            </a:r>
            <a:r>
              <a:rPr lang="en-US" altLang="zh-CN"/>
              <a:t>/</a:t>
            </a:r>
            <a:r>
              <a:rPr lang="zh-CN" altLang="en-US"/>
              <a:t>地毯模型破膜</a:t>
            </a:r>
            <a:r>
              <a:rPr lang="en-US" altLang="zh-CN"/>
              <a:t>
</a:t>
            </a:r>
            <a:r>
              <a:rPr lang="zh-CN" altLang="en-US"/>
              <a:t>部分兼具免疫调节、抗病毒、抗肿瘤活性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5200" y="5613400"/>
            <a:ext cx="9753600" cy="546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阳离子两亲性</a:t>
            </a:r>
            <a:r>
              <a:rPr lang="en-US" altLang="zh-CN"/>
              <a:t> = </a:t>
            </a:r>
            <a:r>
              <a:rPr lang="zh-CN" altLang="en-US"/>
              <a:t>选择性结合细菌负电细胞膜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数据库与数据集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APD3 / DBAASP / CAMP3 / LAMP / ADAPT</a:t>
            </a:r>
            <a:r>
              <a:rPr lang="zh-CN" altLang="en-US"/>
              <a:t>：数千条实验验证</a:t>
            </a:r>
            <a:r>
              <a:rPr lang="en-US" altLang="zh-CN"/>
              <a:t> AMP
</a:t>
            </a:r>
            <a:r>
              <a:rPr lang="zh-CN" altLang="en-US"/>
              <a:t>负样本：</a:t>
            </a:r>
            <a:r>
              <a:rPr lang="en-US" altLang="zh-CN"/>
              <a:t>UniProt </a:t>
            </a:r>
            <a:r>
              <a:rPr lang="zh-CN" altLang="en-US"/>
              <a:t>非抗菌肽片段、随机打乱序列</a:t>
            </a:r>
            <a:r>
              <a:rPr lang="en-US" altLang="zh-CN"/>
              <a:t>
</a:t>
            </a:r>
            <a:r>
              <a:rPr lang="zh-CN" altLang="en-US"/>
              <a:t>去冗余：</a:t>
            </a:r>
            <a:r>
              <a:rPr lang="en-US" altLang="zh-CN"/>
              <a:t>CD-HIT</a:t>
            </a:r>
            <a:r>
              <a:rPr lang="zh-CN" altLang="en-US"/>
              <a:t>（</a:t>
            </a:r>
            <a:r>
              <a:rPr lang="en-US" altLang="zh-CN"/>
              <a:t>40% </a:t>
            </a:r>
            <a:r>
              <a:rPr lang="zh-CN" altLang="en-US"/>
              <a:t>一致性阈值）防止同源泄漏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5200" y="5613400"/>
            <a:ext cx="7315200" cy="546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数据质量决定模型上限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特征工程：传统序列描述符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序列组成：</a:t>
            </a:r>
            <a:r>
              <a:rPr lang="en-US" altLang="zh-CN"/>
              <a:t>AAC / DPC / g-gap </a:t>
            </a:r>
            <a:r>
              <a:rPr lang="zh-CN" altLang="en-US"/>
              <a:t>二肽</a:t>
            </a:r>
            <a:r>
              <a:rPr lang="en-US" altLang="zh-CN"/>
              <a:t> / CKSAAP
</a:t>
            </a:r>
            <a:r>
              <a:rPr lang="zh-CN" altLang="en-US"/>
              <a:t>伪氨基酸组成</a:t>
            </a:r>
            <a:r>
              <a:rPr lang="en-US" altLang="zh-CN"/>
              <a:t> PseAAC</a:t>
            </a:r>
            <a:r>
              <a:rPr lang="zh-CN" altLang="en-US"/>
              <a:t>：融入残基相关性</a:t>
            </a:r>
            <a:r>
              <a:rPr lang="en-US" altLang="zh-CN"/>
              <a:t>
</a:t>
            </a:r>
            <a:r>
              <a:rPr lang="zh-CN" altLang="en-US"/>
              <a:t>理化性质：净电荷</a:t>
            </a:r>
            <a:r>
              <a:rPr lang="en-US" altLang="zh-CN"/>
              <a:t> / </a:t>
            </a:r>
            <a:r>
              <a:rPr lang="zh-CN" altLang="en-US"/>
              <a:t>疏水性</a:t>
            </a:r>
            <a:r>
              <a:rPr lang="en-US" altLang="zh-CN"/>
              <a:t> / </a:t>
            </a:r>
            <a:r>
              <a:rPr lang="zh-CN" altLang="en-US"/>
              <a:t>疏水矩</a:t>
            </a:r>
            <a:r>
              <a:rPr lang="en-US" altLang="zh-CN"/>
              <a:t> / Boman </a:t>
            </a:r>
            <a:r>
              <a:rPr lang="zh-CN" altLang="en-US"/>
              <a:t>指数</a:t>
            </a:r>
            <a:r>
              <a:rPr lang="en-US" altLang="zh-CN"/>
              <a:t>
</a:t>
            </a:r>
            <a:r>
              <a:rPr lang="zh-CN" altLang="en-US"/>
              <a:t>末端编码：</a:t>
            </a:r>
            <a:r>
              <a:rPr lang="en-US" altLang="zh-CN"/>
              <a:t>N/C </a:t>
            </a:r>
            <a:r>
              <a:rPr lang="zh-CN" altLang="en-US"/>
              <a:t>端片段特征（</a:t>
            </a:r>
            <a:r>
              <a:rPr lang="en-US" altLang="zh-CN"/>
              <a:t>iAMPpred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5200" y="5892800"/>
            <a:ext cx="9753600" cy="546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数十维特征</a:t>
            </a:r>
            <a:r>
              <a:rPr lang="en-US" altLang="zh-CN"/>
              <a:t> → mRMR / </a:t>
            </a:r>
            <a:r>
              <a:rPr lang="zh-CN" altLang="en-US"/>
              <a:t>随机森林重要性筛选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经典机器学习模型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SVM</a:t>
            </a:r>
            <a:r>
              <a:rPr lang="zh-CN" altLang="en-US"/>
              <a:t>：小样本强基线（</a:t>
            </a:r>
            <a:r>
              <a:rPr lang="en-US" altLang="zh-CN"/>
              <a:t>iAMPpred</a:t>
            </a:r>
            <a:r>
              <a:rPr lang="zh-CN" altLang="en-US"/>
              <a:t>）</a:t>
            </a:r>
            <a:r>
              <a:rPr lang="en-US" altLang="zh-CN"/>
              <a:t>
</a:t>
            </a:r>
            <a:r>
              <a:rPr lang="zh-CN" altLang="en-US"/>
              <a:t>随机森林：</a:t>
            </a:r>
            <a:r>
              <a:rPr lang="en-US" altLang="zh-CN"/>
              <a:t>AmPEP </a:t>
            </a:r>
            <a:r>
              <a:rPr lang="zh-CN" altLang="en-US"/>
              <a:t>融合</a:t>
            </a:r>
            <a:r>
              <a:rPr lang="en-US" altLang="zh-CN"/>
              <a:t> 8 </a:t>
            </a:r>
            <a:r>
              <a:rPr lang="zh-CN" altLang="en-US"/>
              <a:t>类特征</a:t>
            </a:r>
            <a:r>
              <a:rPr lang="en-US" altLang="zh-CN"/>
              <a:t>
XGBoost / </a:t>
            </a:r>
            <a:r>
              <a:rPr lang="zh-CN" altLang="en-US"/>
              <a:t>逻辑回归：可解释基线</a:t>
            </a:r>
            <a:r>
              <a:rPr lang="en-US" altLang="zh-CN"/>
              <a:t>
</a:t>
            </a:r>
            <a:r>
              <a:rPr lang="zh-CN" altLang="en-US"/>
              <a:t>优点：样本需求小、可解释；缺点：依赖人工特征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5200" y="5753100"/>
            <a:ext cx="7315200" cy="546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特征工程决定上限的时代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深度学习方法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CNN</a:t>
            </a:r>
            <a:r>
              <a:rPr lang="zh-CN" altLang="en-US"/>
              <a:t>：</a:t>
            </a:r>
            <a:r>
              <a:rPr lang="en-US" altLang="zh-CN"/>
              <a:t>AMPscanner</a:t>
            </a:r>
            <a:r>
              <a:rPr lang="zh-CN" altLang="en-US"/>
              <a:t>、</a:t>
            </a:r>
            <a:r>
              <a:rPr lang="en-US" altLang="zh-CN"/>
              <a:t>Deep-AmPEP30</a:t>
            </a:r>
            <a:r>
              <a:rPr lang="zh-CN" altLang="en-US"/>
              <a:t>（</a:t>
            </a:r>
            <a:r>
              <a:rPr lang="en-US" altLang="zh-CN"/>
              <a:t>DPC </a:t>
            </a:r>
            <a:r>
              <a:rPr lang="zh-CN" altLang="en-US"/>
              <a:t>特征图当图像处理）</a:t>
            </a:r>
            <a:r>
              <a:rPr lang="en-US" altLang="zh-CN"/>
              <a:t>
BiLSTM</a:t>
            </a:r>
            <a:r>
              <a:rPr lang="zh-CN" altLang="en-US"/>
              <a:t>：捕捉长程序列依赖</a:t>
            </a:r>
            <a:r>
              <a:rPr lang="en-US" altLang="zh-CN"/>
              <a:t>
</a:t>
            </a:r>
            <a:r>
              <a:rPr lang="zh-CN" altLang="en-US"/>
              <a:t>注意力机制：定位关键残基与基序</a:t>
            </a:r>
            <a:r>
              <a:rPr lang="en-US" altLang="zh-CN"/>
              <a:t>
</a:t>
            </a:r>
            <a:r>
              <a:rPr lang="zh-CN" altLang="en-US"/>
              <a:t>端到端学习，无需手工特征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5200" y="5753100"/>
            <a:ext cx="9753600" cy="546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Deep-AmPEP30</a:t>
            </a:r>
            <a:r>
              <a:rPr lang="zh-CN" altLang="en-US"/>
              <a:t>：短肽（</a:t>
            </a:r>
            <a:r>
              <a:rPr lang="en-US" altLang="zh-CN"/>
              <a:t>≤30 aa</a:t>
            </a:r>
            <a:r>
              <a:rPr lang="zh-CN" altLang="en-US"/>
              <a:t>）</a:t>
            </a:r>
            <a:r>
              <a:rPr lang="en-US" altLang="zh-CN"/>
              <a:t>CNN </a:t>
            </a:r>
            <a:r>
              <a:rPr lang="zh-CN" altLang="en-US"/>
              <a:t>精度标杆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蛋白质语言模型时代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ESM-2 / ProtT5 / ProtBERT</a:t>
            </a:r>
            <a:r>
              <a:rPr lang="zh-CN" altLang="en-US"/>
              <a:t>：大规模预训练蛋白质表征</a:t>
            </a:r>
            <a:r>
              <a:rPr lang="en-US" altLang="zh-CN"/>
              <a:t>
AMP-BERT</a:t>
            </a:r>
            <a:r>
              <a:rPr lang="zh-CN" altLang="en-US"/>
              <a:t>：</a:t>
            </a:r>
            <a:r>
              <a:rPr lang="en-US" altLang="zh-CN"/>
              <a:t>BERT </a:t>
            </a:r>
            <a:r>
              <a:rPr lang="zh-CN" altLang="en-US"/>
              <a:t>嵌入</a:t>
            </a:r>
            <a:r>
              <a:rPr lang="en-US" altLang="zh-CN"/>
              <a:t> + </a:t>
            </a:r>
            <a:r>
              <a:rPr lang="zh-CN" altLang="en-US"/>
              <a:t>微调做</a:t>
            </a:r>
            <a:r>
              <a:rPr lang="en-US" altLang="zh-CN"/>
              <a:t> AMP </a:t>
            </a:r>
            <a:r>
              <a:rPr lang="zh-CN" altLang="en-US"/>
              <a:t>分类</a:t>
            </a:r>
            <a:r>
              <a:rPr lang="en-US" altLang="zh-CN"/>
              <a:t>
</a:t>
            </a:r>
            <a:r>
              <a:rPr lang="zh-CN" altLang="en-US"/>
              <a:t>预训练嵌入</a:t>
            </a:r>
            <a:r>
              <a:rPr lang="en-US" altLang="zh-CN"/>
              <a:t> + </a:t>
            </a:r>
            <a:r>
              <a:rPr lang="zh-CN" altLang="en-US"/>
              <a:t>轻量分类头：零样本</a:t>
            </a:r>
            <a:r>
              <a:rPr lang="en-US" altLang="zh-CN"/>
              <a:t>/</a:t>
            </a:r>
            <a:r>
              <a:rPr lang="zh-CN" altLang="en-US"/>
              <a:t>少样本</a:t>
            </a:r>
            <a:r>
              <a:rPr lang="en-US" altLang="zh-CN"/>
              <a:t>
</a:t>
            </a:r>
            <a:r>
              <a:rPr lang="zh-CN" altLang="en-US"/>
              <a:t>迁移学习缓解</a:t>
            </a:r>
            <a:r>
              <a:rPr lang="en-US" altLang="zh-CN"/>
              <a:t> AMP </a:t>
            </a:r>
            <a:r>
              <a:rPr lang="zh-CN" altLang="en-US"/>
              <a:t>数据稀缺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5200" y="5753100"/>
            <a:ext cx="8534400" cy="546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预训练表征正在取代人工特征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评估体系：怎么才算好模型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交叉验证（</a:t>
            </a:r>
            <a:r>
              <a:rPr lang="en-US" altLang="zh-CN"/>
              <a:t>5/10 </a:t>
            </a:r>
            <a:r>
              <a:rPr lang="zh-CN" altLang="en-US"/>
              <a:t>折）</a:t>
            </a:r>
            <a:r>
              <a:rPr lang="en-US" altLang="zh-CN"/>
              <a:t>+ </a:t>
            </a:r>
            <a:r>
              <a:rPr lang="zh-CN" altLang="en-US"/>
              <a:t>独立测试集</a:t>
            </a:r>
            <a:r>
              <a:rPr lang="en-US" altLang="zh-CN"/>
              <a:t>
</a:t>
            </a:r>
            <a:r>
              <a:rPr lang="zh-CN" altLang="en-US"/>
              <a:t>指标：</a:t>
            </a:r>
            <a:r>
              <a:rPr lang="en-US" altLang="zh-CN"/>
              <a:t>MCC</a:t>
            </a:r>
            <a:r>
              <a:rPr lang="zh-CN" altLang="en-US"/>
              <a:t>、</a:t>
            </a:r>
            <a:r>
              <a:rPr lang="en-US" altLang="zh-CN"/>
              <a:t>AUC</a:t>
            </a:r>
            <a:r>
              <a:rPr lang="zh-CN" altLang="en-US"/>
              <a:t>、</a:t>
            </a:r>
            <a:r>
              <a:rPr lang="en-US" altLang="zh-CN"/>
              <a:t>Sn/Sp</a:t>
            </a:r>
            <a:r>
              <a:rPr lang="zh-CN" altLang="en-US"/>
              <a:t>、</a:t>
            </a:r>
            <a:r>
              <a:rPr lang="en-US" altLang="zh-CN"/>
              <a:t>F1
</a:t>
            </a:r>
            <a:r>
              <a:rPr lang="zh-CN" altLang="en-US"/>
              <a:t>常见坑：同源泄漏（去冗余不足）、正负不平衡下</a:t>
            </a:r>
            <a:r>
              <a:rPr lang="en-US" altLang="zh-CN"/>
              <a:t> Accuracy </a:t>
            </a:r>
            <a:r>
              <a:rPr lang="zh-CN" altLang="en-US"/>
              <a:t>虚高</a:t>
            </a:r>
            <a:r>
              <a:rPr lang="en-US" altLang="zh-CN"/>
              <a:t>
</a:t>
            </a:r>
            <a:r>
              <a:rPr lang="zh-CN" altLang="en-US"/>
              <a:t>跨数据集泛化才算真本事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5200" y="5753100"/>
            <a:ext cx="10477500" cy="546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MCC </a:t>
            </a:r>
            <a:r>
              <a:rPr lang="zh-CN" altLang="en-US"/>
              <a:t>比</a:t>
            </a:r>
            <a:r>
              <a:rPr lang="en-US" altLang="zh-CN"/>
              <a:t> Accuracy </a:t>
            </a:r>
            <a:r>
              <a:rPr lang="zh-CN" altLang="en-US"/>
              <a:t>更能反映不平衡任务的真实表现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挑战与陷阱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负样本定义模糊：未验证</a:t>
            </a:r>
            <a:r>
              <a:rPr lang="en-US" altLang="zh-CN"/>
              <a:t> ≠ </a:t>
            </a:r>
            <a:r>
              <a:rPr lang="zh-CN" altLang="en-US"/>
              <a:t>无活性</a:t>
            </a:r>
            <a:r>
              <a:rPr lang="en-US" altLang="zh-CN"/>
              <a:t>
</a:t>
            </a:r>
            <a:r>
              <a:rPr lang="zh-CN" altLang="en-US"/>
              <a:t>数据集偏差：长度、物种来源、活性测定方法不统一</a:t>
            </a:r>
            <a:r>
              <a:rPr lang="en-US" altLang="zh-CN"/>
              <a:t>
</a:t>
            </a:r>
            <a:r>
              <a:rPr lang="zh-CN" altLang="en-US"/>
              <a:t>体外活性</a:t>
            </a:r>
            <a:r>
              <a:rPr lang="en-US" altLang="zh-CN"/>
              <a:t> ≠ </a:t>
            </a:r>
            <a:r>
              <a:rPr lang="zh-CN" altLang="en-US"/>
              <a:t>体内有效（毒性</a:t>
            </a:r>
            <a:r>
              <a:rPr lang="en-US" altLang="zh-CN"/>
              <a:t>/</a:t>
            </a:r>
            <a:r>
              <a:rPr lang="zh-CN" altLang="en-US"/>
              <a:t>稳定性</a:t>
            </a:r>
            <a:r>
              <a:rPr lang="en-US" altLang="zh-CN"/>
              <a:t>/</a:t>
            </a:r>
            <a:r>
              <a:rPr lang="zh-CN" altLang="en-US"/>
              <a:t>半衰期）</a:t>
            </a:r>
            <a:r>
              <a:rPr lang="en-US" altLang="zh-CN"/>
              <a:t>
MIC </a:t>
            </a:r>
            <a:r>
              <a:rPr lang="zh-CN" altLang="en-US"/>
              <a:t>回归数据远少于二分类数据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5200" y="5753100"/>
            <a:ext cx="7315200" cy="546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从预测到成药还有很长的路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从预测到从头设计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生成模型：</a:t>
            </a:r>
            <a:r>
              <a:rPr lang="en-US" altLang="zh-CN"/>
              <a:t>VAE / GAN / </a:t>
            </a:r>
            <a:r>
              <a:rPr lang="zh-CN" altLang="en-US"/>
              <a:t>扩散模型生成候选序列</a:t>
            </a:r>
            <a:r>
              <a:rPr lang="en-US" altLang="zh-CN"/>
              <a:t>
HYDRA</a:t>
            </a:r>
            <a:r>
              <a:rPr lang="zh-CN" altLang="en-US"/>
              <a:t>（</a:t>
            </a:r>
            <a:r>
              <a:rPr lang="en-US" altLang="zh-CN"/>
              <a:t>Nat. Biomed. Eng. 2023</a:t>
            </a:r>
            <a:r>
              <a:rPr lang="zh-CN" altLang="en-US"/>
              <a:t>）：生成式设计</a:t>
            </a:r>
            <a:r>
              <a:rPr lang="en-US" altLang="zh-CN"/>
              <a:t> + ML </a:t>
            </a:r>
            <a:r>
              <a:rPr lang="zh-CN" altLang="en-US"/>
              <a:t>过滤批量获得有效</a:t>
            </a:r>
            <a:r>
              <a:rPr lang="en-US" altLang="zh-CN"/>
              <a:t> AMP
</a:t>
            </a:r>
            <a:r>
              <a:rPr lang="zh-CN" altLang="en-US"/>
              <a:t>活性</a:t>
            </a:r>
            <a:r>
              <a:rPr lang="en-US" altLang="zh-CN"/>
              <a:t>/</a:t>
            </a:r>
            <a:r>
              <a:rPr lang="zh-CN" altLang="en-US"/>
              <a:t>毒性双目标优化</a:t>
            </a:r>
            <a:r>
              <a:rPr lang="en-US" altLang="zh-CN"/>
              <a:t>
</a:t>
            </a:r>
            <a:r>
              <a:rPr lang="zh-CN" altLang="en-US"/>
              <a:t>闭环：设计</a:t>
            </a:r>
            <a:r>
              <a:rPr lang="en-US" altLang="zh-CN"/>
              <a:t> → </a:t>
            </a:r>
            <a:r>
              <a:rPr lang="zh-CN" altLang="en-US"/>
              <a:t>预测</a:t>
            </a:r>
            <a:r>
              <a:rPr lang="en-US" altLang="zh-CN"/>
              <a:t> → </a:t>
            </a:r>
            <a:r>
              <a:rPr lang="zh-CN" altLang="en-US"/>
              <a:t>固相合成</a:t>
            </a:r>
            <a:r>
              <a:rPr lang="en-US" altLang="zh-CN"/>
              <a:t> → MIC </a:t>
            </a:r>
            <a:r>
              <a:rPr lang="zh-CN" altLang="en-US"/>
              <a:t>实验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5200" y="5753100"/>
            <a:ext cx="8534400" cy="546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预测模型是生成</a:t>
            </a:r>
            <a:r>
              <a:rPr lang="en-US" altLang="zh-CN"/>
              <a:t>-</a:t>
            </a:r>
            <a:r>
              <a:rPr lang="zh-CN" altLang="en-US"/>
              <a:t>验证闭环的过滤器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应用场景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抗感染先导药物：应对超级细菌</a:t>
            </a:r>
            <a:r>
              <a:rPr lang="en-US" altLang="zh-CN"/>
              <a:t>
</a:t>
            </a:r>
            <a:r>
              <a:rPr lang="zh-CN" altLang="en-US"/>
              <a:t>医疗器械抗菌涂层：导管、植入物</a:t>
            </a:r>
            <a:r>
              <a:rPr lang="en-US" altLang="zh-CN"/>
              <a:t>
</a:t>
            </a:r>
            <a:r>
              <a:rPr lang="zh-CN" altLang="en-US"/>
              <a:t>食品工业：天然防腐剂替代化学添加剂</a:t>
            </a:r>
            <a:r>
              <a:rPr lang="en-US" altLang="zh-CN"/>
              <a:t>
</a:t>
            </a:r>
            <a:r>
              <a:rPr lang="zh-CN" altLang="en-US"/>
              <a:t>农业畜牧：抗生素替代、绿色养殖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5200" y="5753100"/>
            <a:ext cx="7315200" cy="546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一个模型</a:t>
            </a:r>
            <a:r>
              <a:rPr lang="en-US" altLang="zh-CN"/>
              <a:t> → </a:t>
            </a:r>
            <a:r>
              <a:rPr lang="zh-CN" altLang="en-US"/>
              <a:t>多个落地出口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工程化复现路线图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①</a:t>
            </a:r>
            <a:r>
              <a:rPr lang="en-US" altLang="zh-CN"/>
              <a:t> </a:t>
            </a:r>
            <a:r>
              <a:rPr lang="zh-CN" altLang="en-US"/>
              <a:t>数据采集与清洗（</a:t>
            </a:r>
            <a:r>
              <a:rPr lang="en-US" altLang="zh-CN"/>
              <a:t>APD3 + DBAASP</a:t>
            </a:r>
            <a:r>
              <a:rPr lang="zh-CN" altLang="en-US"/>
              <a:t>，</a:t>
            </a:r>
            <a:r>
              <a:rPr lang="en-US" altLang="zh-CN"/>
              <a:t>CD-HIT </a:t>
            </a:r>
            <a:r>
              <a:rPr lang="zh-CN" altLang="en-US"/>
              <a:t>去冗余）</a:t>
            </a:r>
            <a:r>
              <a:rPr lang="en-US" altLang="zh-CN"/>
              <a:t>
</a:t>
            </a:r>
            <a:r>
              <a:rPr lang="zh-CN" altLang="en-US"/>
              <a:t>②</a:t>
            </a:r>
            <a:r>
              <a:rPr lang="en-US" altLang="zh-CN"/>
              <a:t> </a:t>
            </a:r>
            <a:r>
              <a:rPr lang="zh-CN" altLang="en-US"/>
              <a:t>特征</a:t>
            </a:r>
            <a:r>
              <a:rPr lang="en-US" altLang="zh-CN"/>
              <a:t>/</a:t>
            </a:r>
            <a:r>
              <a:rPr lang="zh-CN" altLang="en-US"/>
              <a:t>嵌入（</a:t>
            </a:r>
            <a:r>
              <a:rPr lang="en-US" altLang="zh-CN"/>
              <a:t>PseAAC </a:t>
            </a:r>
            <a:r>
              <a:rPr lang="zh-CN" altLang="en-US"/>
              <a:t>或</a:t>
            </a:r>
            <a:r>
              <a:rPr lang="en-US" altLang="zh-CN"/>
              <a:t> ESM-2 </a:t>
            </a:r>
            <a:r>
              <a:rPr lang="zh-CN" altLang="en-US"/>
              <a:t>表征）</a:t>
            </a:r>
            <a:r>
              <a:rPr lang="en-US" altLang="zh-CN"/>
              <a:t>
</a:t>
            </a:r>
            <a:r>
              <a:rPr lang="zh-CN" altLang="en-US"/>
              <a:t>③</a:t>
            </a:r>
            <a:r>
              <a:rPr lang="en-US" altLang="zh-CN"/>
              <a:t> </a:t>
            </a:r>
            <a:r>
              <a:rPr lang="zh-CN" altLang="en-US"/>
              <a:t>模型训练（</a:t>
            </a:r>
            <a:r>
              <a:rPr lang="en-US" altLang="zh-CN"/>
              <a:t>SVM </a:t>
            </a:r>
            <a:r>
              <a:rPr lang="zh-CN" altLang="en-US"/>
              <a:t>基线</a:t>
            </a:r>
            <a:r>
              <a:rPr lang="en-US" altLang="zh-CN"/>
              <a:t> → CNN / PLM </a:t>
            </a:r>
            <a:r>
              <a:rPr lang="zh-CN" altLang="en-US"/>
              <a:t>微调）</a:t>
            </a:r>
            <a:r>
              <a:rPr lang="en-US" altLang="zh-CN"/>
              <a:t>
</a:t>
            </a:r>
            <a:r>
              <a:rPr lang="zh-CN" altLang="en-US"/>
              <a:t>④</a:t>
            </a:r>
            <a:r>
              <a:rPr lang="en-US" altLang="zh-CN"/>
              <a:t> </a:t>
            </a:r>
            <a:r>
              <a:rPr lang="zh-CN" altLang="en-US"/>
              <a:t>严格评估（</a:t>
            </a:r>
            <a:r>
              <a:rPr lang="en-US" altLang="zh-CN"/>
              <a:t>10 </a:t>
            </a:r>
            <a:r>
              <a:rPr lang="zh-CN" altLang="en-US"/>
              <a:t>折</a:t>
            </a:r>
            <a:r>
              <a:rPr lang="en-US" altLang="zh-CN"/>
              <a:t> CV + </a:t>
            </a:r>
            <a:r>
              <a:rPr lang="zh-CN" altLang="en-US"/>
              <a:t>独立集</a:t>
            </a:r>
            <a:r>
              <a:rPr lang="en-US" altLang="zh-CN"/>
              <a:t> + </a:t>
            </a:r>
            <a:r>
              <a:rPr lang="zh-CN" altLang="en-US"/>
              <a:t>跨库测试）</a:t>
            </a:r>
            <a:r>
              <a:rPr lang="en-US" altLang="zh-CN"/>
              <a:t>
</a:t>
            </a:r>
            <a:r>
              <a:rPr lang="zh-CN" altLang="en-US"/>
              <a:t>⑤</a:t>
            </a:r>
            <a:r>
              <a:rPr lang="en-US" altLang="zh-CN"/>
              <a:t> </a:t>
            </a:r>
            <a:r>
              <a:rPr lang="zh-CN" altLang="en-US"/>
              <a:t>部署：</a:t>
            </a:r>
            <a:r>
              <a:rPr lang="en-US" altLang="zh-CN"/>
              <a:t>Web </a:t>
            </a:r>
            <a:r>
              <a:rPr lang="zh-CN" altLang="en-US"/>
              <a:t>服务</a:t>
            </a:r>
            <a:r>
              <a:rPr lang="en-US" altLang="zh-CN"/>
              <a:t> / </a:t>
            </a:r>
            <a:r>
              <a:rPr lang="zh-CN" altLang="en-US"/>
              <a:t>本地批量打分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65200" y="6172200"/>
            <a:ext cx="10477500" cy="4699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本幻灯片即由全自动管线生成（</a:t>
            </a:r>
            <a:r>
              <a:rPr lang="en-US" altLang="zh-CN"/>
              <a:t>WPS COM </a:t>
            </a:r>
            <a:r>
              <a:rPr lang="zh-CN" altLang="en-US"/>
              <a:t>单进程构建）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总结与展望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特征工程</a:t>
            </a:r>
            <a:r>
              <a:rPr lang="en-US" altLang="zh-CN"/>
              <a:t> → </a:t>
            </a:r>
            <a:r>
              <a:rPr lang="zh-CN" altLang="en-US"/>
              <a:t>深度学习</a:t>
            </a:r>
            <a:r>
              <a:rPr lang="en-US" altLang="zh-CN"/>
              <a:t> → </a:t>
            </a:r>
            <a:r>
              <a:rPr lang="zh-CN" altLang="en-US"/>
              <a:t>预训练语言模型：三代方法各有位置</a:t>
            </a:r>
            <a:r>
              <a:rPr lang="en-US" altLang="zh-CN"/>
              <a:t>
</a:t>
            </a:r>
            <a:r>
              <a:rPr lang="zh-CN" altLang="en-US"/>
              <a:t>数据治理（去冗余</a:t>
            </a:r>
            <a:r>
              <a:rPr lang="en-US" altLang="zh-CN"/>
              <a:t>/</a:t>
            </a:r>
            <a:r>
              <a:rPr lang="zh-CN" altLang="en-US"/>
              <a:t>防泄漏）与严格评估比模型花样更重要</a:t>
            </a:r>
            <a:r>
              <a:rPr lang="en-US" altLang="zh-CN"/>
              <a:t>
</a:t>
            </a:r>
            <a:r>
              <a:rPr lang="zh-CN" altLang="en-US"/>
              <a:t>生成式设计与实验闭环是下一个爆发点</a:t>
            </a:r>
            <a:r>
              <a:rPr lang="en-US" altLang="zh-CN"/>
              <a:t>
</a:t>
            </a:r>
            <a:r>
              <a:rPr lang="zh-CN" altLang="en-US"/>
              <a:t>开源生态：数据库、预训练权重、基准测试持续完善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438400" y="6032500"/>
            <a:ext cx="7315200" cy="546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谢谢观看</a:t>
            </a:r>
            <a:r>
              <a:rPr lang="en-US" altLang="zh-CN"/>
              <a:t> · </a:t>
            </a:r>
            <a:r>
              <a:rPr lang="zh-CN" altLang="en-US"/>
              <a:t>可编辑</a:t>
            </a:r>
            <a:r>
              <a:rPr lang="en-US" altLang="zh-CN"/>
              <a:t> PPTX · </a:t>
            </a:r>
            <a:r>
              <a:rPr lang="zh-CN" altLang="en-US"/>
              <a:t>每页均可继续修改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1681</Words>
  <Application>WPS 演示</Application>
  <PresentationFormat>宽屏</PresentationFormat>
  <Paragraphs>84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BNI</dc:creator>
  <cp:lastModifiedBy>BNI</cp:lastModifiedBy>
  <cp:revision>158</cp:revision>
  <dcterms:created xsi:type="dcterms:W3CDTF">2019-06-19T02:08:00Z</dcterms:created>
  <dcterms:modified xsi:type="dcterms:W3CDTF">2026-10-01T17:16:27Z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2052-12.1.0.22525</vt:lpwstr>
  </property>
  <property fmtid="{D5CDD505-2E9C-101B-9397-08002B2CF9AE}" pid="3" name="ICV">
    <vt:lpwstr>44AB256849544F0BBF11DCDBF21F81D2_13</vt:lpwstr>
  </property>
</Properties>
</file>