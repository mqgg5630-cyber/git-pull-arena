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rena-loop-01a0aa0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rena-loop-01a0aa0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857250"/>
                </a:moveTo>
                <a:lnTo>
                  <a:pt x="12192000" y="85725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2571750"/>
                </a:moveTo>
                <a:lnTo>
                  <a:pt x="12192000" y="257175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286250"/>
                </a:moveTo>
                <a:lnTo>
                  <a:pt x="12192000" y="428625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000750"/>
                </a:moveTo>
                <a:lnTo>
                  <a:pt x="12192000" y="6000750"/>
                </a:lnTo>
              </a:path>
            </a:pathLst>
          </a:custGeom>
          <a:noFill/>
          <a:ln w="9525">
            <a:solidFill>
              <a:srgbClr val="17293F">
                <a:alpha val="50000"/>
              </a:srgbClr>
            </a:solidFill>
          </a:ln>
        </p:spPr>
      </p:sp>
      <p:sp>
        <p:nvSpPr>
          <p:cNvPr id="3" name="cover-trace"/>
          <p:cNvSpPr/>
          <p:nvPr/>
        </p:nvSpPr>
        <p:spPr>
          <a:xfrm>
            <a:off x="0" y="2381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209550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16324D"/>
            </a:solidFill>
          </a:ln>
        </p:spPr>
      </p:sp>
      <p:sp>
        <p:nvSpPr>
          <p:cNvPr id="4" name="cover-node-a"/>
          <p:cNvSpPr/>
          <p:nvPr/>
        </p:nvSpPr>
        <p:spPr>
          <a:xfrm>
            <a:off x="9877425" y="1990725"/>
            <a:ext cx="95250" cy="95250"/>
          </a:xfrm>
          <a:prstGeom prst="ellipse">
            <a:avLst/>
          </a:prstGeom>
          <a:solidFill>
            <a:srgbClr val="A3E635"/>
          </a:solidFill>
          <a:ln>
            <a:noFill/>
          </a:ln>
          <a:effectLst>
            <a:glow rad="66675">
              <a:srgbClr val="000000">
                <a:alpha val="30000"/>
              </a:srgbClr>
            </a:glow>
          </a:effectLst>
        </p:spPr>
      </p:sp>
      <p:sp>
        <p:nvSpPr>
          <p:cNvPr id="5" name="cover-node-b"/>
          <p:cNvSpPr/>
          <p:nvPr/>
        </p:nvSpPr>
        <p:spPr>
          <a:xfrm>
            <a:off x="8467725" y="2819400"/>
            <a:ext cx="76200" cy="7620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glow rad="66675">
              <a:srgbClr val="000000">
                <a:alpha val="30000"/>
              </a:srgbClr>
            </a:glow>
          </a:effectLst>
        </p:spPr>
      </p:sp>
      <p:sp>
        <p:nvSpPr>
          <p:cNvPr id="6" name="cover-edge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</p:spPr>
      </p:sp>
      <p:grpSp>
        <p:nvGrpSpPr>
          <p:cNvPr id="8" name="cover-kicker"/>
          <p:cNvGrpSpPr/>
          <p:nvPr/>
        </p:nvGrpSpPr>
        <p:grpSpPr>
          <a:xfrm>
            <a:off x="907542" y="1073468"/>
            <a:ext cx="5161026" cy="264033"/>
            <a:chOff x="907542" y="1073468"/>
            <a:chExt cx="51610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907542" y="1073468"/>
              <a:ext cx="51610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0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ARENA ⇄ LOCAL · SESSION 01A0AA00</a:t>
              </a:r>
            </a:p>
          </p:txBody>
        </p:sp>
      </p:grpSp>
      <p:grpSp>
        <p:nvGrpSpPr>
          <p:cNvPr id="11" name="cover-title"/>
          <p:cNvGrpSpPr/>
          <p:nvPr/>
        </p:nvGrpSpPr>
        <p:grpSpPr>
          <a:xfrm>
            <a:off x="876300" y="2112645"/>
            <a:ext cx="6540246" cy="2286000"/>
            <a:chOff x="876300" y="2112645"/>
            <a:chExt cx="6540246" cy="2286000"/>
          </a:xfrm>
        </p:grpSpPr>
        <p:sp>
          <p:nvSpPr>
            <p:cNvPr id="9" name="TextBox 9"/>
            <p:cNvSpPr txBox="1"/>
            <p:nvPr/>
          </p:nvSpPr>
          <p:spPr>
            <a:xfrm>
              <a:off x="876300" y="2112645"/>
              <a:ext cx="5833142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Arena 与本机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6300" y="3065145"/>
              <a:ext cx="6540246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自循环打通报告</a:t>
              </a:r>
            </a:p>
          </p:txBody>
        </p:sp>
      </p:grpSp>
      <p:grpSp>
        <p:nvGrpSpPr>
          <p:cNvPr id="13" name="cover-subtitle"/>
          <p:cNvGrpSpPr/>
          <p:nvPr/>
        </p:nvGrpSpPr>
        <p:grpSpPr>
          <a:xfrm>
            <a:off x="923544" y="4304348"/>
            <a:ext cx="5571877" cy="381381"/>
            <a:chOff x="923544" y="4304348"/>
            <a:chExt cx="5571877" cy="381381"/>
          </a:xfrm>
        </p:grpSpPr>
        <p:sp>
          <p:nvSpPr>
            <p:cNvPr id="12" name="TextBox 12"/>
            <p:cNvSpPr txBox="1"/>
            <p:nvPr/>
          </p:nvSpPr>
          <p:spPr>
            <a:xfrm>
              <a:off x="923544" y="4304348"/>
              <a:ext cx="55718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沙箱生成 → git 分支 → 本机值守判定 → 结论回传</a:t>
              </a:r>
            </a:p>
          </p:txBody>
        </p:sp>
      </p:grpSp>
      <p:grpSp>
        <p:nvGrpSpPr>
          <p:cNvPr id="15" name="cover-rule"/>
          <p:cNvGrpSpPr/>
          <p:nvPr/>
        </p:nvGrpSpPr>
        <p:grpSpPr>
          <a:xfrm>
            <a:off x="933450" y="4819650"/>
            <a:ext cx="2857500" cy="19050"/>
            <a:chOff x="933450" y="4819650"/>
            <a:chExt cx="2857500" cy="19050"/>
          </a:xfrm>
        </p:grpSpPr>
        <p:sp>
          <p:nvSpPr>
            <p:cNvPr id="14" name="Rectangle 14"/>
            <p:cNvSpPr/>
            <p:nvPr/>
          </p:nvSpPr>
          <p:spPr>
            <a:xfrm>
              <a:off x="933450" y="4819650"/>
              <a:ext cx="2857500" cy="19050"/>
            </a:xfrm>
            <a:prstGeom prst="rect">
              <a:avLst/>
            </a:prstGeom>
            <a:solidFill>
              <a:srgbClr val="22D3EE">
                <a:alpha val="70000"/>
              </a:srgbClr>
            </a:solidFill>
            <a:ln>
              <a:noFill/>
            </a:ln>
          </p:spPr>
        </p:sp>
      </p:grpSp>
      <p:grpSp>
        <p:nvGrpSpPr>
          <p:cNvPr id="25" name="cover-kpis"/>
          <p:cNvGrpSpPr/>
          <p:nvPr/>
        </p:nvGrpSpPr>
        <p:grpSpPr>
          <a:xfrm>
            <a:off x="933450" y="5105400"/>
            <a:ext cx="7600950" cy="876300"/>
            <a:chOff x="933450" y="5105400"/>
            <a:chExt cx="7600950" cy="876300"/>
          </a:xfrm>
        </p:grpSpPr>
        <p:sp>
          <p:nvSpPr>
            <p:cNvPr id="16" name="Rectangle 16"/>
            <p:cNvSpPr/>
            <p:nvPr/>
          </p:nvSpPr>
          <p:spPr>
            <a:xfrm>
              <a:off x="933450" y="5105400"/>
              <a:ext cx="2381250" cy="876300"/>
            </a:xfrm>
            <a:prstGeom prst="roundRect">
              <a:avLst>
                <a:gd name="adj" fmla="val 13043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2144" y="5294948"/>
              <a:ext cx="9851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4 / 4 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6335" y="5669756"/>
              <a:ext cx="1157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真机逐轮 passed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43300" y="5105400"/>
              <a:ext cx="2381250" cy="876300"/>
            </a:xfrm>
            <a:prstGeom prst="roundRect">
              <a:avLst>
                <a:gd name="adj" fmla="val 13043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61994" y="5294948"/>
              <a:ext cx="13041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7 份交付物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66185" y="5669756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docx · pptx · 清单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153150" y="5105400"/>
              <a:ext cx="2381250" cy="876300"/>
            </a:xfrm>
            <a:prstGeom prst="roundRect">
              <a:avLst>
                <a:gd name="adj" fmla="val 13043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1844" y="5294948"/>
              <a:ext cx="18554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0 失败 / 0 跳过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566975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68 条成功标准全过</a:t>
              </a:r>
            </a:p>
          </p:txBody>
        </p:sp>
      </p:grpSp>
      <p:grpSp>
        <p:nvGrpSpPr>
          <p:cNvPr id="27" name="cover-meta"/>
          <p:cNvGrpSpPr/>
          <p:nvPr/>
        </p:nvGrpSpPr>
        <p:grpSpPr>
          <a:xfrm>
            <a:off x="927354" y="6271260"/>
            <a:ext cx="4227779" cy="234696"/>
            <a:chOff x="927354" y="6271260"/>
            <a:chExt cx="4227779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927354" y="6271260"/>
              <a:ext cx="4227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2026-09-16 · git-sync v2.8.1 · LAPTOP-R77M5D6M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3143250" cy="1194435"/>
            <a:chOff x="649986" y="613410"/>
            <a:chExt cx="3143250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987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INDEX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这份报告讲什么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六个问题，一条链路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02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5219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git-sync v2.8.1 · arena/01a0aa00-git-pull-arena · ppt-master v6.4.0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4" name="toc-row-1"/>
          <p:cNvGrpSpPr/>
          <p:nvPr/>
        </p:nvGrpSpPr>
        <p:grpSpPr>
          <a:xfrm>
            <a:off x="685800" y="2132648"/>
            <a:ext cx="10820400" cy="381381"/>
            <a:chOff x="685800" y="2132648"/>
            <a:chExt cx="10820400" cy="381381"/>
          </a:xfrm>
        </p:grpSpPr>
        <p:sp>
          <p:nvSpPr>
            <p:cNvPr id="10" name="TextBox 10"/>
            <p:cNvSpPr txBox="1"/>
            <p:nvPr/>
          </p:nvSpPr>
          <p:spPr>
            <a:xfrm>
              <a:off x="696468" y="216503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6944" y="2132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一条链路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88511" y="218932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沙箱 · git 分支 · 本机值守，各自负责什么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243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19" name="toc-row-2"/>
          <p:cNvGrpSpPr/>
          <p:nvPr/>
        </p:nvGrpSpPr>
        <p:grpSpPr>
          <a:xfrm>
            <a:off x="685800" y="2723198"/>
            <a:ext cx="10820400" cy="381381"/>
            <a:chOff x="685800" y="2723198"/>
            <a:chExt cx="10820400" cy="381381"/>
          </a:xfrm>
        </p:grpSpPr>
        <p:sp>
          <p:nvSpPr>
            <p:cNvPr id="15" name="TextBox 15"/>
            <p:cNvSpPr txBox="1"/>
            <p:nvPr/>
          </p:nvSpPr>
          <p:spPr>
            <a:xfrm>
              <a:off x="696468" y="275558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56944" y="27231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装了什么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88511" y="2779871"/>
              <a:ext cx="34649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从你链接的会话装来的 git-sync v2.8.1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3028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24" name="toc-row-3"/>
          <p:cNvGrpSpPr/>
          <p:nvPr/>
        </p:nvGrpSpPr>
        <p:grpSpPr>
          <a:xfrm>
            <a:off x="685800" y="3313748"/>
            <a:ext cx="10820400" cy="381381"/>
            <a:chOff x="685800" y="3313748"/>
            <a:chExt cx="10820400" cy="381381"/>
          </a:xfrm>
        </p:grpSpPr>
        <p:sp>
          <p:nvSpPr>
            <p:cNvPr id="20" name="TextBox 20"/>
            <p:cNvSpPr txBox="1"/>
            <p:nvPr/>
          </p:nvSpPr>
          <p:spPr>
            <a:xfrm>
              <a:off x="696468" y="334613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56944" y="33137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自循环怎么跑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8511" y="337042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五步一圈，值守一回传就结束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3619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29" name="toc-row-4"/>
          <p:cNvGrpSpPr/>
          <p:nvPr/>
        </p:nvGrpSpPr>
        <p:grpSpPr>
          <a:xfrm>
            <a:off x="685800" y="3904298"/>
            <a:ext cx="10820400" cy="381381"/>
            <a:chOff x="685800" y="3904298"/>
            <a:chExt cx="10820400" cy="381381"/>
          </a:xfrm>
        </p:grpSpPr>
        <p:sp>
          <p:nvSpPr>
            <p:cNvPr id="25" name="TextBox 25"/>
            <p:cNvSpPr txBox="1"/>
            <p:nvPr/>
          </p:nvSpPr>
          <p:spPr>
            <a:xfrm>
              <a:off x="696468" y="393668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56944" y="390429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本机检查清单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88511" y="3960971"/>
              <a:ext cx="25760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3a–3h 与 2a–2d 到底验了什么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85800" y="4210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34" name="toc-row-5"/>
          <p:cNvGrpSpPr/>
          <p:nvPr/>
        </p:nvGrpSpPr>
        <p:grpSpPr>
          <a:xfrm>
            <a:off x="685800" y="4494848"/>
            <a:ext cx="10820400" cy="381381"/>
            <a:chOff x="685800" y="4494848"/>
            <a:chExt cx="10820400" cy="381381"/>
          </a:xfrm>
        </p:grpSpPr>
        <p:sp>
          <p:nvSpPr>
            <p:cNvPr id="30" name="TextBox 30"/>
            <p:cNvSpPr txBox="1"/>
            <p:nvPr/>
          </p:nvSpPr>
          <p:spPr>
            <a:xfrm>
              <a:off x="696468" y="452723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56944" y="44948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交付物与命令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8511" y="4551521"/>
              <a:ext cx="25282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七份文件 + 本机四条日常命令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85800" y="4800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  <p:grpSp>
        <p:nvGrpSpPr>
          <p:cNvPr id="39" name="toc-row-6"/>
          <p:cNvGrpSpPr/>
          <p:nvPr/>
        </p:nvGrpSpPr>
        <p:grpSpPr>
          <a:xfrm>
            <a:off x="685800" y="5085398"/>
            <a:ext cx="10820400" cy="381381"/>
            <a:chOff x="685800" y="5085398"/>
            <a:chExt cx="10820400" cy="381381"/>
          </a:xfrm>
        </p:grpSpPr>
        <p:sp>
          <p:nvSpPr>
            <p:cNvPr id="35" name="TextBox 35"/>
            <p:cNvSpPr txBox="1"/>
            <p:nvPr/>
          </p:nvSpPr>
          <p:spPr>
            <a:xfrm>
              <a:off x="696468" y="5117782"/>
              <a:ext cx="281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spc="15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06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56944" y="50853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边界与故障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88511" y="51420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什么算打通，卡住怎么修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85800" y="5391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857250"/>
                </a:moveTo>
                <a:lnTo>
                  <a:pt x="12192000" y="85725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2571750"/>
                </a:moveTo>
                <a:lnTo>
                  <a:pt x="12192000" y="257175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286250"/>
                </a:moveTo>
                <a:lnTo>
                  <a:pt x="12192000" y="428625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000750"/>
                </a:moveTo>
                <a:lnTo>
                  <a:pt x="12192000" y="6000750"/>
                </a:lnTo>
              </a:path>
            </a:pathLst>
          </a:custGeom>
          <a:noFill/>
          <a:ln w="9525">
            <a:solidFill>
              <a:srgbClr val="17293F">
                <a:alpha val="50000"/>
              </a:srgbClr>
            </a:solidFill>
          </a:ln>
        </p:spPr>
      </p:sp>
      <p:grpSp>
        <p:nvGrpSpPr>
          <p:cNvPr id="4" name="chapter-number"/>
          <p:cNvGrpSpPr/>
          <p:nvPr/>
        </p:nvGrpSpPr>
        <p:grpSpPr>
          <a:xfrm>
            <a:off x="819150" y="1819275"/>
            <a:ext cx="1592961" cy="2019300"/>
            <a:chOff x="819150" y="1819275"/>
            <a:chExt cx="1592961" cy="2019300"/>
          </a:xfrm>
        </p:grpSpPr>
        <p:sp>
          <p:nvSpPr>
            <p:cNvPr id="3" name="TextBox 3"/>
            <p:cNvSpPr txBox="1"/>
            <p:nvPr/>
          </p:nvSpPr>
          <p:spPr>
            <a:xfrm>
              <a:off x="819150" y="1819275"/>
              <a:ext cx="1592961" cy="201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0" b="1" dirty="0">
                  <a:solidFill>
                    <a:srgbClr val="121C2E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</p:grpSp>
      <p:grpSp>
        <p:nvGrpSpPr>
          <p:cNvPr id="6" name="chapter-title"/>
          <p:cNvGrpSpPr/>
          <p:nvPr/>
        </p:nvGrpSpPr>
        <p:grpSpPr>
          <a:xfrm>
            <a:off x="895350" y="3476625"/>
            <a:ext cx="2461260" cy="876300"/>
            <a:chOff x="895350" y="3476625"/>
            <a:chExt cx="2461260" cy="87630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3476625"/>
              <a:ext cx="246126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一条链路</a:t>
              </a:r>
            </a:p>
          </p:txBody>
        </p:sp>
      </p:grpSp>
      <p:grpSp>
        <p:nvGrpSpPr>
          <p:cNvPr id="8" name="chapter-subtitle"/>
          <p:cNvGrpSpPr/>
          <p:nvPr/>
        </p:nvGrpSpPr>
        <p:grpSpPr>
          <a:xfrm>
            <a:off x="942594" y="4285298"/>
            <a:ext cx="4387226" cy="381381"/>
            <a:chOff x="942594" y="4285298"/>
            <a:chExt cx="4387226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942594" y="4285298"/>
              <a:ext cx="438722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沙箱 → git 分支 → 你的 Windows 机器</a:t>
              </a:r>
            </a:p>
          </p:txBody>
        </p:sp>
      </p:grpSp>
      <p:grpSp>
        <p:nvGrpSpPr>
          <p:cNvPr id="10" name="chapter-rule"/>
          <p:cNvGrpSpPr/>
          <p:nvPr/>
        </p:nvGrpSpPr>
        <p:grpSpPr>
          <a:xfrm>
            <a:off x="914400" y="4762500"/>
            <a:ext cx="2095500" cy="28575"/>
            <a:chOff x="914400" y="4762500"/>
            <a:chExt cx="2095500" cy="28575"/>
          </a:xfrm>
        </p:grpSpPr>
        <p:sp>
          <p:nvSpPr>
            <p:cNvPr id="9" name="Rectangle 9"/>
            <p:cNvSpPr/>
            <p:nvPr/>
          </p:nvSpPr>
          <p:spPr>
            <a:xfrm>
              <a:off x="914400" y="4762500"/>
              <a:ext cx="2095500" cy="28575"/>
            </a:xfrm>
            <a:prstGeom prst="rect">
              <a:avLst/>
            </a:prstGeom>
            <a:solidFill>
              <a:srgbClr val="22D3EE"/>
            </a:solidFill>
            <a:ln>
              <a:noFill/>
            </a:ln>
          </p:spPr>
        </p:sp>
      </p:grpSp>
      <p:grpSp>
        <p:nvGrpSpPr>
          <p:cNvPr id="12" name="chapter-note"/>
          <p:cNvGrpSpPr/>
          <p:nvPr/>
        </p:nvGrpSpPr>
        <p:grpSpPr>
          <a:xfrm>
            <a:off x="906780" y="5095875"/>
            <a:ext cx="5467350" cy="293370"/>
            <a:chOff x="906780" y="5095875"/>
            <a:chExt cx="5467350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906780" y="509587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没有别的通道：不是沙箱里的假本地，也没有自制桥接脚本。</a:t>
              </a:r>
            </a:p>
          </p:txBody>
        </p:sp>
      </p:grpSp>
      <p:sp>
        <p:nvSpPr>
          <p:cNvPr id="13" name="footer-left"/>
          <p:cNvSpPr txBox="1"/>
          <p:nvPr/>
        </p:nvSpPr>
        <p:spPr>
          <a:xfrm>
            <a:off x="909066" y="6135052"/>
            <a:ext cx="5219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git-sync v2.8.1 · arena/01a0aa00-git-pull-arena · ppt-master v6.4.0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9162745" y="6135052"/>
            <a:ext cx="23106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SECTION 01 · LAPTOP-R77M5D6M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4031742" cy="1194435"/>
            <a:chOff x="649986" y="613410"/>
            <a:chExt cx="4031742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364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TOPOLOGY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一条链路的三个角色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每一段都只传 git 提交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03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5219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git-sync v2.8.1 · arena/01a0aa00-git-pull-arena · ppt-master v6.4.0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8" name="chain-sandbox"/>
          <p:cNvGrpSpPr/>
          <p:nvPr/>
        </p:nvGrpSpPr>
        <p:grpSpPr>
          <a:xfrm>
            <a:off x="685800" y="2209800"/>
            <a:ext cx="3276600" cy="2609850"/>
            <a:chOff x="685800" y="2209800"/>
            <a:chExt cx="3276600" cy="2609850"/>
          </a:xfrm>
        </p:grpSpPr>
        <p:sp>
          <p:nvSpPr>
            <p:cNvPr id="10" name="Rectangle 10"/>
            <p:cNvSpPr/>
            <p:nvPr/>
          </p:nvSpPr>
          <p:spPr>
            <a:xfrm>
              <a:off x="685800" y="2209800"/>
              <a:ext cx="3276600" cy="2609850"/>
            </a:xfrm>
            <a:prstGeom prst="roundRect">
              <a:avLst>
                <a:gd name="adj" fmla="val 5109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85800" y="2209800"/>
              <a:ext cx="38100" cy="260985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0694" y="2513648"/>
              <a:ext cx="13950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Arena 沙箱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90600" y="29146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4123" y="3138964"/>
              <a:ext cx="2175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生成交付物（docx / pptx）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4885" y="3517106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agent-sync.sh 提交并推送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885" y="3879056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agent-check.sh --request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123" y="4224814"/>
              <a:ext cx="1641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请求检查，round + 1</a:t>
              </a:r>
            </a:p>
          </p:txBody>
        </p:sp>
      </p:grpSp>
      <p:grpSp>
        <p:nvGrpSpPr>
          <p:cNvPr id="27" name="chain-branch"/>
          <p:cNvGrpSpPr/>
          <p:nvPr/>
        </p:nvGrpSpPr>
        <p:grpSpPr>
          <a:xfrm>
            <a:off x="4457700" y="2209800"/>
            <a:ext cx="3276600" cy="2609850"/>
            <a:chOff x="4457700" y="2209800"/>
            <a:chExt cx="3276600" cy="2609850"/>
          </a:xfrm>
        </p:grpSpPr>
        <p:sp>
          <p:nvSpPr>
            <p:cNvPr id="19" name="Rectangle 19"/>
            <p:cNvSpPr/>
            <p:nvPr/>
          </p:nvSpPr>
          <p:spPr>
            <a:xfrm>
              <a:off x="4457700" y="2209800"/>
              <a:ext cx="3276600" cy="2609850"/>
            </a:xfrm>
            <a:prstGeom prst="roundRect">
              <a:avLst>
                <a:gd name="adj" fmla="val 5109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2209800"/>
              <a:ext cx="38100" cy="2609850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52594" y="2513648"/>
              <a:ext cx="14856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GitHub 分支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762500" y="29146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56785" y="3155156"/>
              <a:ext cx="241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arena/01a0aa00-git-pull-arena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6404" y="350901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唯一交换面：提交 + 日志 + 握手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56785" y="3879056"/>
              <a:ext cx="2416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results/status/handshake.json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6023" y="42248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两端只认这个分支</a:t>
              </a:r>
            </a:p>
          </p:txBody>
        </p:sp>
      </p:grpSp>
      <p:grpSp>
        <p:nvGrpSpPr>
          <p:cNvPr id="36" name="chain-watcher"/>
          <p:cNvGrpSpPr/>
          <p:nvPr/>
        </p:nvGrpSpPr>
        <p:grpSpPr>
          <a:xfrm>
            <a:off x="8229600" y="2209800"/>
            <a:ext cx="3276600" cy="2609850"/>
            <a:chOff x="8229600" y="2209800"/>
            <a:chExt cx="3276600" cy="2609850"/>
          </a:xfrm>
        </p:grpSpPr>
        <p:sp>
          <p:nvSpPr>
            <p:cNvPr id="28" name="Rectangle 28"/>
            <p:cNvSpPr/>
            <p:nvPr/>
          </p:nvSpPr>
          <p:spPr>
            <a:xfrm>
              <a:off x="8229600" y="2209800"/>
              <a:ext cx="3276600" cy="2609850"/>
            </a:xfrm>
            <a:prstGeom prst="roundRect">
              <a:avLst>
                <a:gd name="adj" fmla="val 5109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229600" y="2209800"/>
              <a:ext cx="38100" cy="260985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24494" y="2513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本机值守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534400" y="29146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17293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28685" y="3155156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计划任务 git-sync-watch-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28685" y="3517106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git-pull-arena-01a0aa00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28304" y="38709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每 2 分钟一轮询：pull → 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28304" y="4232910"/>
              <a:ext cx="2233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local_check.ps1，再推回结论</a:t>
              </a:r>
            </a:p>
          </p:txBody>
        </p:sp>
      </p:grpSp>
      <p:sp>
        <p:nvSpPr>
          <p:cNvPr id="37" name="chain-arrow-1"/>
          <p:cNvSpPr/>
          <p:nvPr/>
        </p:nvSpPr>
        <p:spPr>
          <a:xfrm>
            <a:off x="4000500" y="35052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2B4E75"/>
            </a:solidFill>
          </a:ln>
        </p:spPr>
      </p:sp>
      <p:sp>
        <p:nvSpPr>
          <p:cNvPr id="38" name="chain-arrow-2"/>
          <p:cNvSpPr/>
          <p:nvPr/>
        </p:nvSpPr>
        <p:spPr>
          <a:xfrm>
            <a:off x="4343400" y="3429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4E75"/>
          </a:solidFill>
          <a:ln>
            <a:noFill/>
          </a:ln>
        </p:spPr>
      </p:sp>
      <p:sp>
        <p:nvSpPr>
          <p:cNvPr id="39" name="chain-arrow-3"/>
          <p:cNvSpPr/>
          <p:nvPr/>
        </p:nvSpPr>
        <p:spPr>
          <a:xfrm>
            <a:off x="7772400" y="35052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2B4E75"/>
            </a:solidFill>
          </a:ln>
        </p:spPr>
      </p:sp>
      <p:sp>
        <p:nvSpPr>
          <p:cNvPr id="40" name="chain-arrow-4"/>
          <p:cNvSpPr/>
          <p:nvPr/>
        </p:nvSpPr>
        <p:spPr>
          <a:xfrm>
            <a:off x="8115300" y="3429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4E75"/>
          </a:solidFill>
          <a:ln>
            <a:noFill/>
          </a:ln>
        </p:spPr>
      </p:sp>
      <p:grpSp>
        <p:nvGrpSpPr>
          <p:cNvPr id="43" name="chain-note"/>
          <p:cNvGrpSpPr/>
          <p:nvPr/>
        </p:nvGrpSpPr>
        <p:grpSpPr>
          <a:xfrm>
            <a:off x="685800" y="5010150"/>
            <a:ext cx="10820400" cy="704850"/>
            <a:chOff x="685800" y="5010150"/>
            <a:chExt cx="10820400" cy="704850"/>
          </a:xfrm>
        </p:grpSpPr>
        <p:sp>
          <p:nvSpPr>
            <p:cNvPr id="41" name="Rectangle 41"/>
            <p:cNvSpPr/>
            <p:nvPr/>
          </p:nvSpPr>
          <p:spPr>
            <a:xfrm>
              <a:off x="685800" y="5010150"/>
              <a:ext cx="10820400" cy="704850"/>
            </a:xfrm>
            <a:prstGeom prst="roundRect">
              <a:avLst>
                <a:gd name="adj" fmla="val 16216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5261" y="5294471"/>
              <a:ext cx="83873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唯一通道是 git：产物经分支到本机，结论从分支读回来；值守没回传之前，助手不会说“已打通”。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6314056" cy="1194435"/>
            <a:chOff x="649986" y="613410"/>
            <a:chExt cx="6314056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868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WHAT SHIPPED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63140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装了什么（git-sync v2.8.1）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60125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从你链接的会话 01a0a9f0 装来，技能本体出自开发分支 01a0a98d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04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5219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git-sync v2.8.1 · arena/01a0aa00-git-pull-arena · ppt-master v6.4.0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6" name="installed-upgrade"/>
          <p:cNvGrpSpPr/>
          <p:nvPr/>
        </p:nvGrpSpPr>
        <p:grpSpPr>
          <a:xfrm>
            <a:off x="685800" y="2190750"/>
            <a:ext cx="5181600" cy="1695450"/>
            <a:chOff x="685800" y="2190750"/>
            <a:chExt cx="5181600" cy="1695450"/>
          </a:xfrm>
        </p:grpSpPr>
        <p:sp>
          <p:nvSpPr>
            <p:cNvPr id="10" name="Rectangle 10"/>
            <p:cNvSpPr/>
            <p:nvPr/>
          </p:nvSpPr>
          <p:spPr>
            <a:xfrm>
              <a:off x="685800" y="2190750"/>
              <a:ext cx="5181600" cy="1695450"/>
            </a:xfrm>
            <a:prstGeom prst="roundRect">
              <a:avLst>
                <a:gd name="adj" fmla="val 786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85800" y="2190750"/>
              <a:ext cx="38100" cy="1695450"/>
            </a:xfrm>
            <a:prstGeom prst="roundRect">
              <a:avLst>
                <a:gd name="adj" fmla="val 5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1456" y="24536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安装器拒绝降级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123" y="2910364"/>
              <a:ext cx="2209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v2.7.4 → v2.8.1，一步装好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123" y="3253264"/>
              <a:ext cx="2382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不再被 main 上的旧版悄悄覆盖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4123" y="35961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配置分支自动指向本会话分支</a:t>
              </a:r>
            </a:p>
          </p:txBody>
        </p:sp>
      </p:grpSp>
      <p:grpSp>
        <p:nvGrpSpPr>
          <p:cNvPr id="23" name="installed-python"/>
          <p:cNvGrpSpPr/>
          <p:nvPr/>
        </p:nvGrpSpPr>
        <p:grpSpPr>
          <a:xfrm>
            <a:off x="6172200" y="2190750"/>
            <a:ext cx="5181600" cy="1695450"/>
            <a:chOff x="6172200" y="2190750"/>
            <a:chExt cx="5181600" cy="1695450"/>
          </a:xfrm>
        </p:grpSpPr>
        <p:sp>
          <p:nvSpPr>
            <p:cNvPr id="17" name="Rectangle 17"/>
            <p:cNvSpPr/>
            <p:nvPr/>
          </p:nvSpPr>
          <p:spPr>
            <a:xfrm>
              <a:off x="6172200" y="2190750"/>
              <a:ext cx="5181600" cy="1695450"/>
            </a:xfrm>
            <a:prstGeom prst="roundRect">
              <a:avLst>
                <a:gd name="adj" fmla="val 786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0" y="2190750"/>
              <a:ext cx="38100" cy="1695450"/>
            </a:xfrm>
            <a:prstGeom prst="roundRect">
              <a:avLst>
                <a:gd name="adj" fmla="val 50000"/>
              </a:avLst>
            </a:prstGeom>
            <a:solidFill>
              <a:srgbClr val="A3E63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67856" y="2453640"/>
              <a:ext cx="23881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闸门逐个验证 python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0523" y="2910364"/>
              <a:ext cx="28130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python3 / python / py -3 依次实测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0523" y="3253264"/>
              <a:ext cx="32467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Microsoft Store 假 python3 不再骗过它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0523" y="3596164"/>
              <a:ext cx="2200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本机以前那几项 SKIP 消失了</a:t>
              </a:r>
            </a:p>
          </p:txBody>
        </p:sp>
      </p:grpSp>
      <p:grpSp>
        <p:nvGrpSpPr>
          <p:cNvPr id="30" name="installed-office"/>
          <p:cNvGrpSpPr/>
          <p:nvPr/>
        </p:nvGrpSpPr>
        <p:grpSpPr>
          <a:xfrm>
            <a:off x="685800" y="4019550"/>
            <a:ext cx="5181600" cy="1695450"/>
            <a:chOff x="685800" y="4019550"/>
            <a:chExt cx="5181600" cy="1695450"/>
          </a:xfrm>
        </p:grpSpPr>
        <p:sp>
          <p:nvSpPr>
            <p:cNvPr id="24" name="Rectangle 24"/>
            <p:cNvSpPr/>
            <p:nvPr/>
          </p:nvSpPr>
          <p:spPr>
            <a:xfrm>
              <a:off x="685800" y="4019550"/>
              <a:ext cx="5181600" cy="1695450"/>
            </a:xfrm>
            <a:prstGeom prst="roundRect">
              <a:avLst>
                <a:gd name="adj" fmla="val 786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" y="4019550"/>
              <a:ext cx="38100" cy="1695450"/>
            </a:xfrm>
            <a:prstGeom prst="roundRect">
              <a:avLst>
                <a:gd name="adj" fmla="val 50000"/>
              </a:avLst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1456" y="4282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开档测试读清单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4123" y="4739164"/>
              <a:ext cx="316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OFFICE_HASHES.json 决定打开哪些文件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4123" y="50820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新增产物不用改脚本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4123" y="5424964"/>
              <a:ext cx="277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真 Word / 真 PowerPoint 只读开档</a:t>
              </a:r>
            </a:p>
          </p:txBody>
        </p:sp>
      </p:grpSp>
      <p:grpSp>
        <p:nvGrpSpPr>
          <p:cNvPr id="37" name="installed-bytes"/>
          <p:cNvGrpSpPr/>
          <p:nvPr/>
        </p:nvGrpSpPr>
        <p:grpSpPr>
          <a:xfrm>
            <a:off x="6172200" y="4019550"/>
            <a:ext cx="5181600" cy="1695450"/>
            <a:chOff x="6172200" y="4019550"/>
            <a:chExt cx="5181600" cy="1695450"/>
          </a:xfrm>
        </p:grpSpPr>
        <p:sp>
          <p:nvSpPr>
            <p:cNvPr id="31" name="Rectangle 31"/>
            <p:cNvSpPr/>
            <p:nvPr/>
          </p:nvSpPr>
          <p:spPr>
            <a:xfrm>
              <a:off x="6172200" y="4019550"/>
              <a:ext cx="5181600" cy="1695450"/>
            </a:xfrm>
            <a:prstGeom prst="roundRect">
              <a:avLst>
                <a:gd name="adj" fmla="val 786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72200" y="4019550"/>
              <a:ext cx="38100" cy="1695450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67856" y="4282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字节判定更稳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0523" y="4739164"/>
              <a:ext cx="2734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文本统一 LF 入库，两边字节数一致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523" y="50820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值守日志带时间戳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0523" y="54249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轮询自适应，结论一到就返回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3587496" cy="1194435"/>
            <a:chOff x="649986" y="613410"/>
            <a:chExt cx="3587496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4907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SELF-LOOP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自循环：五步一圈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3114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一轮 30–60 秒，值守一回传就结束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05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5219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git-sync v2.8.1 · arena/01a0aa00-git-pull-arena · ppt-master v6.4.0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7" name="loop-step-1"/>
          <p:cNvGrpSpPr/>
          <p:nvPr/>
        </p:nvGrpSpPr>
        <p:grpSpPr>
          <a:xfrm>
            <a:off x="685800" y="2343150"/>
            <a:ext cx="1905000" cy="2038350"/>
            <a:chOff x="685800" y="2343150"/>
            <a:chExt cx="1905000" cy="2038350"/>
          </a:xfrm>
        </p:grpSpPr>
        <p:sp>
          <p:nvSpPr>
            <p:cNvPr id="10" name="Rectangle 10"/>
            <p:cNvSpPr/>
            <p:nvPr/>
          </p:nvSpPr>
          <p:spPr>
            <a:xfrm>
              <a:off x="685800" y="2343150"/>
              <a:ext cx="1905000" cy="2038350"/>
            </a:xfrm>
            <a:prstGeom prst="roundRect">
              <a:avLst>
                <a:gd name="adj" fmla="val 7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838200" y="2571750"/>
              <a:ext cx="342900" cy="342900"/>
            </a:xfrm>
            <a:prstGeom prst="ellipse">
              <a:avLst/>
            </a:prstGeom>
            <a:solidFill>
              <a:srgbClr val="22D3EE">
                <a:alpha val="16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499" y="26479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9680" y="2647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提交推送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8116" y="31442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agent-sync.sh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8116" y="3410902"/>
              <a:ext cx="9294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过闸门后 push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8497" y="397144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P1</a:t>
              </a:r>
            </a:p>
          </p:txBody>
        </p:sp>
      </p:grpSp>
      <p:sp>
        <p:nvSpPr>
          <p:cNvPr id="18" name="loop-arrow-1"/>
          <p:cNvSpPr/>
          <p:nvPr/>
        </p:nvSpPr>
        <p:spPr>
          <a:xfrm>
            <a:off x="2628900" y="3352800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8575">
            <a:solidFill>
              <a:srgbClr val="2B4E75"/>
            </a:solidFill>
          </a:ln>
        </p:spPr>
      </p:sp>
      <p:sp>
        <p:nvSpPr>
          <p:cNvPr id="19" name="loop-head-1"/>
          <p:cNvSpPr/>
          <p:nvPr/>
        </p:nvSpPr>
        <p:spPr>
          <a:xfrm>
            <a:off x="2857500" y="3276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0"/>
                </a:moveTo>
                <a:lnTo>
                  <a:pt x="1143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4E75"/>
          </a:solidFill>
          <a:ln>
            <a:noFill/>
          </a:ln>
        </p:spPr>
      </p:sp>
      <p:grpSp>
        <p:nvGrpSpPr>
          <p:cNvPr id="27" name="loop-step-2"/>
          <p:cNvGrpSpPr/>
          <p:nvPr/>
        </p:nvGrpSpPr>
        <p:grpSpPr>
          <a:xfrm>
            <a:off x="2914650" y="2343150"/>
            <a:ext cx="1905000" cy="2038350"/>
            <a:chOff x="2914650" y="2343150"/>
            <a:chExt cx="1905000" cy="2038350"/>
          </a:xfrm>
        </p:grpSpPr>
        <p:sp>
          <p:nvSpPr>
            <p:cNvPr id="20" name="Rectangle 20"/>
            <p:cNvSpPr/>
            <p:nvPr/>
          </p:nvSpPr>
          <p:spPr>
            <a:xfrm>
              <a:off x="2914650" y="2343150"/>
              <a:ext cx="1905000" cy="2038350"/>
            </a:xfrm>
            <a:prstGeom prst="roundRect">
              <a:avLst>
                <a:gd name="adj" fmla="val 7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067050" y="2571750"/>
              <a:ext cx="342900" cy="342900"/>
            </a:xfrm>
            <a:prstGeom prst="ellipse">
              <a:avLst/>
            </a:prstGeom>
            <a:solidFill>
              <a:srgbClr val="22D3EE">
                <a:alpha val="16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75349" y="26479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78530" y="2647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请求检查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56966" y="3144202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agent-check.sh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56966" y="3410902"/>
              <a:ext cx="1487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--request round + 1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7347" y="397144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P2</a:t>
              </a:r>
            </a:p>
          </p:txBody>
        </p:sp>
      </p:grpSp>
      <p:sp>
        <p:nvSpPr>
          <p:cNvPr id="28" name="loop-arrow-2"/>
          <p:cNvSpPr/>
          <p:nvPr/>
        </p:nvSpPr>
        <p:spPr>
          <a:xfrm>
            <a:off x="4857750" y="3352800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8575">
            <a:solidFill>
              <a:srgbClr val="2B4E75"/>
            </a:solidFill>
          </a:ln>
        </p:spPr>
      </p:sp>
      <p:sp>
        <p:nvSpPr>
          <p:cNvPr id="29" name="loop-head-2"/>
          <p:cNvSpPr/>
          <p:nvPr/>
        </p:nvSpPr>
        <p:spPr>
          <a:xfrm>
            <a:off x="5086350" y="3276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0"/>
                </a:moveTo>
                <a:lnTo>
                  <a:pt x="1143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4E75"/>
          </a:solidFill>
          <a:ln>
            <a:noFill/>
          </a:ln>
        </p:spPr>
      </p:sp>
      <p:grpSp>
        <p:nvGrpSpPr>
          <p:cNvPr id="37" name="loop-step-3"/>
          <p:cNvGrpSpPr/>
          <p:nvPr/>
        </p:nvGrpSpPr>
        <p:grpSpPr>
          <a:xfrm>
            <a:off x="5143500" y="2343150"/>
            <a:ext cx="1905000" cy="2038350"/>
            <a:chOff x="5143500" y="2343150"/>
            <a:chExt cx="1905000" cy="2038350"/>
          </a:xfrm>
        </p:grpSpPr>
        <p:sp>
          <p:nvSpPr>
            <p:cNvPr id="30" name="Rectangle 30"/>
            <p:cNvSpPr/>
            <p:nvPr/>
          </p:nvSpPr>
          <p:spPr>
            <a:xfrm>
              <a:off x="5143500" y="2343150"/>
              <a:ext cx="1905000" cy="2038350"/>
            </a:xfrm>
            <a:prstGeom prst="roundRect">
              <a:avLst>
                <a:gd name="adj" fmla="val 7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295900" y="2571750"/>
              <a:ext cx="342900" cy="342900"/>
            </a:xfrm>
            <a:prstGeom prst="ellipse">
              <a:avLst/>
            </a:prstGeom>
            <a:solidFill>
              <a:srgbClr val="A3E635">
                <a:alpha val="16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04199" y="26479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07380" y="2647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本机执行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85816" y="3144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值守 pull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85816" y="3410902"/>
              <a:ext cx="13959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跑 local_check.ps1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86197" y="397144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P3</a:t>
              </a:r>
            </a:p>
          </p:txBody>
        </p:sp>
      </p:grpSp>
      <p:sp>
        <p:nvSpPr>
          <p:cNvPr id="38" name="loop-arrow-3"/>
          <p:cNvSpPr/>
          <p:nvPr/>
        </p:nvSpPr>
        <p:spPr>
          <a:xfrm>
            <a:off x="7086600" y="3352800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8575">
            <a:solidFill>
              <a:srgbClr val="2B4E75"/>
            </a:solidFill>
          </a:ln>
        </p:spPr>
      </p:sp>
      <p:sp>
        <p:nvSpPr>
          <p:cNvPr id="39" name="loop-head-3"/>
          <p:cNvSpPr/>
          <p:nvPr/>
        </p:nvSpPr>
        <p:spPr>
          <a:xfrm>
            <a:off x="7315200" y="3276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0"/>
                </a:moveTo>
                <a:lnTo>
                  <a:pt x="1143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4E75"/>
          </a:solidFill>
          <a:ln>
            <a:noFill/>
          </a:ln>
        </p:spPr>
      </p:sp>
      <p:grpSp>
        <p:nvGrpSpPr>
          <p:cNvPr id="47" name="loop-step-4"/>
          <p:cNvGrpSpPr/>
          <p:nvPr/>
        </p:nvGrpSpPr>
        <p:grpSpPr>
          <a:xfrm>
            <a:off x="7372350" y="2343150"/>
            <a:ext cx="1905000" cy="2038350"/>
            <a:chOff x="7372350" y="2343150"/>
            <a:chExt cx="1905000" cy="2038350"/>
          </a:xfrm>
        </p:grpSpPr>
        <p:sp>
          <p:nvSpPr>
            <p:cNvPr id="40" name="Rectangle 40"/>
            <p:cNvSpPr/>
            <p:nvPr/>
          </p:nvSpPr>
          <p:spPr>
            <a:xfrm>
              <a:off x="7372350" y="2343150"/>
              <a:ext cx="1905000" cy="2038350"/>
            </a:xfrm>
            <a:prstGeom prst="roundRect">
              <a:avLst>
                <a:gd name="adj" fmla="val 7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524750" y="2571750"/>
              <a:ext cx="342900" cy="342900"/>
            </a:xfrm>
            <a:prstGeom prst="ellipse">
              <a:avLst/>
            </a:prstGeom>
            <a:solidFill>
              <a:srgbClr val="A3E635">
                <a:alpha val="16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33049" y="26479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36230" y="2647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回传结论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14666" y="3144202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passed / failed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4666" y="3410902"/>
              <a:ext cx="11132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日志一起 push 回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15047" y="397144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P4</a:t>
              </a:r>
            </a:p>
          </p:txBody>
        </p:sp>
      </p:grpSp>
      <p:sp>
        <p:nvSpPr>
          <p:cNvPr id="48" name="loop-arrow-4"/>
          <p:cNvSpPr/>
          <p:nvPr/>
        </p:nvSpPr>
        <p:spPr>
          <a:xfrm>
            <a:off x="9315450" y="3352800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8575">
            <a:solidFill>
              <a:srgbClr val="2B4E75"/>
            </a:solidFill>
          </a:ln>
        </p:spPr>
      </p:sp>
      <p:sp>
        <p:nvSpPr>
          <p:cNvPr id="49" name="loop-head-4"/>
          <p:cNvSpPr/>
          <p:nvPr/>
        </p:nvSpPr>
        <p:spPr>
          <a:xfrm>
            <a:off x="9544050" y="3276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0"/>
                </a:moveTo>
                <a:lnTo>
                  <a:pt x="11430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B4E75"/>
          </a:solidFill>
          <a:ln>
            <a:noFill/>
          </a:ln>
        </p:spPr>
      </p:sp>
      <p:grpSp>
        <p:nvGrpSpPr>
          <p:cNvPr id="57" name="loop-step-5"/>
          <p:cNvGrpSpPr/>
          <p:nvPr/>
        </p:nvGrpSpPr>
        <p:grpSpPr>
          <a:xfrm>
            <a:off x="9601200" y="2343150"/>
            <a:ext cx="1905000" cy="2038350"/>
            <a:chOff x="9601200" y="2343150"/>
            <a:chExt cx="1905000" cy="2038350"/>
          </a:xfrm>
        </p:grpSpPr>
        <p:sp>
          <p:nvSpPr>
            <p:cNvPr id="50" name="Rectangle 50"/>
            <p:cNvSpPr/>
            <p:nvPr/>
          </p:nvSpPr>
          <p:spPr>
            <a:xfrm>
              <a:off x="9601200" y="2343150"/>
              <a:ext cx="1905000" cy="2038350"/>
            </a:xfrm>
            <a:prstGeom prst="roundRect">
              <a:avLst>
                <a:gd name="adj" fmla="val 7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753600" y="2571750"/>
              <a:ext cx="342900" cy="342900"/>
            </a:xfrm>
            <a:prstGeom prst="ellipse">
              <a:avLst/>
            </a:prstGeom>
            <a:solidFill>
              <a:srgbClr val="FBBF24">
                <a:alpha val="16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861899" y="26479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65080" y="26479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读结论收尾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43516" y="3144202"/>
              <a:ext cx="12545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--read 0 / 2 / 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43516" y="3410902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+mj-lt"/>
                  <a:ea typeface="+mj-ea"/>
                  <a:cs typeface="+mj-cs"/>
                </a:rPr>
                <a:t>--accept 收尾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843897" y="397144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P5</a:t>
              </a:r>
            </a:p>
          </p:txBody>
        </p:sp>
      </p:grpSp>
      <p:grpSp>
        <p:nvGrpSpPr>
          <p:cNvPr id="61" name="loop-note"/>
          <p:cNvGrpSpPr/>
          <p:nvPr/>
        </p:nvGrpSpPr>
        <p:grpSpPr>
          <a:xfrm>
            <a:off x="685800" y="4629150"/>
            <a:ext cx="10820400" cy="1047750"/>
            <a:chOff x="685800" y="4629150"/>
            <a:chExt cx="10820400" cy="1047750"/>
          </a:xfrm>
        </p:grpSpPr>
        <p:sp>
          <p:nvSpPr>
            <p:cNvPr id="58" name="Rectangle 58"/>
            <p:cNvSpPr/>
            <p:nvPr/>
          </p:nvSpPr>
          <p:spPr>
            <a:xfrm>
              <a:off x="685800" y="4629150"/>
              <a:ext cx="10820400" cy="1047750"/>
            </a:xfrm>
            <a:prstGeom prst="roundRect">
              <a:avLst>
                <a:gd name="adj" fmla="val 10909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4880" y="4867275"/>
              <a:ext cx="5497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一条命令跑完一圈：agent-handsfree.sh --timeout auto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6023" y="5272564"/>
              <a:ext cx="8421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沙箱不自己宣布成功：成功标准写在 results/status/success_criteria.json，本机逐条验过才 --accept。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8485308" cy="1194435"/>
            <a:chOff x="649986" y="613410"/>
            <a:chExt cx="8485308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27496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REAL-MACHINE CHECKS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848530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本机检查清单（code/local_check.ps1）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每一条都在你的机器上跑，日志原样推回分支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06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5219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git-sync v2.8.1 · arena/01a0aa00-git-pull-arena · ppt-master v6.4.0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3" name="check-3a"/>
          <p:cNvGrpSpPr/>
          <p:nvPr/>
        </p:nvGrpSpPr>
        <p:grpSpPr>
          <a:xfrm>
            <a:off x="685800" y="2266950"/>
            <a:ext cx="2533650" cy="1009650"/>
            <a:chOff x="685800" y="2266950"/>
            <a:chExt cx="2533650" cy="1009650"/>
          </a:xfrm>
        </p:grpSpPr>
        <p:sp>
          <p:nvSpPr>
            <p:cNvPr id="10" name="Rectangle 10"/>
            <p:cNvSpPr/>
            <p:nvPr/>
          </p:nvSpPr>
          <p:spPr>
            <a:xfrm>
              <a:off x="685800" y="2266950"/>
              <a:ext cx="2533650" cy="1009650"/>
            </a:xfrm>
            <a:prstGeom prst="roundRect">
              <a:avLst>
                <a:gd name="adj" fmla="val 1132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5256" y="25107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3a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923" y="2910364"/>
              <a:ext cx="11243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sha256 + 字节</a:t>
              </a:r>
            </a:p>
          </p:txBody>
        </p:sp>
      </p:grpSp>
      <p:grpSp>
        <p:nvGrpSpPr>
          <p:cNvPr id="17" name="check-3b"/>
          <p:cNvGrpSpPr/>
          <p:nvPr/>
        </p:nvGrpSpPr>
        <p:grpSpPr>
          <a:xfrm>
            <a:off x="3448050" y="2266950"/>
            <a:ext cx="2533650" cy="1009650"/>
            <a:chOff x="3448050" y="2266950"/>
            <a:chExt cx="2533650" cy="1009650"/>
          </a:xfrm>
        </p:grpSpPr>
        <p:sp>
          <p:nvSpPr>
            <p:cNvPr id="14" name="Rectangle 14"/>
            <p:cNvSpPr/>
            <p:nvPr/>
          </p:nvSpPr>
          <p:spPr>
            <a:xfrm>
              <a:off x="3448050" y="2266950"/>
              <a:ext cx="2533650" cy="1009650"/>
            </a:xfrm>
            <a:prstGeom prst="roundRect">
              <a:avLst>
                <a:gd name="adj" fmla="val 1132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67506" y="25107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3b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70173" y="2910364"/>
              <a:ext cx="13667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OOXML 必需部件</a:t>
              </a:r>
            </a:p>
          </p:txBody>
        </p:sp>
      </p:grpSp>
      <p:grpSp>
        <p:nvGrpSpPr>
          <p:cNvPr id="21" name="check-3c"/>
          <p:cNvGrpSpPr/>
          <p:nvPr/>
        </p:nvGrpSpPr>
        <p:grpSpPr>
          <a:xfrm>
            <a:off x="6210300" y="2266950"/>
            <a:ext cx="2533650" cy="1009650"/>
            <a:chOff x="6210300" y="2266950"/>
            <a:chExt cx="2533650" cy="1009650"/>
          </a:xfrm>
        </p:grpSpPr>
        <p:sp>
          <p:nvSpPr>
            <p:cNvPr id="18" name="Rectangle 18"/>
            <p:cNvSpPr/>
            <p:nvPr/>
          </p:nvSpPr>
          <p:spPr>
            <a:xfrm>
              <a:off x="6210300" y="2266950"/>
              <a:ext cx="2533650" cy="1009650"/>
            </a:xfrm>
            <a:prstGeom prst="roundRect">
              <a:avLst>
                <a:gd name="adj" fmla="val 1132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29756" y="25107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60A5FA"/>
                  </a:solidFill>
                  <a:latin typeface="+mj-lt"/>
                  <a:ea typeface="+mj-ea"/>
                  <a:cs typeface="+mj-cs"/>
                </a:rPr>
                <a:t>3c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32423" y="2910364"/>
              <a:ext cx="1320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每个 XML 可解析</a:t>
              </a:r>
            </a:p>
          </p:txBody>
        </p:sp>
      </p:grpSp>
      <p:grpSp>
        <p:nvGrpSpPr>
          <p:cNvPr id="25" name="check-3d"/>
          <p:cNvGrpSpPr/>
          <p:nvPr/>
        </p:nvGrpSpPr>
        <p:grpSpPr>
          <a:xfrm>
            <a:off x="8972550" y="2266950"/>
            <a:ext cx="2533650" cy="1009650"/>
            <a:chOff x="8972550" y="2266950"/>
            <a:chExt cx="2533650" cy="1009650"/>
          </a:xfrm>
        </p:grpSpPr>
        <p:sp>
          <p:nvSpPr>
            <p:cNvPr id="22" name="Rectangle 22"/>
            <p:cNvSpPr/>
            <p:nvPr/>
          </p:nvSpPr>
          <p:spPr>
            <a:xfrm>
              <a:off x="8972550" y="2266950"/>
              <a:ext cx="2533650" cy="1009650"/>
            </a:xfrm>
            <a:prstGeom prst="roundRect">
              <a:avLst>
                <a:gd name="adj" fmla="val 1132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92006" y="25107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60A5FA"/>
                  </a:solidFill>
                  <a:latin typeface="+mj-lt"/>
                  <a:ea typeface="+mj-ea"/>
                  <a:cs typeface="+mj-cs"/>
                </a:rPr>
                <a:t>3d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94673" y="29103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关系不断链</a:t>
              </a:r>
            </a:p>
          </p:txBody>
        </p:sp>
      </p:grpSp>
      <p:grpSp>
        <p:nvGrpSpPr>
          <p:cNvPr id="29" name="check-3e"/>
          <p:cNvGrpSpPr/>
          <p:nvPr/>
        </p:nvGrpSpPr>
        <p:grpSpPr>
          <a:xfrm>
            <a:off x="685800" y="3448050"/>
            <a:ext cx="2533650" cy="1009650"/>
            <a:chOff x="685800" y="3448050"/>
            <a:chExt cx="2533650" cy="1009650"/>
          </a:xfrm>
        </p:grpSpPr>
        <p:sp>
          <p:nvSpPr>
            <p:cNvPr id="26" name="Rectangle 26"/>
            <p:cNvSpPr/>
            <p:nvPr/>
          </p:nvSpPr>
          <p:spPr>
            <a:xfrm>
              <a:off x="685800" y="3448050"/>
              <a:ext cx="2533650" cy="1009650"/>
            </a:xfrm>
            <a:prstGeom prst="roundRect">
              <a:avLst>
                <a:gd name="adj" fmla="val 1132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5256" y="3691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3e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7923" y="40914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内容类型覆盖</a:t>
              </a:r>
            </a:p>
          </p:txBody>
        </p:sp>
      </p:grpSp>
      <p:grpSp>
        <p:nvGrpSpPr>
          <p:cNvPr id="33" name="check-3f"/>
          <p:cNvGrpSpPr/>
          <p:nvPr/>
        </p:nvGrpSpPr>
        <p:grpSpPr>
          <a:xfrm>
            <a:off x="3448050" y="3448050"/>
            <a:ext cx="2533650" cy="1009650"/>
            <a:chOff x="3448050" y="3448050"/>
            <a:chExt cx="2533650" cy="1009650"/>
          </a:xfrm>
        </p:grpSpPr>
        <p:sp>
          <p:nvSpPr>
            <p:cNvPr id="30" name="Rectangle 30"/>
            <p:cNvSpPr/>
            <p:nvPr/>
          </p:nvSpPr>
          <p:spPr>
            <a:xfrm>
              <a:off x="3448050" y="3448050"/>
              <a:ext cx="2533650" cy="1009650"/>
            </a:xfrm>
            <a:prstGeom prst="roundRect">
              <a:avLst>
                <a:gd name="adj" fmla="val 1132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667506" y="3691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3f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70173" y="40914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关键标记词在文件里</a:t>
              </a:r>
            </a:p>
          </p:txBody>
        </p:sp>
      </p:grpSp>
      <p:grpSp>
        <p:nvGrpSpPr>
          <p:cNvPr id="37" name="check-3g"/>
          <p:cNvGrpSpPr/>
          <p:nvPr/>
        </p:nvGrpSpPr>
        <p:grpSpPr>
          <a:xfrm>
            <a:off x="6210300" y="3448050"/>
            <a:ext cx="2533650" cy="1009650"/>
            <a:chOff x="6210300" y="3448050"/>
            <a:chExt cx="2533650" cy="1009650"/>
          </a:xfrm>
        </p:grpSpPr>
        <p:sp>
          <p:nvSpPr>
            <p:cNvPr id="34" name="Rectangle 34"/>
            <p:cNvSpPr/>
            <p:nvPr/>
          </p:nvSpPr>
          <p:spPr>
            <a:xfrm>
              <a:off x="6210300" y="3448050"/>
              <a:ext cx="2533650" cy="1009650"/>
            </a:xfrm>
            <a:prstGeom prst="roundRect">
              <a:avLst>
                <a:gd name="adj" fmla="val 1132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29756" y="3691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3g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32423" y="4091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页数达标</a:t>
              </a:r>
            </a:p>
          </p:txBody>
        </p:sp>
      </p:grpSp>
      <p:grpSp>
        <p:nvGrpSpPr>
          <p:cNvPr id="41" name="check-3h"/>
          <p:cNvGrpSpPr/>
          <p:nvPr/>
        </p:nvGrpSpPr>
        <p:grpSpPr>
          <a:xfrm>
            <a:off x="8972550" y="3448050"/>
            <a:ext cx="2533650" cy="1009650"/>
            <a:chOff x="8972550" y="3448050"/>
            <a:chExt cx="2533650" cy="1009650"/>
          </a:xfrm>
        </p:grpSpPr>
        <p:sp>
          <p:nvSpPr>
            <p:cNvPr id="38" name="Rectangle 38"/>
            <p:cNvSpPr/>
            <p:nvPr/>
          </p:nvSpPr>
          <p:spPr>
            <a:xfrm>
              <a:off x="8972550" y="3448050"/>
              <a:ext cx="2533650" cy="1009650"/>
            </a:xfrm>
            <a:prstGeom prst="roundRect">
              <a:avLst>
                <a:gd name="adj" fmla="val 11321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92006" y="369189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BBF24"/>
                  </a:solidFill>
                  <a:latin typeface="+mj-lt"/>
                  <a:ea typeface="+mj-ea"/>
                  <a:cs typeface="+mj-cs"/>
                </a:rPr>
                <a:t>3h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94673" y="4091464"/>
              <a:ext cx="1544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真 Office 只读开档</a:t>
              </a:r>
            </a:p>
          </p:txBody>
        </p:sp>
      </p:grpSp>
      <p:grpSp>
        <p:nvGrpSpPr>
          <p:cNvPr id="45" name="checks-note"/>
          <p:cNvGrpSpPr/>
          <p:nvPr/>
        </p:nvGrpSpPr>
        <p:grpSpPr>
          <a:xfrm>
            <a:off x="685800" y="4629150"/>
            <a:ext cx="10820400" cy="1047750"/>
            <a:chOff x="685800" y="4629150"/>
            <a:chExt cx="10820400" cy="1047750"/>
          </a:xfrm>
        </p:grpSpPr>
        <p:sp>
          <p:nvSpPr>
            <p:cNvPr id="42" name="Rectangle 42"/>
            <p:cNvSpPr/>
            <p:nvPr/>
          </p:nvSpPr>
          <p:spPr>
            <a:xfrm>
              <a:off x="685800" y="4629150"/>
              <a:ext cx="10820400" cy="1047750"/>
            </a:xfrm>
            <a:prstGeom prst="roundRect">
              <a:avLst>
                <a:gd name="adj" fmla="val 10909"/>
              </a:avLst>
            </a:prstGeom>
            <a:solidFill>
              <a:srgbClr val="0D1626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5642" y="4864418"/>
              <a:ext cx="86280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2a–2d：免点击推送实证（ls-remote + push --dry-run）、值守收尾行、hands-free 自动 pull / push。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6404" y="5261610"/>
              <a:ext cx="8509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闸门 code/check_all.sh 也在本机真跑：.ps1 全 ASCII、配置分支与 HEAD 一致、根目录脚本与技能脚本逐字节相同。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6107481" cy="1194435"/>
            <a:chOff x="649986" y="613410"/>
            <a:chExt cx="6107481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239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NUMBERS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610748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真机数据（4 轮全部 passed）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50432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耗时取自 results/status/check_r*.txt，不是估计值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07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5219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git-sync v2.8.1 · arena/01a0aa00-git-pull-arena · ppt-master v6.4.0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3" name="kpi-1"/>
          <p:cNvGrpSpPr/>
          <p:nvPr/>
        </p:nvGrpSpPr>
        <p:grpSpPr>
          <a:xfrm>
            <a:off x="685800" y="2171700"/>
            <a:ext cx="2514600" cy="971550"/>
            <a:chOff x="685800" y="2171700"/>
            <a:chExt cx="2514600" cy="971550"/>
          </a:xfrm>
        </p:grpSpPr>
        <p:sp>
          <p:nvSpPr>
            <p:cNvPr id="10" name="Rectangle 10"/>
            <p:cNvSpPr/>
            <p:nvPr/>
          </p:nvSpPr>
          <p:spPr>
            <a:xfrm>
              <a:off x="685800" y="2171700"/>
              <a:ext cx="2514600" cy="971550"/>
            </a:xfrm>
            <a:prstGeom prst="roundRect">
              <a:avLst>
                <a:gd name="adj" fmla="val 1176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3732" y="24593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685" y="28694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失败 / 0 跳过</a:t>
              </a:r>
            </a:p>
          </p:txBody>
        </p:sp>
      </p:grpSp>
      <p:grpSp>
        <p:nvGrpSpPr>
          <p:cNvPr id="17" name="kpi-2"/>
          <p:cNvGrpSpPr/>
          <p:nvPr/>
        </p:nvGrpSpPr>
        <p:grpSpPr>
          <a:xfrm>
            <a:off x="3429000" y="2171700"/>
            <a:ext cx="2514600" cy="971550"/>
            <a:chOff x="3429000" y="2171700"/>
            <a:chExt cx="2514600" cy="971550"/>
          </a:xfrm>
        </p:grpSpPr>
        <p:sp>
          <p:nvSpPr>
            <p:cNvPr id="14" name="Rectangle 14"/>
            <p:cNvSpPr/>
            <p:nvPr/>
          </p:nvSpPr>
          <p:spPr>
            <a:xfrm>
              <a:off x="3429000" y="2171700"/>
              <a:ext cx="2514600" cy="971550"/>
            </a:xfrm>
            <a:prstGeom prst="roundRect">
              <a:avLst>
                <a:gd name="adj" fmla="val 1176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46932" y="24593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51885" y="28694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条成功标准全过</a:t>
              </a:r>
            </a:p>
          </p:txBody>
        </p:sp>
      </p:grpSp>
      <p:grpSp>
        <p:nvGrpSpPr>
          <p:cNvPr id="21" name="kpi-3"/>
          <p:cNvGrpSpPr/>
          <p:nvPr/>
        </p:nvGrpSpPr>
        <p:grpSpPr>
          <a:xfrm>
            <a:off x="6172200" y="2171700"/>
            <a:ext cx="2514600" cy="971550"/>
            <a:chOff x="6172200" y="2171700"/>
            <a:chExt cx="2514600" cy="971550"/>
          </a:xfrm>
        </p:grpSpPr>
        <p:sp>
          <p:nvSpPr>
            <p:cNvPr id="18" name="Rectangle 18"/>
            <p:cNvSpPr/>
            <p:nvPr/>
          </p:nvSpPr>
          <p:spPr>
            <a:xfrm>
              <a:off x="6172200" y="2171700"/>
              <a:ext cx="2514600" cy="971550"/>
            </a:xfrm>
            <a:prstGeom prst="roundRect">
              <a:avLst>
                <a:gd name="adj" fmla="val 1176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0132" y="2459355"/>
              <a:ext cx="100089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27–43s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5085" y="28694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单轮耗时（真机）</a:t>
              </a:r>
            </a:p>
          </p:txBody>
        </p:sp>
      </p:grpSp>
      <p:grpSp>
        <p:nvGrpSpPr>
          <p:cNvPr id="25" name="kpi-4"/>
          <p:cNvGrpSpPr/>
          <p:nvPr/>
        </p:nvGrpSpPr>
        <p:grpSpPr>
          <a:xfrm>
            <a:off x="8915400" y="2171700"/>
            <a:ext cx="2514600" cy="971550"/>
            <a:chOff x="8915400" y="2171700"/>
            <a:chExt cx="2514600" cy="971550"/>
          </a:xfrm>
        </p:grpSpPr>
        <p:sp>
          <p:nvSpPr>
            <p:cNvPr id="22" name="Rectangle 22"/>
            <p:cNvSpPr/>
            <p:nvPr/>
          </p:nvSpPr>
          <p:spPr>
            <a:xfrm>
              <a:off x="8915400" y="2171700"/>
              <a:ext cx="2514600" cy="971550"/>
            </a:xfrm>
            <a:prstGeom prst="roundRect">
              <a:avLst>
                <a:gd name="adj" fmla="val 11765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33332" y="24593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38285" y="2869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份交付物</a:t>
              </a:r>
            </a:p>
          </p:txBody>
        </p:sp>
      </p:grpSp>
      <p:grpSp>
        <p:nvGrpSpPr>
          <p:cNvPr id="29" name="bar-1"/>
          <p:cNvGrpSpPr/>
          <p:nvPr/>
        </p:nvGrpSpPr>
        <p:grpSpPr>
          <a:xfrm>
            <a:off x="1714500" y="3870008"/>
            <a:ext cx="914400" cy="1868043"/>
            <a:chOff x="1714500" y="3870008"/>
            <a:chExt cx="914400" cy="1868043"/>
          </a:xfrm>
        </p:grpSpPr>
        <p:sp>
          <p:nvSpPr>
            <p:cNvPr id="26" name="Rectangle 26"/>
            <p:cNvSpPr/>
            <p:nvPr/>
          </p:nvSpPr>
          <p:spPr>
            <a:xfrm>
              <a:off x="1714500" y="4181475"/>
              <a:ext cx="914400" cy="1152525"/>
            </a:xfrm>
            <a:prstGeom prst="roundRect">
              <a:avLst>
                <a:gd name="adj" fmla="val 6250"/>
              </a:avLst>
            </a:prstGeom>
            <a:solidFill>
              <a:srgbClr val="A3E635">
                <a:alpha val="9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80067" y="3870008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1F5F9"/>
                  </a:solidFill>
                  <a:latin typeface="+mj-lt"/>
                  <a:ea typeface="+mj-ea"/>
                  <a:cs typeface="+mj-cs"/>
                </a:rPr>
                <a:t>27s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87738" y="54740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round 20</a:t>
              </a:r>
            </a:p>
          </p:txBody>
        </p:sp>
      </p:grpSp>
      <p:grpSp>
        <p:nvGrpSpPr>
          <p:cNvPr id="33" name="bar-2"/>
          <p:cNvGrpSpPr/>
          <p:nvPr/>
        </p:nvGrpSpPr>
        <p:grpSpPr>
          <a:xfrm>
            <a:off x="3524250" y="3565208"/>
            <a:ext cx="914400" cy="2172843"/>
            <a:chOff x="3524250" y="3565208"/>
            <a:chExt cx="914400" cy="2172843"/>
          </a:xfrm>
        </p:grpSpPr>
        <p:sp>
          <p:nvSpPr>
            <p:cNvPr id="30" name="Rectangle 30"/>
            <p:cNvSpPr/>
            <p:nvPr/>
          </p:nvSpPr>
          <p:spPr>
            <a:xfrm>
              <a:off x="3524250" y="3876675"/>
              <a:ext cx="914400" cy="1457325"/>
            </a:xfrm>
            <a:prstGeom prst="roundRect">
              <a:avLst>
                <a:gd name="adj" fmla="val 6250"/>
              </a:avLst>
            </a:prstGeom>
            <a:solidFill>
              <a:srgbClr val="A3E635">
                <a:alpha val="9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89817" y="3565208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1F5F9"/>
                  </a:solidFill>
                  <a:latin typeface="+mj-lt"/>
                  <a:ea typeface="+mj-ea"/>
                  <a:cs typeface="+mj-cs"/>
                </a:rPr>
                <a:t>34s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97488" y="54740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round 21</a:t>
              </a:r>
            </a:p>
          </p:txBody>
        </p:sp>
      </p:grpSp>
      <p:grpSp>
        <p:nvGrpSpPr>
          <p:cNvPr id="37" name="bar-3"/>
          <p:cNvGrpSpPr/>
          <p:nvPr/>
        </p:nvGrpSpPr>
        <p:grpSpPr>
          <a:xfrm>
            <a:off x="5334000" y="3184208"/>
            <a:ext cx="914400" cy="2553843"/>
            <a:chOff x="5334000" y="3184208"/>
            <a:chExt cx="914400" cy="2553843"/>
          </a:xfrm>
        </p:grpSpPr>
        <p:sp>
          <p:nvSpPr>
            <p:cNvPr id="34" name="Rectangle 34"/>
            <p:cNvSpPr/>
            <p:nvPr/>
          </p:nvSpPr>
          <p:spPr>
            <a:xfrm>
              <a:off x="5334000" y="3495675"/>
              <a:ext cx="914400" cy="1838325"/>
            </a:xfrm>
            <a:prstGeom prst="roundRect">
              <a:avLst>
                <a:gd name="adj" fmla="val 6250"/>
              </a:avLst>
            </a:prstGeom>
            <a:solidFill>
              <a:srgbClr val="A3E635">
                <a:alpha val="9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99567" y="3184208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1F5F9"/>
                  </a:solidFill>
                  <a:latin typeface="+mj-lt"/>
                  <a:ea typeface="+mj-ea"/>
                  <a:cs typeface="+mj-cs"/>
                </a:rPr>
                <a:t>43s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07238" y="54740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round 22</a:t>
              </a:r>
            </a:p>
          </p:txBody>
        </p:sp>
      </p:grpSp>
      <p:grpSp>
        <p:nvGrpSpPr>
          <p:cNvPr id="41" name="bar-4"/>
          <p:cNvGrpSpPr/>
          <p:nvPr/>
        </p:nvGrpSpPr>
        <p:grpSpPr>
          <a:xfrm>
            <a:off x="7143750" y="3565208"/>
            <a:ext cx="914400" cy="2172843"/>
            <a:chOff x="7143750" y="3565208"/>
            <a:chExt cx="914400" cy="2172843"/>
          </a:xfrm>
        </p:grpSpPr>
        <p:sp>
          <p:nvSpPr>
            <p:cNvPr id="38" name="Rectangle 38"/>
            <p:cNvSpPr/>
            <p:nvPr/>
          </p:nvSpPr>
          <p:spPr>
            <a:xfrm>
              <a:off x="7143750" y="3876675"/>
              <a:ext cx="914400" cy="1457325"/>
            </a:xfrm>
            <a:prstGeom prst="roundRect">
              <a:avLst>
                <a:gd name="adj" fmla="val 6250"/>
              </a:avLst>
            </a:prstGeom>
            <a:solidFill>
              <a:srgbClr val="A3E635">
                <a:alpha val="9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09317" y="3565208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1F5F9"/>
                  </a:solidFill>
                  <a:latin typeface="+mj-lt"/>
                  <a:ea typeface="+mj-ea"/>
                  <a:cs typeface="+mj-cs"/>
                </a:rPr>
                <a:t>34s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16988" y="54740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round 23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1428750" y="5334000"/>
            <a:ext cx="7143750" cy="9525"/>
          </a:xfrm>
          <a:custGeom>
            <a:avLst/>
            <a:gdLst/>
            <a:ahLst/>
            <a:cxnLst/>
            <a:rect l="l" t="t" r="r" b="b"/>
            <a:pathLst>
              <a:path w="7143750" h="9525">
                <a:moveTo>
                  <a:pt x="0" y="0"/>
                </a:moveTo>
                <a:lnTo>
                  <a:pt x="7143750" y="0"/>
                </a:lnTo>
              </a:path>
            </a:pathLst>
          </a:custGeom>
          <a:noFill/>
          <a:ln w="19050">
            <a:solidFill>
              <a:srgbClr val="1E3A5F"/>
            </a:solidFill>
          </a:ln>
        </p:spPr>
      </p:sp>
      <p:grpSp>
        <p:nvGrpSpPr>
          <p:cNvPr id="46" name="numbers-host"/>
          <p:cNvGrpSpPr/>
          <p:nvPr/>
        </p:nvGrpSpPr>
        <p:grpSpPr>
          <a:xfrm>
            <a:off x="9187543" y="3629025"/>
            <a:ext cx="2326277" cy="774859"/>
            <a:chOff x="9187543" y="3629025"/>
            <a:chExt cx="2326277" cy="774859"/>
          </a:xfrm>
        </p:grpSpPr>
        <p:sp>
          <p:nvSpPr>
            <p:cNvPr id="43" name="TextBox 43"/>
            <p:cNvSpPr txBox="1"/>
            <p:nvPr/>
          </p:nvSpPr>
          <p:spPr>
            <a:xfrm>
              <a:off x="9187543" y="3629025"/>
              <a:ext cx="2326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500" b="1" dirty="0">
                  <a:solidFill>
                    <a:srgbClr val="F1F5F9"/>
                  </a:solidFill>
                  <a:latin typeface="+mj-lt"/>
                  <a:ea typeface="+mj-ea"/>
                  <a:cs typeface="+mj-cs"/>
                </a:rPr>
                <a:t>host LAPTOP-R77M5D6M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15053" y="3955256"/>
              <a:ext cx="17968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Windows 11 · conda base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48470" y="4183856"/>
              <a:ext cx="2263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python 3.11.9 · 真 Office 开档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8677445" cy="1194435"/>
            <a:chOff x="649986" y="613410"/>
            <a:chExt cx="8677445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868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DELIVERABLES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86774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交付物（都在本会话分支的 deliverable/）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5334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本机 .\download.ps1 -Set final 可以把整个目录镜像出来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08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5219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git-sync v2.8.1 · arena/01a0aa00-git-pull-arena · ppt-master v6.4.0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4" name="deliverable-1"/>
          <p:cNvGrpSpPr/>
          <p:nvPr/>
        </p:nvGrpSpPr>
        <p:grpSpPr>
          <a:xfrm>
            <a:off x="685800" y="2209800"/>
            <a:ext cx="10820400" cy="609600"/>
            <a:chOff x="685800" y="2209800"/>
            <a:chExt cx="10820400" cy="609600"/>
          </a:xfrm>
        </p:grpSpPr>
        <p:sp>
          <p:nvSpPr>
            <p:cNvPr id="10" name="Rectangle 10"/>
            <p:cNvSpPr/>
            <p:nvPr/>
          </p:nvSpPr>
          <p:spPr>
            <a:xfrm>
              <a:off x="685800" y="2209800"/>
              <a:ext cx="10820400" cy="609600"/>
            </a:xfrm>
            <a:prstGeom prst="roundRect">
              <a:avLst>
                <a:gd name="adj" fmla="val 15625"/>
              </a:avLst>
            </a:prstGeom>
            <a:solidFill>
              <a:srgbClr val="121C2E"/>
            </a:solidFill>
            <a:ln w="9525">
              <a:solidFill>
                <a:srgbClr val="17293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26592" y="2426018"/>
              <a:ext cx="35781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1F5F9"/>
                  </a:solidFill>
                  <a:latin typeface="+mj-lt"/>
                  <a:ea typeface="+mj-ea"/>
                  <a:cs typeface="+mj-cs"/>
                </a:rPr>
                <a:t>BRIDGE_01a0aa00_v2.8.1.docx / .pptx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08523" y="2434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打通报告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13904" y="24422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装了什么、链路怎么走、本机粘哪段命令</a:t>
              </a:r>
            </a:p>
          </p:txBody>
        </p:sp>
      </p:grpSp>
      <p:grpSp>
        <p:nvGrpSpPr>
          <p:cNvPr id="19" name="deliverable-2"/>
          <p:cNvGrpSpPr/>
          <p:nvPr/>
        </p:nvGrpSpPr>
        <p:grpSpPr>
          <a:xfrm>
            <a:off x="685800" y="2895600"/>
            <a:ext cx="10820400" cy="609600"/>
            <a:chOff x="685800" y="2895600"/>
            <a:chExt cx="10820400" cy="609600"/>
          </a:xfrm>
        </p:grpSpPr>
        <p:sp>
          <p:nvSpPr>
            <p:cNvPr id="15" name="Rectangle 15"/>
            <p:cNvSpPr/>
            <p:nvPr/>
          </p:nvSpPr>
          <p:spPr>
            <a:xfrm>
              <a:off x="685800" y="2895600"/>
              <a:ext cx="10820400" cy="609600"/>
            </a:xfrm>
            <a:prstGeom prst="roundRect">
              <a:avLst>
                <a:gd name="adj" fmla="val 15625"/>
              </a:avLst>
            </a:prstGeom>
            <a:solidFill>
              <a:srgbClr val="121C2E"/>
            </a:solidFill>
            <a:ln w="9525">
              <a:solidFill>
                <a:srgbClr val="17293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592" y="3111818"/>
              <a:ext cx="3468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1F5F9"/>
                  </a:solidFill>
                  <a:latin typeface="+mj-lt"/>
                  <a:ea typeface="+mj-ea"/>
                  <a:cs typeface="+mj-cs"/>
                </a:rPr>
                <a:t>GUIDE_01a0aa00_v2.8.1.docx / .pptx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08523" y="3119914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使用说明 · 10 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13904" y="3128010"/>
              <a:ext cx="2693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安装 / 日常命令 / 值守 / 故障 / 边界</a:t>
              </a:r>
            </a:p>
          </p:txBody>
        </p:sp>
      </p:grpSp>
      <p:grpSp>
        <p:nvGrpSpPr>
          <p:cNvPr id="24" name="deliverable-3"/>
          <p:cNvGrpSpPr/>
          <p:nvPr/>
        </p:nvGrpSpPr>
        <p:grpSpPr>
          <a:xfrm>
            <a:off x="685800" y="3581400"/>
            <a:ext cx="10820400" cy="609600"/>
            <a:chOff x="685800" y="3581400"/>
            <a:chExt cx="10820400" cy="609600"/>
          </a:xfrm>
        </p:grpSpPr>
        <p:sp>
          <p:nvSpPr>
            <p:cNvPr id="20" name="Rectangle 20"/>
            <p:cNvSpPr/>
            <p:nvPr/>
          </p:nvSpPr>
          <p:spPr>
            <a:xfrm>
              <a:off x="685800" y="3581400"/>
              <a:ext cx="10820400" cy="609600"/>
            </a:xfrm>
            <a:prstGeom prst="roundRect">
              <a:avLst>
                <a:gd name="adj" fmla="val 15625"/>
              </a:avLst>
            </a:prstGeom>
            <a:solidFill>
              <a:srgbClr val="121C2E"/>
            </a:solidFill>
            <a:ln w="9525">
              <a:solidFill>
                <a:srgbClr val="A3E63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6592" y="3797618"/>
              <a:ext cx="2559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1F5F9"/>
                  </a:solidFill>
                  <a:latin typeface="+mj-lt"/>
                  <a:ea typeface="+mj-ea"/>
                  <a:cs typeface="+mj-cs"/>
                </a:rPr>
                <a:t>DECK_01a0aa00_v2.8.1.pptx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8523" y="3805714"/>
              <a:ext cx="17102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2D3EE"/>
                  </a:solidFill>
                  <a:latin typeface="+mn-lt"/>
                  <a:ea typeface="+mn-ea"/>
                  <a:cs typeface="+mn-cs"/>
                </a:rPr>
                <a:t>本文件 · ppt-master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13904" y="3813810"/>
              <a:ext cx="3438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12 页设计稿，原生 DrawingML 形状，可直接改</a:t>
              </a:r>
            </a:p>
          </p:txBody>
        </p:sp>
      </p:grpSp>
      <p:grpSp>
        <p:nvGrpSpPr>
          <p:cNvPr id="29" name="deliverable-4"/>
          <p:cNvGrpSpPr/>
          <p:nvPr/>
        </p:nvGrpSpPr>
        <p:grpSpPr>
          <a:xfrm>
            <a:off x="685800" y="4267200"/>
            <a:ext cx="10820400" cy="609600"/>
            <a:chOff x="685800" y="4267200"/>
            <a:chExt cx="10820400" cy="609600"/>
          </a:xfrm>
        </p:grpSpPr>
        <p:sp>
          <p:nvSpPr>
            <p:cNvPr id="25" name="Rectangle 25"/>
            <p:cNvSpPr/>
            <p:nvPr/>
          </p:nvSpPr>
          <p:spPr>
            <a:xfrm>
              <a:off x="685800" y="4267200"/>
              <a:ext cx="10820400" cy="609600"/>
            </a:xfrm>
            <a:prstGeom prst="roundRect">
              <a:avLst>
                <a:gd name="adj" fmla="val 15625"/>
              </a:avLst>
            </a:prstGeom>
            <a:solidFill>
              <a:srgbClr val="121C2E"/>
            </a:solidFill>
            <a:ln w="9525">
              <a:solidFill>
                <a:srgbClr val="17293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6592" y="4483418"/>
              <a:ext cx="37958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1F5F9"/>
                  </a:solidFill>
                  <a:latin typeface="+mj-lt"/>
                  <a:ea typeface="+mj-ea"/>
                  <a:cs typeface="+mj-cs"/>
                </a:rPr>
                <a:t>DELIVERY_01a0aa00_v2.8.1.docx / .pptx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08523" y="4491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交付清单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13904" y="44996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文件哈希 + 本机回执</a:t>
              </a:r>
            </a:p>
          </p:txBody>
        </p:sp>
      </p:grpSp>
      <p:grpSp>
        <p:nvGrpSpPr>
          <p:cNvPr id="34" name="deliverable-5"/>
          <p:cNvGrpSpPr/>
          <p:nvPr/>
        </p:nvGrpSpPr>
        <p:grpSpPr>
          <a:xfrm>
            <a:off x="685800" y="4953000"/>
            <a:ext cx="10820400" cy="609600"/>
            <a:chOff x="685800" y="4953000"/>
            <a:chExt cx="10820400" cy="609600"/>
          </a:xfrm>
        </p:grpSpPr>
        <p:sp>
          <p:nvSpPr>
            <p:cNvPr id="30" name="Rectangle 30"/>
            <p:cNvSpPr/>
            <p:nvPr/>
          </p:nvSpPr>
          <p:spPr>
            <a:xfrm>
              <a:off x="685800" y="4953000"/>
              <a:ext cx="10820400" cy="609600"/>
            </a:xfrm>
            <a:prstGeom prst="roundRect">
              <a:avLst>
                <a:gd name="adj" fmla="val 15625"/>
              </a:avLst>
            </a:prstGeom>
            <a:solidFill>
              <a:srgbClr val="121C2E"/>
            </a:solidFill>
            <a:ln w="9525">
              <a:solidFill>
                <a:srgbClr val="17293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6592" y="5169218"/>
              <a:ext cx="18892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1F5F9"/>
                  </a:solidFill>
                  <a:latin typeface="+mj-lt"/>
                  <a:ea typeface="+mj-ea"/>
                  <a:cs typeface="+mj-cs"/>
                </a:rPr>
                <a:t>OFFICE_HASHES.json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08523" y="51773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哈希清单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13904" y="51854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真机开档测试按它决定打开哪些文件</a:t>
              </a:r>
            </a:p>
          </p:txBody>
        </p:sp>
      </p:grpSp>
      <p:grpSp>
        <p:nvGrpSpPr>
          <p:cNvPr id="36" name="deliverables-note"/>
          <p:cNvGrpSpPr/>
          <p:nvPr/>
        </p:nvGrpSpPr>
        <p:grpSpPr>
          <a:xfrm>
            <a:off x="679704" y="5718810"/>
            <a:ext cx="8735568" cy="234696"/>
            <a:chOff x="679704" y="5718810"/>
            <a:chExt cx="8735568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679704" y="5718810"/>
              <a:ext cx="8735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生成器也一起进仓库：code/make_deck_pptmaster.py（本 pptx）、code/make_bridge_report.py（报告与清单）。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857250"/>
                </a:moveTo>
                <a:lnTo>
                  <a:pt x="12192000" y="85725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2571750"/>
                </a:moveTo>
                <a:lnTo>
                  <a:pt x="12192000" y="257175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286250"/>
                </a:moveTo>
                <a:lnTo>
                  <a:pt x="12192000" y="428625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000750"/>
                </a:moveTo>
                <a:lnTo>
                  <a:pt x="12192000" y="6000750"/>
                </a:lnTo>
              </a:path>
            </a:pathLst>
          </a:custGeom>
          <a:noFill/>
          <a:ln w="9525">
            <a:solidFill>
              <a:srgbClr val="17293F">
                <a:alpha val="50000"/>
              </a:srgbClr>
            </a:solidFill>
          </a:ln>
        </p:spPr>
      </p:sp>
      <p:grpSp>
        <p:nvGrpSpPr>
          <p:cNvPr id="4" name="chapter-number"/>
          <p:cNvGrpSpPr/>
          <p:nvPr/>
        </p:nvGrpSpPr>
        <p:grpSpPr>
          <a:xfrm>
            <a:off x="819150" y="1819275"/>
            <a:ext cx="1592961" cy="2019300"/>
            <a:chOff x="819150" y="1819275"/>
            <a:chExt cx="1592961" cy="2019300"/>
          </a:xfrm>
        </p:grpSpPr>
        <p:sp>
          <p:nvSpPr>
            <p:cNvPr id="3" name="TextBox 3"/>
            <p:cNvSpPr txBox="1"/>
            <p:nvPr/>
          </p:nvSpPr>
          <p:spPr>
            <a:xfrm>
              <a:off x="819150" y="1819275"/>
              <a:ext cx="1592961" cy="201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0" b="1" dirty="0">
                  <a:solidFill>
                    <a:srgbClr val="121C2E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</p:grpSp>
      <p:grpSp>
        <p:nvGrpSpPr>
          <p:cNvPr id="6" name="chapter-title"/>
          <p:cNvGrpSpPr/>
          <p:nvPr/>
        </p:nvGrpSpPr>
        <p:grpSpPr>
          <a:xfrm>
            <a:off x="895350" y="3476625"/>
            <a:ext cx="2461260" cy="876300"/>
            <a:chOff x="895350" y="3476625"/>
            <a:chExt cx="2461260" cy="87630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3476625"/>
              <a:ext cx="246126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一次装好</a:t>
              </a:r>
            </a:p>
          </p:txBody>
        </p:sp>
      </p:grpSp>
      <p:grpSp>
        <p:nvGrpSpPr>
          <p:cNvPr id="8" name="chapter-subtitle"/>
          <p:cNvGrpSpPr/>
          <p:nvPr/>
        </p:nvGrpSpPr>
        <p:grpSpPr>
          <a:xfrm>
            <a:off x="942594" y="4285298"/>
            <a:ext cx="3734314" cy="381381"/>
            <a:chOff x="942594" y="4285298"/>
            <a:chExt cx="3734314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942594" y="4285298"/>
              <a:ext cx="37343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本机四条日常命令 + 卡住怎么修</a:t>
              </a:r>
            </a:p>
          </p:txBody>
        </p:sp>
      </p:grpSp>
      <p:grpSp>
        <p:nvGrpSpPr>
          <p:cNvPr id="10" name="chapter-rule"/>
          <p:cNvGrpSpPr/>
          <p:nvPr/>
        </p:nvGrpSpPr>
        <p:grpSpPr>
          <a:xfrm>
            <a:off x="914400" y="4762500"/>
            <a:ext cx="2095500" cy="28575"/>
            <a:chOff x="914400" y="4762500"/>
            <a:chExt cx="2095500" cy="28575"/>
          </a:xfrm>
        </p:grpSpPr>
        <p:sp>
          <p:nvSpPr>
            <p:cNvPr id="9" name="Rectangle 9"/>
            <p:cNvSpPr/>
            <p:nvPr/>
          </p:nvSpPr>
          <p:spPr>
            <a:xfrm>
              <a:off x="914400" y="4762500"/>
              <a:ext cx="2095500" cy="28575"/>
            </a:xfrm>
            <a:prstGeom prst="rect">
              <a:avLst/>
            </a:prstGeom>
            <a:solidFill>
              <a:srgbClr val="22D3EE"/>
            </a:solidFill>
            <a:ln>
              <a:noFill/>
            </a:ln>
          </p:spPr>
        </p:sp>
      </p:grpSp>
      <p:grpSp>
        <p:nvGrpSpPr>
          <p:cNvPr id="12" name="chapter-note"/>
          <p:cNvGrpSpPr/>
          <p:nvPr/>
        </p:nvGrpSpPr>
        <p:grpSpPr>
          <a:xfrm>
            <a:off x="906780" y="5095875"/>
            <a:ext cx="4427410" cy="293370"/>
            <a:chOff x="906780" y="5095875"/>
            <a:chExt cx="4427410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906780" y="5095875"/>
              <a:ext cx="4427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值守注册好之后，你不用每轮手动 sync / push。</a:t>
              </a:r>
            </a:p>
          </p:txBody>
        </p:sp>
      </p:grpSp>
      <p:sp>
        <p:nvSpPr>
          <p:cNvPr id="13" name="footer-left"/>
          <p:cNvSpPr txBox="1"/>
          <p:nvPr/>
        </p:nvSpPr>
        <p:spPr>
          <a:xfrm>
            <a:off x="909066" y="6135052"/>
            <a:ext cx="5219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git-sync v2.8.1 · arena/01a0aa00-git-pull-arena · ppt-master v6.4.0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9162745" y="6135052"/>
            <a:ext cx="23106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SECTION 02 · LAPTOP-R77M5D6M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49986" y="613410"/>
            <a:ext cx="5364480" cy="1194435"/>
            <a:chOff x="649986" y="613410"/>
            <a:chExt cx="5364480" cy="1194435"/>
          </a:xfrm>
        </p:grpSpPr>
        <p:sp>
          <p:nvSpPr>
            <p:cNvPr id="2" name="TextBox 2"/>
            <p:cNvSpPr txBox="1"/>
            <p:nvPr/>
          </p:nvSpPr>
          <p:spPr>
            <a:xfrm>
              <a:off x="698754" y="613410"/>
              <a:ext cx="1868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YOUR MACHINE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49986" y="958215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本机命令（在克隆目录里）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180" y="1514475"/>
              <a:ext cx="45473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E:\0github\git-sync\git-pull-arena-01a0aa00</a:t>
              </a:r>
            </a:p>
          </p:txBody>
        </p:sp>
      </p:grpSp>
      <p:sp>
        <p:nvSpPr>
          <p:cNvPr id="6" name="page-number"/>
          <p:cNvSpPr txBox="1"/>
          <p:nvPr/>
        </p:nvSpPr>
        <p:spPr>
          <a:xfrm>
            <a:off x="10878160" y="6134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10 / 12</a:t>
            </a:r>
          </a:p>
        </p:txBody>
      </p:sp>
      <p:sp>
        <p:nvSpPr>
          <p:cNvPr id="7" name="Line 7"/>
          <p:cNvSpPr/>
          <p:nvPr/>
        </p:nvSpPr>
        <p:spPr>
          <a:xfrm>
            <a:off x="685800" y="5924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17293F"/>
            </a:solidFill>
          </a:ln>
        </p:spPr>
      </p:sp>
      <p:sp>
        <p:nvSpPr>
          <p:cNvPr id="8" name="footer-left"/>
          <p:cNvSpPr txBox="1"/>
          <p:nvPr/>
        </p:nvSpPr>
        <p:spPr>
          <a:xfrm>
            <a:off x="680466" y="6096952"/>
            <a:ext cx="52194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git-sync v2.8.1 · arena/01a0aa00-git-pull-arena · ppt-master v6.4.0</a:t>
            </a:r>
          </a:p>
        </p:txBody>
      </p:sp>
      <p:sp>
        <p:nvSpPr>
          <p:cNvPr id="9" name="footer-right"/>
          <p:cNvSpPr txBox="1"/>
          <p:nvPr/>
        </p:nvSpPr>
        <p:spPr>
          <a:xfrm>
            <a:off x="10268712" y="6096952"/>
            <a:ext cx="12428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LAPTOP-R77M5D6M</a:t>
            </a:r>
          </a:p>
        </p:txBody>
      </p:sp>
      <p:grpSp>
        <p:nvGrpSpPr>
          <p:cNvPr id="13" name="command-1"/>
          <p:cNvGrpSpPr/>
          <p:nvPr/>
        </p:nvGrpSpPr>
        <p:grpSpPr>
          <a:xfrm>
            <a:off x="685800" y="2209800"/>
            <a:ext cx="5181600" cy="952500"/>
            <a:chOff x="685800" y="2209800"/>
            <a:chExt cx="5181600" cy="952500"/>
          </a:xfrm>
        </p:grpSpPr>
        <p:sp>
          <p:nvSpPr>
            <p:cNvPr id="10" name="Rectangle 10"/>
            <p:cNvSpPr/>
            <p:nvPr/>
          </p:nvSpPr>
          <p:spPr>
            <a:xfrm>
              <a:off x="685800" y="2209800"/>
              <a:ext cx="5181600" cy="952500"/>
            </a:xfrm>
            <a:prstGeom prst="roundRect">
              <a:avLst>
                <a:gd name="adj" fmla="val 12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5261" y="2456021"/>
              <a:ext cx="22307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.\bootstrap.ps1 -Auto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2785110"/>
              <a:ext cx="3477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一次装好：身份 + 分支 + 免点击推送 + 注册值守</a:t>
              </a:r>
            </a:p>
          </p:txBody>
        </p:sp>
      </p:grpSp>
      <p:grpSp>
        <p:nvGrpSpPr>
          <p:cNvPr id="17" name="command-2"/>
          <p:cNvGrpSpPr/>
          <p:nvPr/>
        </p:nvGrpSpPr>
        <p:grpSpPr>
          <a:xfrm>
            <a:off x="6172200" y="2209800"/>
            <a:ext cx="5181600" cy="952500"/>
            <a:chOff x="6172200" y="2209800"/>
            <a:chExt cx="5181600" cy="952500"/>
          </a:xfrm>
        </p:grpSpPr>
        <p:sp>
          <p:nvSpPr>
            <p:cNvPr id="14" name="Rectangle 14"/>
            <p:cNvSpPr/>
            <p:nvPr/>
          </p:nvSpPr>
          <p:spPr>
            <a:xfrm>
              <a:off x="6172200" y="2209800"/>
              <a:ext cx="5181600" cy="952500"/>
            </a:xfrm>
            <a:prstGeom prst="roundRect">
              <a:avLst>
                <a:gd name="adj" fmla="val 12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31661" y="2456021"/>
              <a:ext cx="1276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.\doctor.ps1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32804" y="2785110"/>
              <a:ext cx="35580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体检：分支 / ahead-behind / 值守 / 心跳 / 凭据</a:t>
              </a:r>
            </a:p>
          </p:txBody>
        </p:sp>
      </p:grpSp>
      <p:grpSp>
        <p:nvGrpSpPr>
          <p:cNvPr id="21" name="command-3"/>
          <p:cNvGrpSpPr/>
          <p:nvPr/>
        </p:nvGrpSpPr>
        <p:grpSpPr>
          <a:xfrm>
            <a:off x="685800" y="3333750"/>
            <a:ext cx="5181600" cy="952500"/>
            <a:chOff x="685800" y="3333750"/>
            <a:chExt cx="5181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685800" y="3333750"/>
              <a:ext cx="5181600" cy="952500"/>
            </a:xfrm>
            <a:prstGeom prst="roundRect">
              <a:avLst>
                <a:gd name="adj" fmla="val 12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5261" y="3579971"/>
              <a:ext cx="20208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.\watch.ps1 -Status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3909060"/>
              <a:ext cx="3477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值守活着吗：模式 / 上次运行 / 心跳 / 最近一轮</a:t>
              </a:r>
            </a:p>
          </p:txBody>
        </p:sp>
      </p:grpSp>
      <p:grpSp>
        <p:nvGrpSpPr>
          <p:cNvPr id="25" name="command-4"/>
          <p:cNvGrpSpPr/>
          <p:nvPr/>
        </p:nvGrpSpPr>
        <p:grpSpPr>
          <a:xfrm>
            <a:off x="6172200" y="3333750"/>
            <a:ext cx="5181600" cy="952500"/>
            <a:chOff x="6172200" y="3333750"/>
            <a:chExt cx="5181600" cy="952500"/>
          </a:xfrm>
        </p:grpSpPr>
        <p:sp>
          <p:nvSpPr>
            <p:cNvPr id="22" name="Rectangle 22"/>
            <p:cNvSpPr/>
            <p:nvPr/>
          </p:nvSpPr>
          <p:spPr>
            <a:xfrm>
              <a:off x="6172200" y="3333750"/>
              <a:ext cx="5181600" cy="952500"/>
            </a:xfrm>
            <a:prstGeom prst="roundRect">
              <a:avLst>
                <a:gd name="adj" fmla="val 12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31661" y="3579971"/>
              <a:ext cx="26511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.\download.ps1 -Set final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2804" y="3909060"/>
              <a:ext cx="35823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把 deliverable\ 镜像到 ..\git-pull-arena_out\</a:t>
              </a:r>
            </a:p>
          </p:txBody>
        </p:sp>
      </p:grpSp>
      <p:grpSp>
        <p:nvGrpSpPr>
          <p:cNvPr id="29" name="command-5"/>
          <p:cNvGrpSpPr/>
          <p:nvPr/>
        </p:nvGrpSpPr>
        <p:grpSpPr>
          <a:xfrm>
            <a:off x="685800" y="4457700"/>
            <a:ext cx="5181600" cy="952500"/>
            <a:chOff x="685800" y="4457700"/>
            <a:chExt cx="5181600" cy="952500"/>
          </a:xfrm>
        </p:grpSpPr>
        <p:sp>
          <p:nvSpPr>
            <p:cNvPr id="26" name="Rectangle 26"/>
            <p:cNvSpPr/>
            <p:nvPr/>
          </p:nvSpPr>
          <p:spPr>
            <a:xfrm>
              <a:off x="685800" y="4457700"/>
              <a:ext cx="5181600" cy="952500"/>
            </a:xfrm>
            <a:prstGeom prst="roundRect">
              <a:avLst>
                <a:gd name="adj" fmla="val 12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5261" y="4703921"/>
              <a:ext cx="26604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.\auth.ps1 -Setup -Verify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50330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推送不用点确认，并当场证明</a:t>
              </a:r>
            </a:p>
          </p:txBody>
        </p:sp>
      </p:grpSp>
      <p:grpSp>
        <p:nvGrpSpPr>
          <p:cNvPr id="33" name="command-6"/>
          <p:cNvGrpSpPr/>
          <p:nvPr/>
        </p:nvGrpSpPr>
        <p:grpSpPr>
          <a:xfrm>
            <a:off x="6172200" y="4457700"/>
            <a:ext cx="5181600" cy="952500"/>
            <a:chOff x="6172200" y="4457700"/>
            <a:chExt cx="5181600" cy="952500"/>
          </a:xfrm>
        </p:grpSpPr>
        <p:sp>
          <p:nvSpPr>
            <p:cNvPr id="30" name="Rectangle 30"/>
            <p:cNvSpPr/>
            <p:nvPr/>
          </p:nvSpPr>
          <p:spPr>
            <a:xfrm>
              <a:off x="6172200" y="4457700"/>
              <a:ext cx="5181600" cy="952500"/>
            </a:xfrm>
            <a:prstGeom prst="roundRect">
              <a:avLst>
                <a:gd name="adj" fmla="val 12000"/>
              </a:avLst>
            </a:prstGeom>
            <a:solidFill>
              <a:srgbClr val="121C2E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31661" y="4703921"/>
              <a:ext cx="1915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A3E635"/>
                  </a:solidFill>
                  <a:latin typeface="+mj-lt"/>
                  <a:ea typeface="+mj-ea"/>
                  <a:cs typeface="+mj-cs"/>
                </a:rPr>
                <a:t>.\watch.ps1 -Focus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32804" y="50330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只留本会话值守（其它会话任务保留）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62000" y="0"/>
                </a:moveTo>
                <a:lnTo>
                  <a:pt x="762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0" y="857250"/>
                </a:moveTo>
                <a:lnTo>
                  <a:pt x="12192000" y="857250"/>
                </a:lnTo>
                <a:moveTo>
                  <a:pt x="0" y="1714500"/>
                </a:moveTo>
                <a:lnTo>
                  <a:pt x="12192000" y="1714500"/>
                </a:lnTo>
                <a:moveTo>
                  <a:pt x="0" y="2571750"/>
                </a:moveTo>
                <a:lnTo>
                  <a:pt x="12192000" y="257175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4286250"/>
                </a:moveTo>
                <a:lnTo>
                  <a:pt x="12192000" y="428625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0" y="6000750"/>
                </a:moveTo>
                <a:lnTo>
                  <a:pt x="12192000" y="6000750"/>
                </a:lnTo>
              </a:path>
            </a:pathLst>
          </a:custGeom>
          <a:noFill/>
          <a:ln w="9525">
            <a:solidFill>
              <a:srgbClr val="17293F">
                <a:alpha val="50000"/>
              </a:srgbClr>
            </a:solidFill>
          </a:ln>
        </p:spPr>
      </p:sp>
      <p:sp>
        <p:nvSpPr>
          <p:cNvPr id="3" name="ending-trace"/>
          <p:cNvSpPr/>
          <p:nvPr/>
        </p:nvSpPr>
        <p:spPr>
          <a:xfrm>
            <a:off x="0" y="2381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0"/>
                </a:moveTo>
                <a:lnTo>
                  <a:pt x="12192000" y="2095500"/>
                </a:lnTo>
              </a:path>
            </a:pathLst>
          </a:custGeom>
          <a:noFill/>
          <a:ln w="19050">
            <a:solidFill>
              <a:srgbClr val="16324D"/>
            </a:solidFill>
          </a:ln>
        </p:spPr>
      </p:sp>
      <p:grpSp>
        <p:nvGrpSpPr>
          <p:cNvPr id="5" name="ending-kicker"/>
          <p:cNvGrpSpPr/>
          <p:nvPr/>
        </p:nvGrpSpPr>
        <p:grpSpPr>
          <a:xfrm>
            <a:off x="888492" y="2197418"/>
            <a:ext cx="1305611" cy="264033"/>
            <a:chOff x="888492" y="2197418"/>
            <a:chExt cx="1305611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888492" y="2197418"/>
              <a:ext cx="1305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00" dirty="0">
                  <a:solidFill>
                    <a:srgbClr val="22D3EE"/>
                  </a:solidFill>
                  <a:latin typeface="+mj-lt"/>
                  <a:ea typeface="+mj-ea"/>
                  <a:cs typeface="+mj-cs"/>
                </a:rPr>
                <a:t>// STATUS</a:t>
              </a:r>
            </a:p>
          </p:txBody>
        </p:sp>
      </p:grpSp>
      <p:grpSp>
        <p:nvGrpSpPr>
          <p:cNvPr id="7" name="ending-headline"/>
          <p:cNvGrpSpPr/>
          <p:nvPr/>
        </p:nvGrpSpPr>
        <p:grpSpPr>
          <a:xfrm>
            <a:off x="857250" y="2842260"/>
            <a:ext cx="2945892" cy="1390650"/>
            <a:chOff x="857250" y="2842260"/>
            <a:chExt cx="2945892" cy="1390650"/>
          </a:xfrm>
        </p:grpSpPr>
        <p:sp>
          <p:nvSpPr>
            <p:cNvPr id="6" name="TextBox 6"/>
            <p:cNvSpPr txBox="1"/>
            <p:nvPr/>
          </p:nvSpPr>
          <p:spPr>
            <a:xfrm>
              <a:off x="857250" y="2842260"/>
              <a:ext cx="294589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已打通</a:t>
              </a:r>
            </a:p>
          </p:txBody>
        </p:sp>
      </p:grpSp>
      <p:grpSp>
        <p:nvGrpSpPr>
          <p:cNvPr id="9" name="ending-status"/>
          <p:cNvGrpSpPr/>
          <p:nvPr/>
        </p:nvGrpSpPr>
        <p:grpSpPr>
          <a:xfrm>
            <a:off x="907161" y="4284821"/>
            <a:ext cx="7584430" cy="278702"/>
            <a:chOff x="907161" y="4284821"/>
            <a:chExt cx="7584430" cy="278702"/>
          </a:xfrm>
        </p:grpSpPr>
        <p:sp>
          <p:nvSpPr>
            <p:cNvPr id="8" name="TextBox 8"/>
            <p:cNvSpPr txBox="1"/>
            <p:nvPr/>
          </p:nvSpPr>
          <p:spPr>
            <a:xfrm>
              <a:off x="907161" y="4284821"/>
              <a:ext cx="7584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7DD3FC"/>
                  </a:solidFill>
                  <a:latin typeface="+mj-lt"/>
                  <a:ea typeface="+mj-ea"/>
                  <a:cs typeface="+mj-cs"/>
                </a:rPr>
                <a:t>results/status/handshake.json · round 23 · accepted · local_state=passed</a:t>
              </a:r>
            </a:p>
          </p:txBody>
        </p:sp>
      </p:grpSp>
      <p:grpSp>
        <p:nvGrpSpPr>
          <p:cNvPr id="11" name="ending-rule"/>
          <p:cNvGrpSpPr/>
          <p:nvPr/>
        </p:nvGrpSpPr>
        <p:grpSpPr>
          <a:xfrm>
            <a:off x="914400" y="4686300"/>
            <a:ext cx="2857500" cy="19050"/>
            <a:chOff x="914400" y="4686300"/>
            <a:chExt cx="2857500" cy="19050"/>
          </a:xfrm>
        </p:grpSpPr>
        <p:sp>
          <p:nvSpPr>
            <p:cNvPr id="10" name="Rectangle 10"/>
            <p:cNvSpPr/>
            <p:nvPr/>
          </p:nvSpPr>
          <p:spPr>
            <a:xfrm>
              <a:off x="914400" y="4686300"/>
              <a:ext cx="2857500" cy="19050"/>
            </a:xfrm>
            <a:prstGeom prst="rect">
              <a:avLst/>
            </a:prstGeom>
            <a:solidFill>
              <a:srgbClr val="A3E635">
                <a:alpha val="70000"/>
              </a:srgbClr>
            </a:solidFill>
            <a:ln>
              <a:noFill/>
            </a:ln>
          </p:spPr>
        </p:sp>
      </p:grpSp>
      <p:grpSp>
        <p:nvGrpSpPr>
          <p:cNvPr id="13" name="ending-note"/>
          <p:cNvGrpSpPr/>
          <p:nvPr/>
        </p:nvGrpSpPr>
        <p:grpSpPr>
          <a:xfrm>
            <a:off x="907161" y="5027771"/>
            <a:ext cx="9668078" cy="278702"/>
            <a:chOff x="907161" y="5027771"/>
            <a:chExt cx="9668078" cy="278702"/>
          </a:xfrm>
        </p:grpSpPr>
        <p:sp>
          <p:nvSpPr>
            <p:cNvPr id="12" name="TextBox 12"/>
            <p:cNvSpPr txBox="1"/>
            <p:nvPr/>
          </p:nvSpPr>
          <p:spPr>
            <a:xfrm>
              <a:off x="907161" y="5027771"/>
              <a:ext cx="96680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下一步：回本会话说一句就行，值守会把改动 pull 到这台机器；要继续循环，助手直接跑 agent-handsfree.sh。</a:t>
              </a:r>
            </a:p>
          </p:txBody>
        </p:sp>
      </p:grpSp>
      <p:grpSp>
        <p:nvGrpSpPr>
          <p:cNvPr id="15" name="ending-paths"/>
          <p:cNvGrpSpPr/>
          <p:nvPr/>
        </p:nvGrpSpPr>
        <p:grpSpPr>
          <a:xfrm>
            <a:off x="908304" y="5680710"/>
            <a:ext cx="6586681" cy="234696"/>
            <a:chOff x="908304" y="5680710"/>
            <a:chExt cx="6586681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908304" y="5680710"/>
              <a:ext cx="65866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j-lt"/>
                  <a:ea typeface="+mj-ea"/>
                  <a:cs typeface="+mj-cs"/>
                </a:rPr>
                <a:t>交付物：deliverable/ · 台账：CONNECTIONS.md · 日志：results/status/check_r*</a:t>
              </a:r>
            </a:p>
          </p:txBody>
        </p:sp>
      </p:grpSp>
      <p:sp>
        <p:nvSpPr>
          <p:cNvPr id="16" name="footer-left"/>
          <p:cNvSpPr txBox="1"/>
          <p:nvPr/>
        </p:nvSpPr>
        <p:spPr>
          <a:xfrm>
            <a:off x="908304" y="6271260"/>
            <a:ext cx="42769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+mj-lt"/>
                <a:ea typeface="+mj-ea"/>
                <a:cs typeface="+mj-cs"/>
              </a:rPr>
              <a:t>2026-09-16 · git-sync v2.8.1 · ppt-master v6.4.0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rena-loop-01a0aa00">
  <a:themeElements>
    <a:clrScheme name="arena-loop-01a0aa0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ena-loop-01a0aa00">
      <a:maj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ena-loop-01a0aa0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2026-09-16T12:05:48Z</dcterms:created>
  <dcterms:modified xsi:type="dcterms:W3CDTF">2026-09-16T12:05:48Z</dcterms:modified>
  <cp:category/>
  <cp:contentStatus/>
</cp:coreProperties>
</file>